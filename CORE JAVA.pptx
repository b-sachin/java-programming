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5"/>
  </p:notesMasterIdLst>
  <p:sldIdLst>
    <p:sldId id="256" r:id="rId2"/>
    <p:sldId id="258" r:id="rId3"/>
    <p:sldId id="257" r:id="rId4"/>
    <p:sldId id="259" r:id="rId5"/>
    <p:sldId id="260" r:id="rId6"/>
    <p:sldId id="261" r:id="rId7"/>
    <p:sldId id="267" r:id="rId8"/>
    <p:sldId id="262" r:id="rId9"/>
    <p:sldId id="263" r:id="rId10"/>
    <p:sldId id="264" r:id="rId11"/>
    <p:sldId id="265" r:id="rId12"/>
    <p:sldId id="268" r:id="rId13"/>
    <p:sldId id="266"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9"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8" r:id="rId44"/>
    <p:sldId id="297" r:id="rId45"/>
    <p:sldId id="300" r:id="rId46"/>
    <p:sldId id="301" r:id="rId47"/>
    <p:sldId id="302" r:id="rId48"/>
    <p:sldId id="304" r:id="rId49"/>
    <p:sldId id="303" r:id="rId50"/>
    <p:sldId id="306" r:id="rId51"/>
    <p:sldId id="305" r:id="rId52"/>
    <p:sldId id="309" r:id="rId53"/>
    <p:sldId id="310" r:id="rId54"/>
    <p:sldId id="307" r:id="rId55"/>
    <p:sldId id="308" r:id="rId56"/>
    <p:sldId id="311" r:id="rId57"/>
    <p:sldId id="312" r:id="rId58"/>
    <p:sldId id="313" r:id="rId59"/>
    <p:sldId id="314"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3" r:id="rId77"/>
    <p:sldId id="332" r:id="rId78"/>
    <p:sldId id="334" r:id="rId79"/>
    <p:sldId id="335" r:id="rId80"/>
    <p:sldId id="336" r:id="rId81"/>
    <p:sldId id="337" r:id="rId82"/>
    <p:sldId id="338" r:id="rId83"/>
    <p:sldId id="339" r:id="rId84"/>
    <p:sldId id="340" r:id="rId85"/>
    <p:sldId id="341" r:id="rId86"/>
    <p:sldId id="342" r:id="rId87"/>
    <p:sldId id="343" r:id="rId88"/>
    <p:sldId id="344" r:id="rId89"/>
    <p:sldId id="346" r:id="rId90"/>
    <p:sldId id="347" r:id="rId91"/>
    <p:sldId id="348" r:id="rId92"/>
    <p:sldId id="349" r:id="rId93"/>
    <p:sldId id="350" r:id="rId94"/>
    <p:sldId id="351" r:id="rId95"/>
    <p:sldId id="352" r:id="rId96"/>
    <p:sldId id="354" r:id="rId97"/>
    <p:sldId id="355" r:id="rId98"/>
    <p:sldId id="356" r:id="rId99"/>
    <p:sldId id="357" r:id="rId100"/>
    <p:sldId id="345" r:id="rId101"/>
    <p:sldId id="358" r:id="rId102"/>
    <p:sldId id="359" r:id="rId103"/>
    <p:sldId id="360" r:id="rId104"/>
    <p:sldId id="361" r:id="rId105"/>
    <p:sldId id="363" r:id="rId106"/>
    <p:sldId id="364" r:id="rId107"/>
    <p:sldId id="365" r:id="rId108"/>
    <p:sldId id="366" r:id="rId109"/>
    <p:sldId id="367" r:id="rId110"/>
    <p:sldId id="362"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9" r:id="rId130"/>
    <p:sldId id="387" r:id="rId131"/>
    <p:sldId id="388" r:id="rId132"/>
    <p:sldId id="390" r:id="rId133"/>
    <p:sldId id="391"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5" autoAdjust="0"/>
    <p:restoredTop sz="94701" autoAdjust="0"/>
  </p:normalViewPr>
  <p:slideViewPr>
    <p:cSldViewPr>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752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F46419-3C46-46C2-AEC6-1BB3A939DD9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65847E4C-66E2-4DD7-80C5-1932CAE2C9B2}">
      <dgm:prSet phldrT="[Text]"/>
      <dgm:spPr/>
      <dgm:t>
        <a:bodyPr/>
        <a:lstStyle/>
        <a:p>
          <a:r>
            <a:rPr lang="en-US"/>
            <a:t>JAVA</a:t>
          </a:r>
        </a:p>
      </dgm:t>
    </dgm:pt>
    <dgm:pt modelId="{9F801B09-6937-442D-91CF-348756A159B1}" type="parTrans" cxnId="{F9822F0A-FA32-4761-99F6-FB440C3CB1BE}">
      <dgm:prSet/>
      <dgm:spPr/>
      <dgm:t>
        <a:bodyPr/>
        <a:lstStyle/>
        <a:p>
          <a:endParaRPr lang="en-US"/>
        </a:p>
      </dgm:t>
    </dgm:pt>
    <dgm:pt modelId="{5FE94739-B901-4D0A-BDCF-88C72F789FF1}" type="sibTrans" cxnId="{F9822F0A-FA32-4761-99F6-FB440C3CB1BE}">
      <dgm:prSet/>
      <dgm:spPr/>
      <dgm:t>
        <a:bodyPr/>
        <a:lstStyle/>
        <a:p>
          <a:endParaRPr lang="en-US"/>
        </a:p>
      </dgm:t>
    </dgm:pt>
    <dgm:pt modelId="{95C88ED4-5F60-43B1-905B-A7164037CC09}">
      <dgm:prSet phldrT="[Text]"/>
      <dgm:spPr/>
      <dgm:t>
        <a:bodyPr/>
        <a:lstStyle/>
        <a:p>
          <a:r>
            <a:rPr lang="en-US"/>
            <a:t>lang</a:t>
          </a:r>
        </a:p>
      </dgm:t>
    </dgm:pt>
    <dgm:pt modelId="{57ADA110-7942-42BD-A92F-55B7AD994E15}" type="parTrans" cxnId="{7C8EAC2A-8FE5-4B3E-8632-3F71E953D51E}">
      <dgm:prSet/>
      <dgm:spPr/>
      <dgm:t>
        <a:bodyPr/>
        <a:lstStyle/>
        <a:p>
          <a:endParaRPr lang="en-US"/>
        </a:p>
      </dgm:t>
    </dgm:pt>
    <dgm:pt modelId="{595F8ED4-943C-4B7F-820C-FD402C0B60EC}" type="sibTrans" cxnId="{7C8EAC2A-8FE5-4B3E-8632-3F71E953D51E}">
      <dgm:prSet/>
      <dgm:spPr/>
      <dgm:t>
        <a:bodyPr/>
        <a:lstStyle/>
        <a:p>
          <a:endParaRPr lang="en-US"/>
        </a:p>
      </dgm:t>
    </dgm:pt>
    <dgm:pt modelId="{7B733FEB-C5B8-492F-8107-443CE21AB52C}">
      <dgm:prSet phldrT="[Text]"/>
      <dgm:spPr/>
      <dgm:t>
        <a:bodyPr/>
        <a:lstStyle/>
        <a:p>
          <a:r>
            <a:rPr lang="en-US"/>
            <a:t>util</a:t>
          </a:r>
        </a:p>
      </dgm:t>
    </dgm:pt>
    <dgm:pt modelId="{5E68AFDE-DD19-4F59-9BC9-C5E77B5AB2BA}" type="parTrans" cxnId="{10EA8793-AA3C-4913-9A8B-3B57BC654306}">
      <dgm:prSet/>
      <dgm:spPr/>
      <dgm:t>
        <a:bodyPr/>
        <a:lstStyle/>
        <a:p>
          <a:endParaRPr lang="en-US"/>
        </a:p>
      </dgm:t>
    </dgm:pt>
    <dgm:pt modelId="{DC37CB5C-517C-4428-8778-45553E17C8BA}" type="sibTrans" cxnId="{10EA8793-AA3C-4913-9A8B-3B57BC654306}">
      <dgm:prSet/>
      <dgm:spPr/>
      <dgm:t>
        <a:bodyPr/>
        <a:lstStyle/>
        <a:p>
          <a:endParaRPr lang="en-US"/>
        </a:p>
      </dgm:t>
    </dgm:pt>
    <dgm:pt modelId="{EA45E331-8C5F-4794-9D43-258C6DA04754}">
      <dgm:prSet phldrT="[Text]"/>
      <dgm:spPr/>
      <dgm:t>
        <a:bodyPr/>
        <a:lstStyle/>
        <a:p>
          <a:r>
            <a:rPr lang="en-US"/>
            <a:t>io</a:t>
          </a:r>
        </a:p>
      </dgm:t>
    </dgm:pt>
    <dgm:pt modelId="{74604462-711F-4BB2-BA85-C5D1E1178C2B}" type="parTrans" cxnId="{E920EC75-F6D4-421F-94B5-04105BB860C7}">
      <dgm:prSet/>
      <dgm:spPr/>
      <dgm:t>
        <a:bodyPr/>
        <a:lstStyle/>
        <a:p>
          <a:endParaRPr lang="en-US"/>
        </a:p>
      </dgm:t>
    </dgm:pt>
    <dgm:pt modelId="{A48236AF-DBA1-40CD-A59E-8A71A81F35D7}" type="sibTrans" cxnId="{E920EC75-F6D4-421F-94B5-04105BB860C7}">
      <dgm:prSet/>
      <dgm:spPr/>
      <dgm:t>
        <a:bodyPr/>
        <a:lstStyle/>
        <a:p>
          <a:endParaRPr lang="en-US"/>
        </a:p>
      </dgm:t>
    </dgm:pt>
    <dgm:pt modelId="{2E5F4C55-DB95-4E0C-B4B4-A6D4C6DFDF19}">
      <dgm:prSet phldrT="[Text]"/>
      <dgm:spPr/>
      <dgm:t>
        <a:bodyPr/>
        <a:lstStyle/>
        <a:p>
          <a:r>
            <a:rPr lang="en-US"/>
            <a:t>awt</a:t>
          </a:r>
        </a:p>
      </dgm:t>
    </dgm:pt>
    <dgm:pt modelId="{304CCE98-1C38-42EB-8610-3DF5E2B33C43}" type="parTrans" cxnId="{640CDD9C-D63F-45AD-AABE-68C322804EA7}">
      <dgm:prSet/>
      <dgm:spPr/>
      <dgm:t>
        <a:bodyPr/>
        <a:lstStyle/>
        <a:p>
          <a:endParaRPr lang="en-US"/>
        </a:p>
      </dgm:t>
    </dgm:pt>
    <dgm:pt modelId="{18A65181-AF48-419D-8402-A7FA0DB8AFB1}" type="sibTrans" cxnId="{640CDD9C-D63F-45AD-AABE-68C322804EA7}">
      <dgm:prSet/>
      <dgm:spPr/>
      <dgm:t>
        <a:bodyPr/>
        <a:lstStyle/>
        <a:p>
          <a:endParaRPr lang="en-US"/>
        </a:p>
      </dgm:t>
    </dgm:pt>
    <dgm:pt modelId="{301D8025-EC04-4FBC-B789-8509D67BD5F7}">
      <dgm:prSet phldrT="[Text]"/>
      <dgm:spPr/>
      <dgm:t>
        <a:bodyPr/>
        <a:lstStyle/>
        <a:p>
          <a:r>
            <a:rPr lang="en-US"/>
            <a:t>net</a:t>
          </a:r>
        </a:p>
      </dgm:t>
    </dgm:pt>
    <dgm:pt modelId="{1A5693AE-0A4A-4412-8DB1-D5C7E9EE8F3B}" type="parTrans" cxnId="{F8217780-0999-41C8-BB87-660316455178}">
      <dgm:prSet/>
      <dgm:spPr/>
      <dgm:t>
        <a:bodyPr/>
        <a:lstStyle/>
        <a:p>
          <a:endParaRPr lang="en-US"/>
        </a:p>
      </dgm:t>
    </dgm:pt>
    <dgm:pt modelId="{4070DE52-C7DA-4ED9-AA97-EE256E1ECCFF}" type="sibTrans" cxnId="{F8217780-0999-41C8-BB87-660316455178}">
      <dgm:prSet/>
      <dgm:spPr/>
      <dgm:t>
        <a:bodyPr/>
        <a:lstStyle/>
        <a:p>
          <a:endParaRPr lang="en-US"/>
        </a:p>
      </dgm:t>
    </dgm:pt>
    <dgm:pt modelId="{76A191F1-26E3-4DE2-881C-0B129EDD2C3F}">
      <dgm:prSet phldrT="[Text]"/>
      <dgm:spPr/>
      <dgm:t>
        <a:bodyPr/>
        <a:lstStyle/>
        <a:p>
          <a:r>
            <a:rPr lang="en-US"/>
            <a:t>applet</a:t>
          </a:r>
        </a:p>
      </dgm:t>
    </dgm:pt>
    <dgm:pt modelId="{1FEC3B1D-FD9E-4D66-B351-CC429903B9B0}" type="parTrans" cxnId="{0860833F-1E67-403B-88CC-2E4F590339A0}">
      <dgm:prSet/>
      <dgm:spPr/>
      <dgm:t>
        <a:bodyPr/>
        <a:lstStyle/>
        <a:p>
          <a:endParaRPr lang="en-US"/>
        </a:p>
      </dgm:t>
    </dgm:pt>
    <dgm:pt modelId="{3B83318C-647A-4298-A2D6-A64F2F6580D6}" type="sibTrans" cxnId="{0860833F-1E67-403B-88CC-2E4F590339A0}">
      <dgm:prSet/>
      <dgm:spPr/>
      <dgm:t>
        <a:bodyPr/>
        <a:lstStyle/>
        <a:p>
          <a:endParaRPr lang="en-US"/>
        </a:p>
      </dgm:t>
    </dgm:pt>
    <dgm:pt modelId="{314EA1A3-0059-46C2-AF96-B3607B5547F0}" type="pres">
      <dgm:prSet presAssocID="{D5F46419-3C46-46C2-AEC6-1BB3A939DD97}" presName="hierChild1" presStyleCnt="0">
        <dgm:presLayoutVars>
          <dgm:chPref val="1"/>
          <dgm:dir/>
          <dgm:animOne val="branch"/>
          <dgm:animLvl val="lvl"/>
          <dgm:resizeHandles/>
        </dgm:presLayoutVars>
      </dgm:prSet>
      <dgm:spPr/>
      <dgm:t>
        <a:bodyPr/>
        <a:lstStyle/>
        <a:p>
          <a:endParaRPr lang="en-IN"/>
        </a:p>
      </dgm:t>
    </dgm:pt>
    <dgm:pt modelId="{C450E96E-E9C0-4F33-AE01-4880E49E4718}" type="pres">
      <dgm:prSet presAssocID="{65847E4C-66E2-4DD7-80C5-1932CAE2C9B2}" presName="hierRoot1" presStyleCnt="0"/>
      <dgm:spPr/>
    </dgm:pt>
    <dgm:pt modelId="{420D1DAE-BC07-41A6-A25B-26A351C17E5B}" type="pres">
      <dgm:prSet presAssocID="{65847E4C-66E2-4DD7-80C5-1932CAE2C9B2}" presName="composite" presStyleCnt="0"/>
      <dgm:spPr/>
    </dgm:pt>
    <dgm:pt modelId="{81FF2811-8A9C-4AEC-89ED-A6A04CCC6AAF}" type="pres">
      <dgm:prSet presAssocID="{65847E4C-66E2-4DD7-80C5-1932CAE2C9B2}" presName="background" presStyleLbl="node0" presStyleIdx="0" presStyleCnt="1"/>
      <dgm:spPr/>
    </dgm:pt>
    <dgm:pt modelId="{FF2611CE-8B6C-4EAA-B755-35D0685DE98C}" type="pres">
      <dgm:prSet presAssocID="{65847E4C-66E2-4DD7-80C5-1932CAE2C9B2}" presName="text" presStyleLbl="fgAcc0" presStyleIdx="0" presStyleCnt="1">
        <dgm:presLayoutVars>
          <dgm:chPref val="3"/>
        </dgm:presLayoutVars>
      </dgm:prSet>
      <dgm:spPr/>
      <dgm:t>
        <a:bodyPr/>
        <a:lstStyle/>
        <a:p>
          <a:endParaRPr lang="en-IN"/>
        </a:p>
      </dgm:t>
    </dgm:pt>
    <dgm:pt modelId="{DF8C7CFA-C557-4C6E-9F8C-885CCF4840C4}" type="pres">
      <dgm:prSet presAssocID="{65847E4C-66E2-4DD7-80C5-1932CAE2C9B2}" presName="hierChild2" presStyleCnt="0"/>
      <dgm:spPr/>
    </dgm:pt>
    <dgm:pt modelId="{05508884-EC59-4EE7-A177-3AA7BCDAC4FB}" type="pres">
      <dgm:prSet presAssocID="{57ADA110-7942-42BD-A92F-55B7AD994E15}" presName="Name10" presStyleLbl="parChTrans1D2" presStyleIdx="0" presStyleCnt="6"/>
      <dgm:spPr/>
      <dgm:t>
        <a:bodyPr/>
        <a:lstStyle/>
        <a:p>
          <a:endParaRPr lang="en-IN"/>
        </a:p>
      </dgm:t>
    </dgm:pt>
    <dgm:pt modelId="{169FAB8F-60A4-4597-BCCD-A3551AFA50A6}" type="pres">
      <dgm:prSet presAssocID="{95C88ED4-5F60-43B1-905B-A7164037CC09}" presName="hierRoot2" presStyleCnt="0"/>
      <dgm:spPr/>
    </dgm:pt>
    <dgm:pt modelId="{C80D96A3-A784-4195-9CBF-3E01C6A515C2}" type="pres">
      <dgm:prSet presAssocID="{95C88ED4-5F60-43B1-905B-A7164037CC09}" presName="composite2" presStyleCnt="0"/>
      <dgm:spPr/>
    </dgm:pt>
    <dgm:pt modelId="{89B6C471-B6FB-464D-B7AC-3333FAE79BA5}" type="pres">
      <dgm:prSet presAssocID="{95C88ED4-5F60-43B1-905B-A7164037CC09}" presName="background2" presStyleLbl="node2" presStyleIdx="0" presStyleCnt="6"/>
      <dgm:spPr/>
    </dgm:pt>
    <dgm:pt modelId="{3F2A6D49-354C-4CB0-91ED-F1457D751B44}" type="pres">
      <dgm:prSet presAssocID="{95C88ED4-5F60-43B1-905B-A7164037CC09}" presName="text2" presStyleLbl="fgAcc2" presStyleIdx="0" presStyleCnt="6">
        <dgm:presLayoutVars>
          <dgm:chPref val="3"/>
        </dgm:presLayoutVars>
      </dgm:prSet>
      <dgm:spPr/>
      <dgm:t>
        <a:bodyPr/>
        <a:lstStyle/>
        <a:p>
          <a:endParaRPr lang="en-US"/>
        </a:p>
      </dgm:t>
    </dgm:pt>
    <dgm:pt modelId="{D6D6C6D7-47C2-41D6-B986-1D5DCA679FD5}" type="pres">
      <dgm:prSet presAssocID="{95C88ED4-5F60-43B1-905B-A7164037CC09}" presName="hierChild3" presStyleCnt="0"/>
      <dgm:spPr/>
    </dgm:pt>
    <dgm:pt modelId="{50EE4E5A-0203-4AEE-8AC0-1CEFA589ED36}" type="pres">
      <dgm:prSet presAssocID="{5E68AFDE-DD19-4F59-9BC9-C5E77B5AB2BA}" presName="Name10" presStyleLbl="parChTrans1D2" presStyleIdx="1" presStyleCnt="6"/>
      <dgm:spPr/>
      <dgm:t>
        <a:bodyPr/>
        <a:lstStyle/>
        <a:p>
          <a:endParaRPr lang="en-IN"/>
        </a:p>
      </dgm:t>
    </dgm:pt>
    <dgm:pt modelId="{8E849195-0B6F-4557-A130-F1D731B5C844}" type="pres">
      <dgm:prSet presAssocID="{7B733FEB-C5B8-492F-8107-443CE21AB52C}" presName="hierRoot2" presStyleCnt="0"/>
      <dgm:spPr/>
    </dgm:pt>
    <dgm:pt modelId="{C6470DE4-C2F3-4F12-82A0-5373978B42AE}" type="pres">
      <dgm:prSet presAssocID="{7B733FEB-C5B8-492F-8107-443CE21AB52C}" presName="composite2" presStyleCnt="0"/>
      <dgm:spPr/>
    </dgm:pt>
    <dgm:pt modelId="{1ECF1F37-68AA-4872-9B49-FC9F4B5AB989}" type="pres">
      <dgm:prSet presAssocID="{7B733FEB-C5B8-492F-8107-443CE21AB52C}" presName="background2" presStyleLbl="node2" presStyleIdx="1" presStyleCnt="6"/>
      <dgm:spPr/>
    </dgm:pt>
    <dgm:pt modelId="{B1486F19-5761-4C0F-875C-1913C04655EC}" type="pres">
      <dgm:prSet presAssocID="{7B733FEB-C5B8-492F-8107-443CE21AB52C}" presName="text2" presStyleLbl="fgAcc2" presStyleIdx="1" presStyleCnt="6">
        <dgm:presLayoutVars>
          <dgm:chPref val="3"/>
        </dgm:presLayoutVars>
      </dgm:prSet>
      <dgm:spPr/>
      <dgm:t>
        <a:bodyPr/>
        <a:lstStyle/>
        <a:p>
          <a:endParaRPr lang="en-IN"/>
        </a:p>
      </dgm:t>
    </dgm:pt>
    <dgm:pt modelId="{4C0C9A45-CDDD-4727-A88A-FEC9646156EF}" type="pres">
      <dgm:prSet presAssocID="{7B733FEB-C5B8-492F-8107-443CE21AB52C}" presName="hierChild3" presStyleCnt="0"/>
      <dgm:spPr/>
    </dgm:pt>
    <dgm:pt modelId="{DE9A9853-94F1-46D0-88E5-71D3327D73DC}" type="pres">
      <dgm:prSet presAssocID="{74604462-711F-4BB2-BA85-C5D1E1178C2B}" presName="Name10" presStyleLbl="parChTrans1D2" presStyleIdx="2" presStyleCnt="6"/>
      <dgm:spPr/>
      <dgm:t>
        <a:bodyPr/>
        <a:lstStyle/>
        <a:p>
          <a:endParaRPr lang="en-IN"/>
        </a:p>
      </dgm:t>
    </dgm:pt>
    <dgm:pt modelId="{2D9C2DE5-671D-44DC-B30F-3298C1F3826E}" type="pres">
      <dgm:prSet presAssocID="{EA45E331-8C5F-4794-9D43-258C6DA04754}" presName="hierRoot2" presStyleCnt="0"/>
      <dgm:spPr/>
    </dgm:pt>
    <dgm:pt modelId="{EC46217E-F6D1-4255-917D-6151C5B634BC}" type="pres">
      <dgm:prSet presAssocID="{EA45E331-8C5F-4794-9D43-258C6DA04754}" presName="composite2" presStyleCnt="0"/>
      <dgm:spPr/>
    </dgm:pt>
    <dgm:pt modelId="{8DB421E6-A02F-42A2-B019-6CF79AB6472F}" type="pres">
      <dgm:prSet presAssocID="{EA45E331-8C5F-4794-9D43-258C6DA04754}" presName="background2" presStyleLbl="node2" presStyleIdx="2" presStyleCnt="6"/>
      <dgm:spPr/>
    </dgm:pt>
    <dgm:pt modelId="{845C4CE4-DCE9-41AB-81CA-440F4034BD1B}" type="pres">
      <dgm:prSet presAssocID="{EA45E331-8C5F-4794-9D43-258C6DA04754}" presName="text2" presStyleLbl="fgAcc2" presStyleIdx="2" presStyleCnt="6">
        <dgm:presLayoutVars>
          <dgm:chPref val="3"/>
        </dgm:presLayoutVars>
      </dgm:prSet>
      <dgm:spPr/>
      <dgm:t>
        <a:bodyPr/>
        <a:lstStyle/>
        <a:p>
          <a:endParaRPr lang="en-IN"/>
        </a:p>
      </dgm:t>
    </dgm:pt>
    <dgm:pt modelId="{F19A1A0F-B08B-49D8-AFB3-1B1A688124FD}" type="pres">
      <dgm:prSet presAssocID="{EA45E331-8C5F-4794-9D43-258C6DA04754}" presName="hierChild3" presStyleCnt="0"/>
      <dgm:spPr/>
    </dgm:pt>
    <dgm:pt modelId="{AB03324C-5B10-40F6-9CB8-69993910368B}" type="pres">
      <dgm:prSet presAssocID="{304CCE98-1C38-42EB-8610-3DF5E2B33C43}" presName="Name10" presStyleLbl="parChTrans1D2" presStyleIdx="3" presStyleCnt="6"/>
      <dgm:spPr/>
      <dgm:t>
        <a:bodyPr/>
        <a:lstStyle/>
        <a:p>
          <a:endParaRPr lang="en-IN"/>
        </a:p>
      </dgm:t>
    </dgm:pt>
    <dgm:pt modelId="{26BDF397-40BD-40C3-A00F-781978E7BA55}" type="pres">
      <dgm:prSet presAssocID="{2E5F4C55-DB95-4E0C-B4B4-A6D4C6DFDF19}" presName="hierRoot2" presStyleCnt="0"/>
      <dgm:spPr/>
    </dgm:pt>
    <dgm:pt modelId="{5DCD494C-E08B-44CE-9CA8-94CBE95E6732}" type="pres">
      <dgm:prSet presAssocID="{2E5F4C55-DB95-4E0C-B4B4-A6D4C6DFDF19}" presName="composite2" presStyleCnt="0"/>
      <dgm:spPr/>
    </dgm:pt>
    <dgm:pt modelId="{943F5493-F597-49C8-A706-CB9DA4F4328C}" type="pres">
      <dgm:prSet presAssocID="{2E5F4C55-DB95-4E0C-B4B4-A6D4C6DFDF19}" presName="background2" presStyleLbl="node2" presStyleIdx="3" presStyleCnt="6"/>
      <dgm:spPr/>
    </dgm:pt>
    <dgm:pt modelId="{A2B49BDE-35F6-4771-B775-9573A7237288}" type="pres">
      <dgm:prSet presAssocID="{2E5F4C55-DB95-4E0C-B4B4-A6D4C6DFDF19}" presName="text2" presStyleLbl="fgAcc2" presStyleIdx="3" presStyleCnt="6">
        <dgm:presLayoutVars>
          <dgm:chPref val="3"/>
        </dgm:presLayoutVars>
      </dgm:prSet>
      <dgm:spPr/>
      <dgm:t>
        <a:bodyPr/>
        <a:lstStyle/>
        <a:p>
          <a:endParaRPr lang="en-IN"/>
        </a:p>
      </dgm:t>
    </dgm:pt>
    <dgm:pt modelId="{5DE3A41A-B5F2-42B0-9D2E-093BD6ABD152}" type="pres">
      <dgm:prSet presAssocID="{2E5F4C55-DB95-4E0C-B4B4-A6D4C6DFDF19}" presName="hierChild3" presStyleCnt="0"/>
      <dgm:spPr/>
    </dgm:pt>
    <dgm:pt modelId="{BAB6A60B-AD8A-4B0B-988E-3AD93CC4DC40}" type="pres">
      <dgm:prSet presAssocID="{1A5693AE-0A4A-4412-8DB1-D5C7E9EE8F3B}" presName="Name10" presStyleLbl="parChTrans1D2" presStyleIdx="4" presStyleCnt="6"/>
      <dgm:spPr/>
      <dgm:t>
        <a:bodyPr/>
        <a:lstStyle/>
        <a:p>
          <a:endParaRPr lang="en-IN"/>
        </a:p>
      </dgm:t>
    </dgm:pt>
    <dgm:pt modelId="{6E347943-D66B-479F-8F93-C5FA71705912}" type="pres">
      <dgm:prSet presAssocID="{301D8025-EC04-4FBC-B789-8509D67BD5F7}" presName="hierRoot2" presStyleCnt="0"/>
      <dgm:spPr/>
    </dgm:pt>
    <dgm:pt modelId="{BD2200FB-C9D8-4D4B-B518-8E39967C2EA8}" type="pres">
      <dgm:prSet presAssocID="{301D8025-EC04-4FBC-B789-8509D67BD5F7}" presName="composite2" presStyleCnt="0"/>
      <dgm:spPr/>
    </dgm:pt>
    <dgm:pt modelId="{9F38BF52-6FD0-47DD-8512-575B1EFCECFE}" type="pres">
      <dgm:prSet presAssocID="{301D8025-EC04-4FBC-B789-8509D67BD5F7}" presName="background2" presStyleLbl="node2" presStyleIdx="4" presStyleCnt="6"/>
      <dgm:spPr/>
    </dgm:pt>
    <dgm:pt modelId="{B7164445-DE62-4930-B3E4-4C0E5734F7B3}" type="pres">
      <dgm:prSet presAssocID="{301D8025-EC04-4FBC-B789-8509D67BD5F7}" presName="text2" presStyleLbl="fgAcc2" presStyleIdx="4" presStyleCnt="6">
        <dgm:presLayoutVars>
          <dgm:chPref val="3"/>
        </dgm:presLayoutVars>
      </dgm:prSet>
      <dgm:spPr/>
      <dgm:t>
        <a:bodyPr/>
        <a:lstStyle/>
        <a:p>
          <a:endParaRPr lang="en-IN"/>
        </a:p>
      </dgm:t>
    </dgm:pt>
    <dgm:pt modelId="{FFA3238A-1D77-4D74-8D99-12BA054B5A15}" type="pres">
      <dgm:prSet presAssocID="{301D8025-EC04-4FBC-B789-8509D67BD5F7}" presName="hierChild3" presStyleCnt="0"/>
      <dgm:spPr/>
    </dgm:pt>
    <dgm:pt modelId="{F12CA078-829C-49BA-A5F9-BF6C3A6A82B4}" type="pres">
      <dgm:prSet presAssocID="{1FEC3B1D-FD9E-4D66-B351-CC429903B9B0}" presName="Name10" presStyleLbl="parChTrans1D2" presStyleIdx="5" presStyleCnt="6"/>
      <dgm:spPr/>
      <dgm:t>
        <a:bodyPr/>
        <a:lstStyle/>
        <a:p>
          <a:endParaRPr lang="en-IN"/>
        </a:p>
      </dgm:t>
    </dgm:pt>
    <dgm:pt modelId="{51905F87-A666-4FD9-8B7E-0CFDEC993071}" type="pres">
      <dgm:prSet presAssocID="{76A191F1-26E3-4DE2-881C-0B129EDD2C3F}" presName="hierRoot2" presStyleCnt="0"/>
      <dgm:spPr/>
    </dgm:pt>
    <dgm:pt modelId="{21CFDF85-A84F-49AF-97F8-F7F14FB4C99A}" type="pres">
      <dgm:prSet presAssocID="{76A191F1-26E3-4DE2-881C-0B129EDD2C3F}" presName="composite2" presStyleCnt="0"/>
      <dgm:spPr/>
    </dgm:pt>
    <dgm:pt modelId="{BA993359-E13C-4CE3-ADBA-C248A6AA94B3}" type="pres">
      <dgm:prSet presAssocID="{76A191F1-26E3-4DE2-881C-0B129EDD2C3F}" presName="background2" presStyleLbl="node2" presStyleIdx="5" presStyleCnt="6"/>
      <dgm:spPr/>
    </dgm:pt>
    <dgm:pt modelId="{F96F11F7-601B-4471-8C53-B30EBB92BF60}" type="pres">
      <dgm:prSet presAssocID="{76A191F1-26E3-4DE2-881C-0B129EDD2C3F}" presName="text2" presStyleLbl="fgAcc2" presStyleIdx="5" presStyleCnt="6">
        <dgm:presLayoutVars>
          <dgm:chPref val="3"/>
        </dgm:presLayoutVars>
      </dgm:prSet>
      <dgm:spPr/>
      <dgm:t>
        <a:bodyPr/>
        <a:lstStyle/>
        <a:p>
          <a:endParaRPr lang="en-IN"/>
        </a:p>
      </dgm:t>
    </dgm:pt>
    <dgm:pt modelId="{0BFAE4F9-2830-4B19-98AB-BDC39745BC74}" type="pres">
      <dgm:prSet presAssocID="{76A191F1-26E3-4DE2-881C-0B129EDD2C3F}" presName="hierChild3" presStyleCnt="0"/>
      <dgm:spPr/>
    </dgm:pt>
  </dgm:ptLst>
  <dgm:cxnLst>
    <dgm:cxn modelId="{CA747366-7682-4245-A111-2A625CC4E2AB}" type="presOf" srcId="{1A5693AE-0A4A-4412-8DB1-D5C7E9EE8F3B}" destId="{BAB6A60B-AD8A-4B0B-988E-3AD93CC4DC40}" srcOrd="0" destOrd="0" presId="urn:microsoft.com/office/officeart/2005/8/layout/hierarchy1"/>
    <dgm:cxn modelId="{7C8EAC2A-8FE5-4B3E-8632-3F71E953D51E}" srcId="{65847E4C-66E2-4DD7-80C5-1932CAE2C9B2}" destId="{95C88ED4-5F60-43B1-905B-A7164037CC09}" srcOrd="0" destOrd="0" parTransId="{57ADA110-7942-42BD-A92F-55B7AD994E15}" sibTransId="{595F8ED4-943C-4B7F-820C-FD402C0B60EC}"/>
    <dgm:cxn modelId="{E911392A-EE27-44E8-AB2C-8070A4A4328A}" type="presOf" srcId="{304CCE98-1C38-42EB-8610-3DF5E2B33C43}" destId="{AB03324C-5B10-40F6-9CB8-69993910368B}" srcOrd="0" destOrd="0" presId="urn:microsoft.com/office/officeart/2005/8/layout/hierarchy1"/>
    <dgm:cxn modelId="{640CDD9C-D63F-45AD-AABE-68C322804EA7}" srcId="{65847E4C-66E2-4DD7-80C5-1932CAE2C9B2}" destId="{2E5F4C55-DB95-4E0C-B4B4-A6D4C6DFDF19}" srcOrd="3" destOrd="0" parTransId="{304CCE98-1C38-42EB-8610-3DF5E2B33C43}" sibTransId="{18A65181-AF48-419D-8402-A7FA0DB8AFB1}"/>
    <dgm:cxn modelId="{E920EC75-F6D4-421F-94B5-04105BB860C7}" srcId="{65847E4C-66E2-4DD7-80C5-1932CAE2C9B2}" destId="{EA45E331-8C5F-4794-9D43-258C6DA04754}" srcOrd="2" destOrd="0" parTransId="{74604462-711F-4BB2-BA85-C5D1E1178C2B}" sibTransId="{A48236AF-DBA1-40CD-A59E-8A71A81F35D7}"/>
    <dgm:cxn modelId="{FF84D5AD-D305-4BF4-A6FE-BA1A4AA90A19}" type="presOf" srcId="{65847E4C-66E2-4DD7-80C5-1932CAE2C9B2}" destId="{FF2611CE-8B6C-4EAA-B755-35D0685DE98C}" srcOrd="0" destOrd="0" presId="urn:microsoft.com/office/officeart/2005/8/layout/hierarchy1"/>
    <dgm:cxn modelId="{B8DBF4D6-D10C-4462-B231-30F7F62680D2}" type="presOf" srcId="{5E68AFDE-DD19-4F59-9BC9-C5E77B5AB2BA}" destId="{50EE4E5A-0203-4AEE-8AC0-1CEFA589ED36}" srcOrd="0" destOrd="0" presId="urn:microsoft.com/office/officeart/2005/8/layout/hierarchy1"/>
    <dgm:cxn modelId="{4A1EAF35-24F7-4AA5-9FD6-4601573C98F1}" type="presOf" srcId="{D5F46419-3C46-46C2-AEC6-1BB3A939DD97}" destId="{314EA1A3-0059-46C2-AF96-B3607B5547F0}" srcOrd="0" destOrd="0" presId="urn:microsoft.com/office/officeart/2005/8/layout/hierarchy1"/>
    <dgm:cxn modelId="{F9822F0A-FA32-4761-99F6-FB440C3CB1BE}" srcId="{D5F46419-3C46-46C2-AEC6-1BB3A939DD97}" destId="{65847E4C-66E2-4DD7-80C5-1932CAE2C9B2}" srcOrd="0" destOrd="0" parTransId="{9F801B09-6937-442D-91CF-348756A159B1}" sibTransId="{5FE94739-B901-4D0A-BDCF-88C72F789FF1}"/>
    <dgm:cxn modelId="{6A2702D9-BFAA-400B-9F32-751ADA2CCB39}" type="presOf" srcId="{95C88ED4-5F60-43B1-905B-A7164037CC09}" destId="{3F2A6D49-354C-4CB0-91ED-F1457D751B44}" srcOrd="0" destOrd="0" presId="urn:microsoft.com/office/officeart/2005/8/layout/hierarchy1"/>
    <dgm:cxn modelId="{97E91C1B-AB76-44D2-B5D2-CF5540DCEAA5}" type="presOf" srcId="{1FEC3B1D-FD9E-4D66-B351-CC429903B9B0}" destId="{F12CA078-829C-49BA-A5F9-BF6C3A6A82B4}" srcOrd="0" destOrd="0" presId="urn:microsoft.com/office/officeart/2005/8/layout/hierarchy1"/>
    <dgm:cxn modelId="{DE38BEC7-62A5-4F45-9FE0-617A7C5526A6}" type="presOf" srcId="{EA45E331-8C5F-4794-9D43-258C6DA04754}" destId="{845C4CE4-DCE9-41AB-81CA-440F4034BD1B}" srcOrd="0" destOrd="0" presId="urn:microsoft.com/office/officeart/2005/8/layout/hierarchy1"/>
    <dgm:cxn modelId="{53CF05E3-39FE-4AE8-8195-9D1D96D12850}" type="presOf" srcId="{76A191F1-26E3-4DE2-881C-0B129EDD2C3F}" destId="{F96F11F7-601B-4471-8C53-B30EBB92BF60}" srcOrd="0" destOrd="0" presId="urn:microsoft.com/office/officeart/2005/8/layout/hierarchy1"/>
    <dgm:cxn modelId="{DE375E9B-C405-4BFA-A78C-9A1917DD1BBA}" type="presOf" srcId="{7B733FEB-C5B8-492F-8107-443CE21AB52C}" destId="{B1486F19-5761-4C0F-875C-1913C04655EC}" srcOrd="0" destOrd="0" presId="urn:microsoft.com/office/officeart/2005/8/layout/hierarchy1"/>
    <dgm:cxn modelId="{10EA8793-AA3C-4913-9A8B-3B57BC654306}" srcId="{65847E4C-66E2-4DD7-80C5-1932CAE2C9B2}" destId="{7B733FEB-C5B8-492F-8107-443CE21AB52C}" srcOrd="1" destOrd="0" parTransId="{5E68AFDE-DD19-4F59-9BC9-C5E77B5AB2BA}" sibTransId="{DC37CB5C-517C-4428-8778-45553E17C8BA}"/>
    <dgm:cxn modelId="{0860833F-1E67-403B-88CC-2E4F590339A0}" srcId="{65847E4C-66E2-4DD7-80C5-1932CAE2C9B2}" destId="{76A191F1-26E3-4DE2-881C-0B129EDD2C3F}" srcOrd="5" destOrd="0" parTransId="{1FEC3B1D-FD9E-4D66-B351-CC429903B9B0}" sibTransId="{3B83318C-647A-4298-A2D6-A64F2F6580D6}"/>
    <dgm:cxn modelId="{7C3C26D5-14DA-42B7-8452-6DCAE7124843}" type="presOf" srcId="{57ADA110-7942-42BD-A92F-55B7AD994E15}" destId="{05508884-EC59-4EE7-A177-3AA7BCDAC4FB}" srcOrd="0" destOrd="0" presId="urn:microsoft.com/office/officeart/2005/8/layout/hierarchy1"/>
    <dgm:cxn modelId="{09127FC8-3D35-4C52-99C8-B420C081A962}" type="presOf" srcId="{74604462-711F-4BB2-BA85-C5D1E1178C2B}" destId="{DE9A9853-94F1-46D0-88E5-71D3327D73DC}" srcOrd="0" destOrd="0" presId="urn:microsoft.com/office/officeart/2005/8/layout/hierarchy1"/>
    <dgm:cxn modelId="{F8217780-0999-41C8-BB87-660316455178}" srcId="{65847E4C-66E2-4DD7-80C5-1932CAE2C9B2}" destId="{301D8025-EC04-4FBC-B789-8509D67BD5F7}" srcOrd="4" destOrd="0" parTransId="{1A5693AE-0A4A-4412-8DB1-D5C7E9EE8F3B}" sibTransId="{4070DE52-C7DA-4ED9-AA97-EE256E1ECCFF}"/>
    <dgm:cxn modelId="{D524DF17-822B-4B40-BB62-B6B4436C94C7}" type="presOf" srcId="{2E5F4C55-DB95-4E0C-B4B4-A6D4C6DFDF19}" destId="{A2B49BDE-35F6-4771-B775-9573A7237288}" srcOrd="0" destOrd="0" presId="urn:microsoft.com/office/officeart/2005/8/layout/hierarchy1"/>
    <dgm:cxn modelId="{DCCCC795-FF48-4A11-8B8A-687847BB3E48}" type="presOf" srcId="{301D8025-EC04-4FBC-B789-8509D67BD5F7}" destId="{B7164445-DE62-4930-B3E4-4C0E5734F7B3}" srcOrd="0" destOrd="0" presId="urn:microsoft.com/office/officeart/2005/8/layout/hierarchy1"/>
    <dgm:cxn modelId="{A2653060-500F-4786-917F-ECBC32EFD424}" type="presParOf" srcId="{314EA1A3-0059-46C2-AF96-B3607B5547F0}" destId="{C450E96E-E9C0-4F33-AE01-4880E49E4718}" srcOrd="0" destOrd="0" presId="urn:microsoft.com/office/officeart/2005/8/layout/hierarchy1"/>
    <dgm:cxn modelId="{9B6516E7-34F7-4583-A74C-02F45C25F047}" type="presParOf" srcId="{C450E96E-E9C0-4F33-AE01-4880E49E4718}" destId="{420D1DAE-BC07-41A6-A25B-26A351C17E5B}" srcOrd="0" destOrd="0" presId="urn:microsoft.com/office/officeart/2005/8/layout/hierarchy1"/>
    <dgm:cxn modelId="{F9B6C111-80FF-4984-AE2C-6239CC94B925}" type="presParOf" srcId="{420D1DAE-BC07-41A6-A25B-26A351C17E5B}" destId="{81FF2811-8A9C-4AEC-89ED-A6A04CCC6AAF}" srcOrd="0" destOrd="0" presId="urn:microsoft.com/office/officeart/2005/8/layout/hierarchy1"/>
    <dgm:cxn modelId="{6EC7C675-B287-4FCD-A65B-C5E0CC26191B}" type="presParOf" srcId="{420D1DAE-BC07-41A6-A25B-26A351C17E5B}" destId="{FF2611CE-8B6C-4EAA-B755-35D0685DE98C}" srcOrd="1" destOrd="0" presId="urn:microsoft.com/office/officeart/2005/8/layout/hierarchy1"/>
    <dgm:cxn modelId="{A01900F5-D628-43CA-8C5F-C969EFB9C4DE}" type="presParOf" srcId="{C450E96E-E9C0-4F33-AE01-4880E49E4718}" destId="{DF8C7CFA-C557-4C6E-9F8C-885CCF4840C4}" srcOrd="1" destOrd="0" presId="urn:microsoft.com/office/officeart/2005/8/layout/hierarchy1"/>
    <dgm:cxn modelId="{BA9ED975-40E2-4D70-A3F5-A0488E990970}" type="presParOf" srcId="{DF8C7CFA-C557-4C6E-9F8C-885CCF4840C4}" destId="{05508884-EC59-4EE7-A177-3AA7BCDAC4FB}" srcOrd="0" destOrd="0" presId="urn:microsoft.com/office/officeart/2005/8/layout/hierarchy1"/>
    <dgm:cxn modelId="{C8CB11BF-7E4E-4E03-B945-679B4C6A2F1A}" type="presParOf" srcId="{DF8C7CFA-C557-4C6E-9F8C-885CCF4840C4}" destId="{169FAB8F-60A4-4597-BCCD-A3551AFA50A6}" srcOrd="1" destOrd="0" presId="urn:microsoft.com/office/officeart/2005/8/layout/hierarchy1"/>
    <dgm:cxn modelId="{FF984B85-9C47-4225-A767-3D1FF7E92AA1}" type="presParOf" srcId="{169FAB8F-60A4-4597-BCCD-A3551AFA50A6}" destId="{C80D96A3-A784-4195-9CBF-3E01C6A515C2}" srcOrd="0" destOrd="0" presId="urn:microsoft.com/office/officeart/2005/8/layout/hierarchy1"/>
    <dgm:cxn modelId="{EF5A1C7A-D817-4760-B174-05AC2B04779E}" type="presParOf" srcId="{C80D96A3-A784-4195-9CBF-3E01C6A515C2}" destId="{89B6C471-B6FB-464D-B7AC-3333FAE79BA5}" srcOrd="0" destOrd="0" presId="urn:microsoft.com/office/officeart/2005/8/layout/hierarchy1"/>
    <dgm:cxn modelId="{6BFF6D43-F5EF-451D-91A3-A27F43031A51}" type="presParOf" srcId="{C80D96A3-A784-4195-9CBF-3E01C6A515C2}" destId="{3F2A6D49-354C-4CB0-91ED-F1457D751B44}" srcOrd="1" destOrd="0" presId="urn:microsoft.com/office/officeart/2005/8/layout/hierarchy1"/>
    <dgm:cxn modelId="{3740F132-3FEF-467F-A20F-7259FE00F948}" type="presParOf" srcId="{169FAB8F-60A4-4597-BCCD-A3551AFA50A6}" destId="{D6D6C6D7-47C2-41D6-B986-1D5DCA679FD5}" srcOrd="1" destOrd="0" presId="urn:microsoft.com/office/officeart/2005/8/layout/hierarchy1"/>
    <dgm:cxn modelId="{45C2FE99-7450-4579-A863-CFFC582D5AA1}" type="presParOf" srcId="{DF8C7CFA-C557-4C6E-9F8C-885CCF4840C4}" destId="{50EE4E5A-0203-4AEE-8AC0-1CEFA589ED36}" srcOrd="2" destOrd="0" presId="urn:microsoft.com/office/officeart/2005/8/layout/hierarchy1"/>
    <dgm:cxn modelId="{1C0B7B38-9AE7-4442-BC2C-6142FFE99B56}" type="presParOf" srcId="{DF8C7CFA-C557-4C6E-9F8C-885CCF4840C4}" destId="{8E849195-0B6F-4557-A130-F1D731B5C844}" srcOrd="3" destOrd="0" presId="urn:microsoft.com/office/officeart/2005/8/layout/hierarchy1"/>
    <dgm:cxn modelId="{6449DE01-8E61-4F94-88C7-6D2705EFB89B}" type="presParOf" srcId="{8E849195-0B6F-4557-A130-F1D731B5C844}" destId="{C6470DE4-C2F3-4F12-82A0-5373978B42AE}" srcOrd="0" destOrd="0" presId="urn:microsoft.com/office/officeart/2005/8/layout/hierarchy1"/>
    <dgm:cxn modelId="{1A631A93-0270-4283-8C96-D9266EAA2CBB}" type="presParOf" srcId="{C6470DE4-C2F3-4F12-82A0-5373978B42AE}" destId="{1ECF1F37-68AA-4872-9B49-FC9F4B5AB989}" srcOrd="0" destOrd="0" presId="urn:microsoft.com/office/officeart/2005/8/layout/hierarchy1"/>
    <dgm:cxn modelId="{B5B181DC-35D6-4680-A608-F9C40A08C72E}" type="presParOf" srcId="{C6470DE4-C2F3-4F12-82A0-5373978B42AE}" destId="{B1486F19-5761-4C0F-875C-1913C04655EC}" srcOrd="1" destOrd="0" presId="urn:microsoft.com/office/officeart/2005/8/layout/hierarchy1"/>
    <dgm:cxn modelId="{2FC8C1C3-E81E-4ECA-82E4-1BD7AF6A82EB}" type="presParOf" srcId="{8E849195-0B6F-4557-A130-F1D731B5C844}" destId="{4C0C9A45-CDDD-4727-A88A-FEC9646156EF}" srcOrd="1" destOrd="0" presId="urn:microsoft.com/office/officeart/2005/8/layout/hierarchy1"/>
    <dgm:cxn modelId="{706DE032-89AA-458B-A87E-9767620767C1}" type="presParOf" srcId="{DF8C7CFA-C557-4C6E-9F8C-885CCF4840C4}" destId="{DE9A9853-94F1-46D0-88E5-71D3327D73DC}" srcOrd="4" destOrd="0" presId="urn:microsoft.com/office/officeart/2005/8/layout/hierarchy1"/>
    <dgm:cxn modelId="{DC2B03B1-6779-4CA3-AC1C-81A5721D7ED6}" type="presParOf" srcId="{DF8C7CFA-C557-4C6E-9F8C-885CCF4840C4}" destId="{2D9C2DE5-671D-44DC-B30F-3298C1F3826E}" srcOrd="5" destOrd="0" presId="urn:microsoft.com/office/officeart/2005/8/layout/hierarchy1"/>
    <dgm:cxn modelId="{0C67FA47-EDB2-4561-B8F3-C57FA6B23C9F}" type="presParOf" srcId="{2D9C2DE5-671D-44DC-B30F-3298C1F3826E}" destId="{EC46217E-F6D1-4255-917D-6151C5B634BC}" srcOrd="0" destOrd="0" presId="urn:microsoft.com/office/officeart/2005/8/layout/hierarchy1"/>
    <dgm:cxn modelId="{38645A69-37CC-4E3D-81D7-AD25E68303D4}" type="presParOf" srcId="{EC46217E-F6D1-4255-917D-6151C5B634BC}" destId="{8DB421E6-A02F-42A2-B019-6CF79AB6472F}" srcOrd="0" destOrd="0" presId="urn:microsoft.com/office/officeart/2005/8/layout/hierarchy1"/>
    <dgm:cxn modelId="{296B406F-E749-42FA-BB48-AEBA394D01A5}" type="presParOf" srcId="{EC46217E-F6D1-4255-917D-6151C5B634BC}" destId="{845C4CE4-DCE9-41AB-81CA-440F4034BD1B}" srcOrd="1" destOrd="0" presId="urn:microsoft.com/office/officeart/2005/8/layout/hierarchy1"/>
    <dgm:cxn modelId="{6D7E24F1-04F4-488B-863F-7B6B7C78F92B}" type="presParOf" srcId="{2D9C2DE5-671D-44DC-B30F-3298C1F3826E}" destId="{F19A1A0F-B08B-49D8-AFB3-1B1A688124FD}" srcOrd="1" destOrd="0" presId="urn:microsoft.com/office/officeart/2005/8/layout/hierarchy1"/>
    <dgm:cxn modelId="{AE427F4A-6591-4E6C-8A48-37BA325DC15B}" type="presParOf" srcId="{DF8C7CFA-C557-4C6E-9F8C-885CCF4840C4}" destId="{AB03324C-5B10-40F6-9CB8-69993910368B}" srcOrd="6" destOrd="0" presId="urn:microsoft.com/office/officeart/2005/8/layout/hierarchy1"/>
    <dgm:cxn modelId="{3927FBC5-3217-43EC-AE10-667B5D44C873}" type="presParOf" srcId="{DF8C7CFA-C557-4C6E-9F8C-885CCF4840C4}" destId="{26BDF397-40BD-40C3-A00F-781978E7BA55}" srcOrd="7" destOrd="0" presId="urn:microsoft.com/office/officeart/2005/8/layout/hierarchy1"/>
    <dgm:cxn modelId="{7199EDE8-0037-4732-89D0-CDB5FB880F59}" type="presParOf" srcId="{26BDF397-40BD-40C3-A00F-781978E7BA55}" destId="{5DCD494C-E08B-44CE-9CA8-94CBE95E6732}" srcOrd="0" destOrd="0" presId="urn:microsoft.com/office/officeart/2005/8/layout/hierarchy1"/>
    <dgm:cxn modelId="{980E5972-E08E-49C2-B725-B2404C325EC1}" type="presParOf" srcId="{5DCD494C-E08B-44CE-9CA8-94CBE95E6732}" destId="{943F5493-F597-49C8-A706-CB9DA4F4328C}" srcOrd="0" destOrd="0" presId="urn:microsoft.com/office/officeart/2005/8/layout/hierarchy1"/>
    <dgm:cxn modelId="{77A1E05E-9708-4387-9E60-40A335D967F2}" type="presParOf" srcId="{5DCD494C-E08B-44CE-9CA8-94CBE95E6732}" destId="{A2B49BDE-35F6-4771-B775-9573A7237288}" srcOrd="1" destOrd="0" presId="urn:microsoft.com/office/officeart/2005/8/layout/hierarchy1"/>
    <dgm:cxn modelId="{1174F72C-813D-4F75-B091-E0883829F53F}" type="presParOf" srcId="{26BDF397-40BD-40C3-A00F-781978E7BA55}" destId="{5DE3A41A-B5F2-42B0-9D2E-093BD6ABD152}" srcOrd="1" destOrd="0" presId="urn:microsoft.com/office/officeart/2005/8/layout/hierarchy1"/>
    <dgm:cxn modelId="{B0D874C8-D8BD-430E-97B1-7AEA869E9321}" type="presParOf" srcId="{DF8C7CFA-C557-4C6E-9F8C-885CCF4840C4}" destId="{BAB6A60B-AD8A-4B0B-988E-3AD93CC4DC40}" srcOrd="8" destOrd="0" presId="urn:microsoft.com/office/officeart/2005/8/layout/hierarchy1"/>
    <dgm:cxn modelId="{AF485808-1E40-410B-9F15-4D09F66388BC}" type="presParOf" srcId="{DF8C7CFA-C557-4C6E-9F8C-885CCF4840C4}" destId="{6E347943-D66B-479F-8F93-C5FA71705912}" srcOrd="9" destOrd="0" presId="urn:microsoft.com/office/officeart/2005/8/layout/hierarchy1"/>
    <dgm:cxn modelId="{1E260502-82DA-425A-A11B-E10E0053416F}" type="presParOf" srcId="{6E347943-D66B-479F-8F93-C5FA71705912}" destId="{BD2200FB-C9D8-4D4B-B518-8E39967C2EA8}" srcOrd="0" destOrd="0" presId="urn:microsoft.com/office/officeart/2005/8/layout/hierarchy1"/>
    <dgm:cxn modelId="{332900BF-BB87-49E1-BDEB-3C9A01D742EF}" type="presParOf" srcId="{BD2200FB-C9D8-4D4B-B518-8E39967C2EA8}" destId="{9F38BF52-6FD0-47DD-8512-575B1EFCECFE}" srcOrd="0" destOrd="0" presId="urn:microsoft.com/office/officeart/2005/8/layout/hierarchy1"/>
    <dgm:cxn modelId="{1805A9D2-1AA6-47FE-A9E8-174E1C9D13E7}" type="presParOf" srcId="{BD2200FB-C9D8-4D4B-B518-8E39967C2EA8}" destId="{B7164445-DE62-4930-B3E4-4C0E5734F7B3}" srcOrd="1" destOrd="0" presId="urn:microsoft.com/office/officeart/2005/8/layout/hierarchy1"/>
    <dgm:cxn modelId="{253B2390-45C5-4B8E-9027-83EB5B3677E3}" type="presParOf" srcId="{6E347943-D66B-479F-8F93-C5FA71705912}" destId="{FFA3238A-1D77-4D74-8D99-12BA054B5A15}" srcOrd="1" destOrd="0" presId="urn:microsoft.com/office/officeart/2005/8/layout/hierarchy1"/>
    <dgm:cxn modelId="{CF9E9107-CA77-49D3-B952-8BB037212069}" type="presParOf" srcId="{DF8C7CFA-C557-4C6E-9F8C-885CCF4840C4}" destId="{F12CA078-829C-49BA-A5F9-BF6C3A6A82B4}" srcOrd="10" destOrd="0" presId="urn:microsoft.com/office/officeart/2005/8/layout/hierarchy1"/>
    <dgm:cxn modelId="{F71291C1-4E29-41E6-96E6-880EECABA31B}" type="presParOf" srcId="{DF8C7CFA-C557-4C6E-9F8C-885CCF4840C4}" destId="{51905F87-A666-4FD9-8B7E-0CFDEC993071}" srcOrd="11" destOrd="0" presId="urn:microsoft.com/office/officeart/2005/8/layout/hierarchy1"/>
    <dgm:cxn modelId="{DFBFD503-05E8-4747-88D1-0F856C64D5DD}" type="presParOf" srcId="{51905F87-A666-4FD9-8B7E-0CFDEC993071}" destId="{21CFDF85-A84F-49AF-97F8-F7F14FB4C99A}" srcOrd="0" destOrd="0" presId="urn:microsoft.com/office/officeart/2005/8/layout/hierarchy1"/>
    <dgm:cxn modelId="{72B8E5C3-8E17-4E94-BD92-D8318187E5D8}" type="presParOf" srcId="{21CFDF85-A84F-49AF-97F8-F7F14FB4C99A}" destId="{BA993359-E13C-4CE3-ADBA-C248A6AA94B3}" srcOrd="0" destOrd="0" presId="urn:microsoft.com/office/officeart/2005/8/layout/hierarchy1"/>
    <dgm:cxn modelId="{21518B8B-7E64-40F1-88BE-5943DCAB8599}" type="presParOf" srcId="{21CFDF85-A84F-49AF-97F8-F7F14FB4C99A}" destId="{F96F11F7-601B-4471-8C53-B30EBB92BF60}" srcOrd="1" destOrd="0" presId="urn:microsoft.com/office/officeart/2005/8/layout/hierarchy1"/>
    <dgm:cxn modelId="{7295259F-96AB-43FC-97F9-657A83E72AD1}" type="presParOf" srcId="{51905F87-A666-4FD9-8B7E-0CFDEC993071}" destId="{0BFAE4F9-2830-4B19-98AB-BDC39745BC7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2CA078-829C-49BA-A5F9-BF6C3A6A82B4}">
      <dsp:nvSpPr>
        <dsp:cNvPr id="0" name=""/>
        <dsp:cNvSpPr/>
      </dsp:nvSpPr>
      <dsp:spPr>
        <a:xfrm>
          <a:off x="4017189" y="626121"/>
          <a:ext cx="3012718" cy="286755"/>
        </a:xfrm>
        <a:custGeom>
          <a:avLst/>
          <a:gdLst/>
          <a:ahLst/>
          <a:cxnLst/>
          <a:rect l="0" t="0" r="0" b="0"/>
          <a:pathLst>
            <a:path>
              <a:moveTo>
                <a:pt x="0" y="0"/>
              </a:moveTo>
              <a:lnTo>
                <a:pt x="0" y="195415"/>
              </a:lnTo>
              <a:lnTo>
                <a:pt x="3012718" y="195415"/>
              </a:lnTo>
              <a:lnTo>
                <a:pt x="3012718" y="286755"/>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6A60B-AD8A-4B0B-988E-3AD93CC4DC40}">
      <dsp:nvSpPr>
        <dsp:cNvPr id="0" name=""/>
        <dsp:cNvSpPr/>
      </dsp:nvSpPr>
      <dsp:spPr>
        <a:xfrm>
          <a:off x="4017189" y="626121"/>
          <a:ext cx="1807630" cy="286755"/>
        </a:xfrm>
        <a:custGeom>
          <a:avLst/>
          <a:gdLst/>
          <a:ahLst/>
          <a:cxnLst/>
          <a:rect l="0" t="0" r="0" b="0"/>
          <a:pathLst>
            <a:path>
              <a:moveTo>
                <a:pt x="0" y="0"/>
              </a:moveTo>
              <a:lnTo>
                <a:pt x="0" y="195415"/>
              </a:lnTo>
              <a:lnTo>
                <a:pt x="1807630" y="195415"/>
              </a:lnTo>
              <a:lnTo>
                <a:pt x="1807630" y="286755"/>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03324C-5B10-40F6-9CB8-69993910368B}">
      <dsp:nvSpPr>
        <dsp:cNvPr id="0" name=""/>
        <dsp:cNvSpPr/>
      </dsp:nvSpPr>
      <dsp:spPr>
        <a:xfrm>
          <a:off x="4017189" y="626121"/>
          <a:ext cx="602543" cy="286755"/>
        </a:xfrm>
        <a:custGeom>
          <a:avLst/>
          <a:gdLst/>
          <a:ahLst/>
          <a:cxnLst/>
          <a:rect l="0" t="0" r="0" b="0"/>
          <a:pathLst>
            <a:path>
              <a:moveTo>
                <a:pt x="0" y="0"/>
              </a:moveTo>
              <a:lnTo>
                <a:pt x="0" y="195415"/>
              </a:lnTo>
              <a:lnTo>
                <a:pt x="602543" y="195415"/>
              </a:lnTo>
              <a:lnTo>
                <a:pt x="602543" y="286755"/>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9A9853-94F1-46D0-88E5-71D3327D73DC}">
      <dsp:nvSpPr>
        <dsp:cNvPr id="0" name=""/>
        <dsp:cNvSpPr/>
      </dsp:nvSpPr>
      <dsp:spPr>
        <a:xfrm>
          <a:off x="3414645" y="626121"/>
          <a:ext cx="602543" cy="286755"/>
        </a:xfrm>
        <a:custGeom>
          <a:avLst/>
          <a:gdLst/>
          <a:ahLst/>
          <a:cxnLst/>
          <a:rect l="0" t="0" r="0" b="0"/>
          <a:pathLst>
            <a:path>
              <a:moveTo>
                <a:pt x="602543" y="0"/>
              </a:moveTo>
              <a:lnTo>
                <a:pt x="602543" y="195415"/>
              </a:lnTo>
              <a:lnTo>
                <a:pt x="0" y="195415"/>
              </a:lnTo>
              <a:lnTo>
                <a:pt x="0" y="286755"/>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EE4E5A-0203-4AEE-8AC0-1CEFA589ED36}">
      <dsp:nvSpPr>
        <dsp:cNvPr id="0" name=""/>
        <dsp:cNvSpPr/>
      </dsp:nvSpPr>
      <dsp:spPr>
        <a:xfrm>
          <a:off x="2209558" y="626121"/>
          <a:ext cx="1807630" cy="286755"/>
        </a:xfrm>
        <a:custGeom>
          <a:avLst/>
          <a:gdLst/>
          <a:ahLst/>
          <a:cxnLst/>
          <a:rect l="0" t="0" r="0" b="0"/>
          <a:pathLst>
            <a:path>
              <a:moveTo>
                <a:pt x="1807630" y="0"/>
              </a:moveTo>
              <a:lnTo>
                <a:pt x="1807630" y="195415"/>
              </a:lnTo>
              <a:lnTo>
                <a:pt x="0" y="195415"/>
              </a:lnTo>
              <a:lnTo>
                <a:pt x="0" y="286755"/>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508884-EC59-4EE7-A177-3AA7BCDAC4FB}">
      <dsp:nvSpPr>
        <dsp:cNvPr id="0" name=""/>
        <dsp:cNvSpPr/>
      </dsp:nvSpPr>
      <dsp:spPr>
        <a:xfrm>
          <a:off x="1004471" y="626121"/>
          <a:ext cx="3012718" cy="286755"/>
        </a:xfrm>
        <a:custGeom>
          <a:avLst/>
          <a:gdLst/>
          <a:ahLst/>
          <a:cxnLst/>
          <a:rect l="0" t="0" r="0" b="0"/>
          <a:pathLst>
            <a:path>
              <a:moveTo>
                <a:pt x="3012718" y="0"/>
              </a:moveTo>
              <a:lnTo>
                <a:pt x="3012718" y="195415"/>
              </a:lnTo>
              <a:lnTo>
                <a:pt x="0" y="195415"/>
              </a:lnTo>
              <a:lnTo>
                <a:pt x="0" y="286755"/>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FF2811-8A9C-4AEC-89ED-A6A04CCC6AAF}">
      <dsp:nvSpPr>
        <dsp:cNvPr id="0" name=""/>
        <dsp:cNvSpPr/>
      </dsp:nvSpPr>
      <dsp:spPr>
        <a:xfrm>
          <a:off x="3524199" y="23"/>
          <a:ext cx="985980" cy="6260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2611CE-8B6C-4EAA-B755-35D0685DE98C}">
      <dsp:nvSpPr>
        <dsp:cNvPr id="0" name=""/>
        <dsp:cNvSpPr/>
      </dsp:nvSpPr>
      <dsp:spPr>
        <a:xfrm>
          <a:off x="3633752" y="104099"/>
          <a:ext cx="985980" cy="6260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JAVA</a:t>
          </a:r>
        </a:p>
      </dsp:txBody>
      <dsp:txXfrm>
        <a:off x="3652090" y="122437"/>
        <a:ext cx="949304" cy="589421"/>
      </dsp:txXfrm>
    </dsp:sp>
    <dsp:sp modelId="{89B6C471-B6FB-464D-B7AC-3333FAE79BA5}">
      <dsp:nvSpPr>
        <dsp:cNvPr id="0" name=""/>
        <dsp:cNvSpPr/>
      </dsp:nvSpPr>
      <dsp:spPr>
        <a:xfrm>
          <a:off x="511481" y="912877"/>
          <a:ext cx="985980" cy="6260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2A6D49-354C-4CB0-91ED-F1457D751B44}">
      <dsp:nvSpPr>
        <dsp:cNvPr id="0" name=""/>
        <dsp:cNvSpPr/>
      </dsp:nvSpPr>
      <dsp:spPr>
        <a:xfrm>
          <a:off x="621034" y="1016952"/>
          <a:ext cx="985980" cy="6260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lang</a:t>
          </a:r>
        </a:p>
      </dsp:txBody>
      <dsp:txXfrm>
        <a:off x="639372" y="1035290"/>
        <a:ext cx="949304" cy="589421"/>
      </dsp:txXfrm>
    </dsp:sp>
    <dsp:sp modelId="{1ECF1F37-68AA-4872-9B49-FC9F4B5AB989}">
      <dsp:nvSpPr>
        <dsp:cNvPr id="0" name=""/>
        <dsp:cNvSpPr/>
      </dsp:nvSpPr>
      <dsp:spPr>
        <a:xfrm>
          <a:off x="1716568" y="912877"/>
          <a:ext cx="985980" cy="6260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486F19-5761-4C0F-875C-1913C04655EC}">
      <dsp:nvSpPr>
        <dsp:cNvPr id="0" name=""/>
        <dsp:cNvSpPr/>
      </dsp:nvSpPr>
      <dsp:spPr>
        <a:xfrm>
          <a:off x="1826121" y="1016952"/>
          <a:ext cx="985980" cy="6260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util</a:t>
          </a:r>
        </a:p>
      </dsp:txBody>
      <dsp:txXfrm>
        <a:off x="1844459" y="1035290"/>
        <a:ext cx="949304" cy="589421"/>
      </dsp:txXfrm>
    </dsp:sp>
    <dsp:sp modelId="{8DB421E6-A02F-42A2-B019-6CF79AB6472F}">
      <dsp:nvSpPr>
        <dsp:cNvPr id="0" name=""/>
        <dsp:cNvSpPr/>
      </dsp:nvSpPr>
      <dsp:spPr>
        <a:xfrm>
          <a:off x="2921655" y="912877"/>
          <a:ext cx="985980" cy="6260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5C4CE4-DCE9-41AB-81CA-440F4034BD1B}">
      <dsp:nvSpPr>
        <dsp:cNvPr id="0" name=""/>
        <dsp:cNvSpPr/>
      </dsp:nvSpPr>
      <dsp:spPr>
        <a:xfrm>
          <a:off x="3031208" y="1016952"/>
          <a:ext cx="985980" cy="6260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io</a:t>
          </a:r>
        </a:p>
      </dsp:txBody>
      <dsp:txXfrm>
        <a:off x="3049546" y="1035290"/>
        <a:ext cx="949304" cy="589421"/>
      </dsp:txXfrm>
    </dsp:sp>
    <dsp:sp modelId="{943F5493-F597-49C8-A706-CB9DA4F4328C}">
      <dsp:nvSpPr>
        <dsp:cNvPr id="0" name=""/>
        <dsp:cNvSpPr/>
      </dsp:nvSpPr>
      <dsp:spPr>
        <a:xfrm>
          <a:off x="4126742" y="912877"/>
          <a:ext cx="985980" cy="6260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B49BDE-35F6-4771-B775-9573A7237288}">
      <dsp:nvSpPr>
        <dsp:cNvPr id="0" name=""/>
        <dsp:cNvSpPr/>
      </dsp:nvSpPr>
      <dsp:spPr>
        <a:xfrm>
          <a:off x="4236296" y="1016952"/>
          <a:ext cx="985980" cy="6260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awt</a:t>
          </a:r>
        </a:p>
      </dsp:txBody>
      <dsp:txXfrm>
        <a:off x="4254634" y="1035290"/>
        <a:ext cx="949304" cy="589421"/>
      </dsp:txXfrm>
    </dsp:sp>
    <dsp:sp modelId="{9F38BF52-6FD0-47DD-8512-575B1EFCECFE}">
      <dsp:nvSpPr>
        <dsp:cNvPr id="0" name=""/>
        <dsp:cNvSpPr/>
      </dsp:nvSpPr>
      <dsp:spPr>
        <a:xfrm>
          <a:off x="5331829" y="912877"/>
          <a:ext cx="985980" cy="6260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164445-DE62-4930-B3E4-4C0E5734F7B3}">
      <dsp:nvSpPr>
        <dsp:cNvPr id="0" name=""/>
        <dsp:cNvSpPr/>
      </dsp:nvSpPr>
      <dsp:spPr>
        <a:xfrm>
          <a:off x="5441383" y="1016952"/>
          <a:ext cx="985980" cy="6260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net</a:t>
          </a:r>
        </a:p>
      </dsp:txBody>
      <dsp:txXfrm>
        <a:off x="5459721" y="1035290"/>
        <a:ext cx="949304" cy="589421"/>
      </dsp:txXfrm>
    </dsp:sp>
    <dsp:sp modelId="{BA993359-E13C-4CE3-ADBA-C248A6AA94B3}">
      <dsp:nvSpPr>
        <dsp:cNvPr id="0" name=""/>
        <dsp:cNvSpPr/>
      </dsp:nvSpPr>
      <dsp:spPr>
        <a:xfrm>
          <a:off x="6536917" y="912877"/>
          <a:ext cx="985980" cy="6260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6F11F7-601B-4471-8C53-B30EBB92BF60}">
      <dsp:nvSpPr>
        <dsp:cNvPr id="0" name=""/>
        <dsp:cNvSpPr/>
      </dsp:nvSpPr>
      <dsp:spPr>
        <a:xfrm>
          <a:off x="6646470" y="1016952"/>
          <a:ext cx="985980" cy="6260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applet</a:t>
          </a:r>
        </a:p>
      </dsp:txBody>
      <dsp:txXfrm>
        <a:off x="6664808" y="1035290"/>
        <a:ext cx="949304" cy="58942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image" Target="../media/image13.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C2B58A8-C46D-470F-B956-86F1CF911128}" type="datetimeFigureOut">
              <a:rPr lang="en-US" smtClean="0"/>
              <a:pPr/>
              <a:t>11/17/2021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E5554A-E5C4-4071-AB4E-5368B23235E2}" type="slidenum">
              <a:rPr lang="en-IN" smtClean="0"/>
              <a:pPr/>
              <a:t>‹#›</a:t>
            </a:fld>
            <a:endParaRPr lang="en-IN"/>
          </a:p>
        </p:txBody>
      </p:sp>
    </p:spTree>
    <p:extLst>
      <p:ext uri="{BB962C8B-B14F-4D97-AF65-F5344CB8AC3E}">
        <p14:creationId xmlns:p14="http://schemas.microsoft.com/office/powerpoint/2010/main" val="36659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45</a:t>
            </a:fld>
            <a:endParaRPr lang="en-IN"/>
          </a:p>
        </p:txBody>
      </p:sp>
    </p:spTree>
    <p:extLst>
      <p:ext uri="{BB962C8B-B14F-4D97-AF65-F5344CB8AC3E}">
        <p14:creationId xmlns:p14="http://schemas.microsoft.com/office/powerpoint/2010/main" val="26956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46</a:t>
            </a:fld>
            <a:endParaRPr lang="en-IN"/>
          </a:p>
        </p:txBody>
      </p:sp>
    </p:spTree>
    <p:extLst>
      <p:ext uri="{BB962C8B-B14F-4D97-AF65-F5344CB8AC3E}">
        <p14:creationId xmlns:p14="http://schemas.microsoft.com/office/powerpoint/2010/main" val="3737889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47</a:t>
            </a:fld>
            <a:endParaRPr lang="en-IN"/>
          </a:p>
        </p:txBody>
      </p:sp>
    </p:spTree>
    <p:extLst>
      <p:ext uri="{BB962C8B-B14F-4D97-AF65-F5344CB8AC3E}">
        <p14:creationId xmlns:p14="http://schemas.microsoft.com/office/powerpoint/2010/main" val="156633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48</a:t>
            </a:fld>
            <a:endParaRPr lang="en-IN"/>
          </a:p>
        </p:txBody>
      </p:sp>
    </p:spTree>
    <p:extLst>
      <p:ext uri="{BB962C8B-B14F-4D97-AF65-F5344CB8AC3E}">
        <p14:creationId xmlns:p14="http://schemas.microsoft.com/office/powerpoint/2010/main" val="3228126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49</a:t>
            </a:fld>
            <a:endParaRPr lang="en-IN"/>
          </a:p>
        </p:txBody>
      </p:sp>
    </p:spTree>
    <p:extLst>
      <p:ext uri="{BB962C8B-B14F-4D97-AF65-F5344CB8AC3E}">
        <p14:creationId xmlns:p14="http://schemas.microsoft.com/office/powerpoint/2010/main" val="4134202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50</a:t>
            </a:fld>
            <a:endParaRPr lang="en-IN"/>
          </a:p>
        </p:txBody>
      </p:sp>
    </p:spTree>
    <p:extLst>
      <p:ext uri="{BB962C8B-B14F-4D97-AF65-F5344CB8AC3E}">
        <p14:creationId xmlns:p14="http://schemas.microsoft.com/office/powerpoint/2010/main" val="3498033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51</a:t>
            </a:fld>
            <a:endParaRPr lang="en-IN"/>
          </a:p>
        </p:txBody>
      </p:sp>
    </p:spTree>
    <p:extLst>
      <p:ext uri="{BB962C8B-B14F-4D97-AF65-F5344CB8AC3E}">
        <p14:creationId xmlns:p14="http://schemas.microsoft.com/office/powerpoint/2010/main" val="393898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52</a:t>
            </a:fld>
            <a:endParaRPr lang="en-IN"/>
          </a:p>
        </p:txBody>
      </p:sp>
    </p:spTree>
    <p:extLst>
      <p:ext uri="{BB962C8B-B14F-4D97-AF65-F5344CB8AC3E}">
        <p14:creationId xmlns:p14="http://schemas.microsoft.com/office/powerpoint/2010/main" val="310766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53</a:t>
            </a:fld>
            <a:endParaRPr lang="en-IN"/>
          </a:p>
        </p:txBody>
      </p:sp>
    </p:spTree>
    <p:extLst>
      <p:ext uri="{BB962C8B-B14F-4D97-AF65-F5344CB8AC3E}">
        <p14:creationId xmlns:p14="http://schemas.microsoft.com/office/powerpoint/2010/main" val="3321535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54</a:t>
            </a:fld>
            <a:endParaRPr lang="en-IN"/>
          </a:p>
        </p:txBody>
      </p:sp>
    </p:spTree>
    <p:extLst>
      <p:ext uri="{BB962C8B-B14F-4D97-AF65-F5344CB8AC3E}">
        <p14:creationId xmlns:p14="http://schemas.microsoft.com/office/powerpoint/2010/main" val="269863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55</a:t>
            </a:fld>
            <a:endParaRPr lang="en-IN"/>
          </a:p>
        </p:txBody>
      </p:sp>
    </p:spTree>
    <p:extLst>
      <p:ext uri="{BB962C8B-B14F-4D97-AF65-F5344CB8AC3E}">
        <p14:creationId xmlns:p14="http://schemas.microsoft.com/office/powerpoint/2010/main" val="1749386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56</a:t>
            </a:fld>
            <a:endParaRPr lang="en-IN"/>
          </a:p>
        </p:txBody>
      </p:sp>
    </p:spTree>
    <p:extLst>
      <p:ext uri="{BB962C8B-B14F-4D97-AF65-F5344CB8AC3E}">
        <p14:creationId xmlns:p14="http://schemas.microsoft.com/office/powerpoint/2010/main" val="185634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57</a:t>
            </a:fld>
            <a:endParaRPr lang="en-IN"/>
          </a:p>
        </p:txBody>
      </p:sp>
    </p:spTree>
    <p:extLst>
      <p:ext uri="{BB962C8B-B14F-4D97-AF65-F5344CB8AC3E}">
        <p14:creationId xmlns:p14="http://schemas.microsoft.com/office/powerpoint/2010/main" val="2021045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58</a:t>
            </a:fld>
            <a:endParaRPr lang="en-IN"/>
          </a:p>
        </p:txBody>
      </p:sp>
    </p:spTree>
    <p:extLst>
      <p:ext uri="{BB962C8B-B14F-4D97-AF65-F5344CB8AC3E}">
        <p14:creationId xmlns:p14="http://schemas.microsoft.com/office/powerpoint/2010/main" val="1092559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59</a:t>
            </a:fld>
            <a:endParaRPr lang="en-IN"/>
          </a:p>
        </p:txBody>
      </p:sp>
    </p:spTree>
    <p:extLst>
      <p:ext uri="{BB962C8B-B14F-4D97-AF65-F5344CB8AC3E}">
        <p14:creationId xmlns:p14="http://schemas.microsoft.com/office/powerpoint/2010/main" val="2693869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E5554A-E5C4-4071-AB4E-5368B23235E2}" type="slidenum">
              <a:rPr lang="en-IN" smtClean="0"/>
              <a:pPr/>
              <a:t>95</a:t>
            </a:fld>
            <a:endParaRPr lang="en-IN"/>
          </a:p>
        </p:txBody>
      </p:sp>
    </p:spTree>
    <p:extLst>
      <p:ext uri="{BB962C8B-B14F-4D97-AF65-F5344CB8AC3E}">
        <p14:creationId xmlns:p14="http://schemas.microsoft.com/office/powerpoint/2010/main" val="1060036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45C4E516-C234-4628-AA51-69CFD7E3E42F}" type="datetimeFigureOut">
              <a:rPr lang="en-US" smtClean="0"/>
              <a:pPr/>
              <a:t>11/17/2021</a:t>
            </a:fld>
            <a:endParaRPr lang="en-IN"/>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IN"/>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A1AE99F8-5F0C-44F9-9C3A-143F2BF3CD12}"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45C4E516-C234-4628-AA51-69CFD7E3E42F}" type="datetimeFigureOut">
              <a:rPr lang="en-US" smtClean="0"/>
              <a:pPr/>
              <a:t>11/17/2021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A1AE99F8-5F0C-44F9-9C3A-143F2BF3CD12}" type="slidenum">
              <a:rPr lang="en-IN" smtClean="0"/>
              <a:pPr/>
              <a:t>‹#›</a:t>
            </a:fld>
            <a:endParaRPr lang="en-IN"/>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45C4E516-C234-4628-AA51-69CFD7E3E42F}" type="datetimeFigureOut">
              <a:rPr lang="en-US" smtClean="0"/>
              <a:pPr/>
              <a:t>11/17/2021</a:t>
            </a:fld>
            <a:endParaRPr lang="en-IN"/>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A1AE99F8-5F0C-44F9-9C3A-143F2BF3CD12}" type="slidenum">
              <a:rPr lang="en-IN" smtClean="0"/>
              <a:pPr/>
              <a:t>‹#›</a:t>
            </a:fld>
            <a:endParaRPr lang="en-IN"/>
          </a:p>
        </p:txBody>
      </p:sp>
      <p:sp>
        <p:nvSpPr>
          <p:cNvPr id="14" name="Footer Placeholder 13"/>
          <p:cNvSpPr>
            <a:spLocks noGrp="1"/>
          </p:cNvSpPr>
          <p:nvPr>
            <p:ph type="ftr" sz="quarter" idx="12"/>
          </p:nvPr>
        </p:nvSpPr>
        <p:spPr/>
        <p:txBody>
          <a:bodyPr/>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45C4E516-C234-4628-AA51-69CFD7E3E42F}" type="datetimeFigureOut">
              <a:rPr lang="en-US" smtClean="0"/>
              <a:pPr/>
              <a:t>11/17/2021</a:t>
            </a:fld>
            <a:endParaRPr lang="en-IN"/>
          </a:p>
        </p:txBody>
      </p:sp>
      <p:sp>
        <p:nvSpPr>
          <p:cNvPr id="10" name="Slide Number Placeholder 9"/>
          <p:cNvSpPr>
            <a:spLocks noGrp="1"/>
          </p:cNvSpPr>
          <p:nvPr>
            <p:ph type="sldNum" sz="quarter" idx="16"/>
          </p:nvPr>
        </p:nvSpPr>
        <p:spPr/>
        <p:txBody>
          <a:bodyPr rtlCol="0"/>
          <a:lstStyle/>
          <a:p>
            <a:fld id="{A1AE99F8-5F0C-44F9-9C3A-143F2BF3CD12}" type="slidenum">
              <a:rPr lang="en-IN" smtClean="0"/>
              <a:pPr/>
              <a:t>‹#›</a:t>
            </a:fld>
            <a:endParaRPr lang="en-IN"/>
          </a:p>
        </p:txBody>
      </p:sp>
      <p:sp>
        <p:nvSpPr>
          <p:cNvPr id="12" name="Footer Placeholder 11"/>
          <p:cNvSpPr>
            <a:spLocks noGrp="1"/>
          </p:cNvSpPr>
          <p:nvPr>
            <p:ph type="ftr" sz="quarter" idx="17"/>
          </p:nvPr>
        </p:nvSpPr>
        <p:spPr/>
        <p:txBody>
          <a:bodyPr rtlCol="0"/>
          <a:lstStyle/>
          <a:p>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45C4E516-C234-4628-AA51-69CFD7E3E42F}" type="datetimeFigureOut">
              <a:rPr lang="en-US" smtClean="0"/>
              <a:pPr/>
              <a:t>11/17/2021</a:t>
            </a:fld>
            <a:endParaRPr lang="en-IN"/>
          </a:p>
        </p:txBody>
      </p:sp>
      <p:sp>
        <p:nvSpPr>
          <p:cNvPr id="12" name="Slide Number Placeholder 11"/>
          <p:cNvSpPr>
            <a:spLocks noGrp="1"/>
          </p:cNvSpPr>
          <p:nvPr>
            <p:ph type="sldNum" sz="quarter" idx="16"/>
          </p:nvPr>
        </p:nvSpPr>
        <p:spPr/>
        <p:txBody>
          <a:bodyPr rtlCol="0"/>
          <a:lstStyle/>
          <a:p>
            <a:fld id="{A1AE99F8-5F0C-44F9-9C3A-143F2BF3CD12}" type="slidenum">
              <a:rPr lang="en-IN" smtClean="0"/>
              <a:pPr/>
              <a:t>‹#›</a:t>
            </a:fld>
            <a:endParaRPr lang="en-IN"/>
          </a:p>
        </p:txBody>
      </p:sp>
      <p:sp>
        <p:nvSpPr>
          <p:cNvPr id="14" name="Footer Placeholder 13"/>
          <p:cNvSpPr>
            <a:spLocks noGrp="1"/>
          </p:cNvSpPr>
          <p:nvPr>
            <p:ph type="ftr" sz="quarter" idx="17"/>
          </p:nvPr>
        </p:nvSpPr>
        <p:spPr/>
        <p:txBody>
          <a:bodyPr rtlCol="0"/>
          <a:lstStyle/>
          <a:p>
            <a:endParaRPr lang="en-IN"/>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5C4E516-C234-4628-AA51-69CFD7E3E42F}" type="datetimeFigureOut">
              <a:rPr lang="en-US" smtClean="0"/>
              <a:pPr/>
              <a:t>11/17/2021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A1AE99F8-5F0C-44F9-9C3A-143F2BF3CD1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C4E516-C234-4628-AA51-69CFD7E3E42F}" type="datetimeFigureOut">
              <a:rPr lang="en-US" smtClean="0"/>
              <a:pPr/>
              <a:t>11/17/2021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A1AE99F8-5F0C-44F9-9C3A-143F2BF3CD1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45C4E516-C234-4628-AA51-69CFD7E3E42F}" type="datetimeFigureOut">
              <a:rPr lang="en-US" smtClean="0"/>
              <a:pPr/>
              <a:t>11/17/2021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A1AE99F8-5F0C-44F9-9C3A-143F2BF3CD12}" type="slidenum">
              <a:rPr lang="en-IN" smtClean="0"/>
              <a:pPr/>
              <a:t>‹#›</a:t>
            </a:fld>
            <a:endParaRPr lang="en-IN"/>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45C4E516-C234-4628-AA51-69CFD7E3E42F}" type="datetimeFigureOut">
              <a:rPr lang="en-US" smtClean="0"/>
              <a:pPr/>
              <a:t>11/17/2021</a:t>
            </a:fld>
            <a:endParaRPr lang="en-IN"/>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A1AE99F8-5F0C-44F9-9C3A-143F2BF3CD12}" type="slidenum">
              <a:rPr lang="en-IN" smtClean="0"/>
              <a:pPr/>
              <a:t>‹#›</a:t>
            </a:fld>
            <a:endParaRPr lang="en-IN"/>
          </a:p>
        </p:txBody>
      </p:sp>
      <p:sp>
        <p:nvSpPr>
          <p:cNvPr id="14" name="Footer Placeholder 13"/>
          <p:cNvSpPr>
            <a:spLocks noGrp="1"/>
          </p:cNvSpPr>
          <p:nvPr>
            <p:ph type="ftr" sz="quarter" idx="12"/>
          </p:nvPr>
        </p:nvSpPr>
        <p:spPr>
          <a:xfrm>
            <a:off x="1600200" y="6248206"/>
            <a:ext cx="4572000" cy="365125"/>
          </a:xfrm>
        </p:spPr>
        <p:txBody>
          <a:bodyPr rtlCol="0"/>
          <a:lstStyle/>
          <a:p>
            <a:endParaRPr lang="en-IN"/>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5C4E516-C234-4628-AA51-69CFD7E3E42F}" type="datetimeFigureOut">
              <a:rPr lang="en-US" smtClean="0"/>
              <a:pPr/>
              <a:t>11/17/2021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AE99F8-5F0C-44F9-9C3A-143F2BF3CD1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45C4E516-C234-4628-AA51-69CFD7E3E42F}" type="datetimeFigureOut">
              <a:rPr lang="en-US" smtClean="0"/>
              <a:pPr/>
              <a:t>11/17/2021</a:t>
            </a:fld>
            <a:endParaRPr lang="en-IN"/>
          </a:p>
        </p:txBody>
      </p:sp>
      <p:sp>
        <p:nvSpPr>
          <p:cNvPr id="5" name="Footer Placeholder 4"/>
          <p:cNvSpPr>
            <a:spLocks noGrp="1"/>
          </p:cNvSpPr>
          <p:nvPr>
            <p:ph type="ftr" sz="quarter" idx="11"/>
          </p:nvPr>
        </p:nvSpPr>
        <p:spPr>
          <a:xfrm>
            <a:off x="457201" y="6248207"/>
            <a:ext cx="5573483" cy="365125"/>
          </a:xfrm>
        </p:spPr>
        <p:txBody>
          <a:bodyPr/>
          <a:lstStyle/>
          <a:p>
            <a:endParaRPr lang="en-IN"/>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A1AE99F8-5F0C-44F9-9C3A-143F2BF3CD12}"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45C4E516-C234-4628-AA51-69CFD7E3E42F}" type="datetimeFigureOut">
              <a:rPr lang="en-US" smtClean="0"/>
              <a:pPr/>
              <a:t>11/17/2021</a:t>
            </a:fld>
            <a:endParaRPr lang="en-IN"/>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IN"/>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A1AE99F8-5F0C-44F9-9C3A-143F2BF3CD1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3.png"/><Relationship Id="rId4" Type="http://schemas.openxmlformats.org/officeDocument/2006/relationships/oleObject" Target="../embeddings/oleObject1.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priority.pdf"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selection.pdf"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jump.pdf" TargetMode="External"/><Relationship Id="rId4" Type="http://schemas.openxmlformats.org/officeDocument/2006/relationships/hyperlink" Target="iteration.pdf"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class1.pdf"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class3.pdf" TargetMode="External"/><Relationship Id="rId2" Type="http://schemas.openxmlformats.org/officeDocument/2006/relationships/hyperlink" Target="class2.pdf" TargetMode="External"/><Relationship Id="rId1" Type="http://schemas.openxmlformats.org/officeDocument/2006/relationships/slideLayout" Target="../slideLayouts/slideLayout2.xml"/><Relationship Id="rId4" Type="http://schemas.openxmlformats.org/officeDocument/2006/relationships/hyperlink" Target="class4.pdf"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constructor2.pdf" TargetMode="External"/><Relationship Id="rId2" Type="http://schemas.openxmlformats.org/officeDocument/2006/relationships/hyperlink" Target="constructor1.pdf"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IVhiding.pdf"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this.pdf"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constOver.pdf" TargetMode="External"/><Relationship Id="rId2" Type="http://schemas.openxmlformats.org/officeDocument/2006/relationships/hyperlink" Target="poly.pdf"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inner.pdf"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garbage.pdf"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static.pdf"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access.pdf"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array.pdf"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string.pdf"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vector.pdf"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hyperlink" Target="wrapper.pdf"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cmdline.pdf"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singleInherit.pdf" TargetMode="External"/><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png"/><Relationship Id="rId5" Type="http://schemas.openxmlformats.org/officeDocument/2006/relationships/oleObject" Target="../embeddings/oleObject3.bin"/><Relationship Id="rId10" Type="http://schemas.openxmlformats.org/officeDocument/2006/relationships/image" Target="../media/image17.png"/><Relationship Id="rId4" Type="http://schemas.openxmlformats.org/officeDocument/2006/relationships/hyperlink" Target="multilevelInherit.pdf" TargetMode="External"/><Relationship Id="rId9" Type="http://schemas.openxmlformats.org/officeDocument/2006/relationships/oleObject" Target="../embeddings/oleObject5.bin"/></Relationships>
</file>

<file path=ppt/slides/_rels/slide92.xml.rels><?xml version="1.0" encoding="UTF-8" standalone="yes"?>
<Relationships xmlns="http://schemas.openxmlformats.org/package/2006/relationships"><Relationship Id="rId3" Type="http://schemas.openxmlformats.org/officeDocument/2006/relationships/hyperlink" Target="super2.pdf" TargetMode="External"/><Relationship Id="rId2" Type="http://schemas.openxmlformats.org/officeDocument/2006/relationships/hyperlink" Target="super1.pdf"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hyperlink" Target="Overloading%20Vs%20Overriding.pdf" TargetMode="External"/><Relationship Id="rId2" Type="http://schemas.openxmlformats.org/officeDocument/2006/relationships/hyperlink" Target="overriding.pdf"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9.png"/><Relationship Id="rId5" Type="http://schemas.openxmlformats.org/officeDocument/2006/relationships/oleObject" Target="../embeddings/oleObject7.bin"/><Relationship Id="rId4" Type="http://schemas.openxmlformats.org/officeDocument/2006/relationships/image" Target="../media/image1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hyperlink" Target="Multiple_Inheritance.pdf"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2.xml.rels><?xml version="1.0" encoding="UTF-8" standalone="yes"?>
<Relationships xmlns="http://schemas.openxmlformats.org/package/2006/relationships"><Relationship Id="rId2" Type="http://schemas.openxmlformats.org/officeDocument/2006/relationships/hyperlink" Target="user_package.pdf"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TryCatch.pdf" TargetMode="Externa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1.png"/><Relationship Id="rId4" Type="http://schemas.openxmlformats.org/officeDocument/2006/relationships/oleObject" Target="../embeddings/oleObject9.bin"/></Relationships>
</file>

<file path=ppt/slides/_rels/slide108.xml.rels><?xml version="1.0" encoding="UTF-8" standalone="yes"?>
<Relationships xmlns="http://schemas.openxmlformats.org/package/2006/relationships"><Relationship Id="rId3" Type="http://schemas.openxmlformats.org/officeDocument/2006/relationships/hyperlink" Target="TryCatchMultiple.pdf" TargetMode="External"/><Relationship Id="rId2" Type="http://schemas.openxmlformats.org/officeDocument/2006/relationships/hyperlink" Target="TryCatchNested.pdf" TargetMode="External"/><Relationship Id="rId1" Type="http://schemas.openxmlformats.org/officeDocument/2006/relationships/slideLayout" Target="../slideLayouts/slideLayout2.xml"/><Relationship Id="rId4" Type="http://schemas.openxmlformats.org/officeDocument/2006/relationships/hyperlink" Target="TryCatchFinally.pdf" TargetMode="External"/></Relationships>
</file>

<file path=ppt/slides/_rels/slide109.xml.rels><?xml version="1.0" encoding="UTF-8" standalone="yes"?>
<Relationships xmlns="http://schemas.openxmlformats.org/package/2006/relationships"><Relationship Id="rId3" Type="http://schemas.openxmlformats.org/officeDocument/2006/relationships/hyperlink" Target="throws.pdf" TargetMode="External"/><Relationship Id="rId2" Type="http://schemas.openxmlformats.org/officeDocument/2006/relationships/hyperlink" Target="throw.pdf" TargetMode="Externa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ThreadExtend.pdf"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hyperlink" Target="ThreadImplement.pdf"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hyperlink" Target="ThreadPriority.pdf" TargetMode="Externa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hyperlink" Target="ThreadSynchronization.pdf" TargetMode="Externa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AppletLifeCycle.pdf"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hyperlink" Target="AppletParam.pdf" TargetMode="Externa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hyperlink" Target="AppletColor.pdf"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hyperlink" Target="AppletFont.pdf" TargetMode="Externa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9.png"/></Relationships>
</file>

<file path=ppt/slides/_rels/slide1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IN" dirty="0" smtClean="0"/>
              <a:t>Mr. Sachin </a:t>
            </a:r>
            <a:r>
              <a:rPr lang="en-IN" dirty="0" err="1" smtClean="0"/>
              <a:t>Bhopi</a:t>
            </a:r>
            <a:endParaRPr lang="en-IN" dirty="0" smtClean="0"/>
          </a:p>
        </p:txBody>
      </p:sp>
      <p:sp>
        <p:nvSpPr>
          <p:cNvPr id="2" name="Title 1"/>
          <p:cNvSpPr>
            <a:spLocks noGrp="1"/>
          </p:cNvSpPr>
          <p:nvPr>
            <p:ph type="ctrTitle"/>
          </p:nvPr>
        </p:nvSpPr>
        <p:spPr>
          <a:xfrm>
            <a:off x="0" y="0"/>
            <a:ext cx="9144000" cy="6000768"/>
          </a:xfrm>
        </p:spPr>
        <p:txBody>
          <a:bodyPr anchor="ctr">
            <a:normAutofit/>
          </a:bodyPr>
          <a:lstStyle/>
          <a:p>
            <a:pPr algn="ctr"/>
            <a:r>
              <a:rPr lang="en-IN" sz="9600" dirty="0" smtClean="0"/>
              <a:t>C</a:t>
            </a:r>
            <a:r>
              <a:rPr lang="en-IN" sz="9600" b="1" cap="none"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O</a:t>
            </a:r>
            <a:r>
              <a:rPr lang="en-IN" sz="9600" dirty="0" smtClean="0"/>
              <a:t>RE JAVA</a:t>
            </a:r>
            <a:endParaRPr lang="en-IN" sz="9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Autofit/>
          </a:bodyPr>
          <a:lstStyle/>
          <a:p>
            <a:pPr marL="514350" indent="-514350">
              <a:buSzPct val="100000"/>
              <a:buAutoNum type="arabicPeriod"/>
            </a:pPr>
            <a:r>
              <a:rPr lang="en-IN" sz="3200" dirty="0" smtClean="0"/>
              <a:t>Introduction to JAVA</a:t>
            </a:r>
          </a:p>
          <a:p>
            <a:pPr marL="514350" indent="-514350">
              <a:buSzPct val="100000"/>
              <a:buAutoNum type="arabicPeriod"/>
            </a:pPr>
            <a:r>
              <a:rPr lang="en-IN" sz="3200" dirty="0" smtClean="0"/>
              <a:t>Fundamentals of JAVA</a:t>
            </a:r>
          </a:p>
          <a:p>
            <a:pPr marL="514350" indent="-514350">
              <a:buSzPct val="100000"/>
              <a:buAutoNum type="arabicPeriod"/>
            </a:pPr>
            <a:r>
              <a:rPr lang="en-IN" sz="3200" dirty="0" smtClean="0"/>
              <a:t>Operators in JAVA</a:t>
            </a:r>
          </a:p>
          <a:p>
            <a:pPr marL="514350" indent="-514350">
              <a:buSzPct val="100000"/>
              <a:buAutoNum type="arabicPeriod"/>
            </a:pPr>
            <a:r>
              <a:rPr lang="en-IN" sz="3200" dirty="0" smtClean="0"/>
              <a:t>Branching Statement in JAVA</a:t>
            </a:r>
          </a:p>
        </p:txBody>
      </p:sp>
      <p:sp>
        <p:nvSpPr>
          <p:cNvPr id="3" name="Title 2"/>
          <p:cNvSpPr>
            <a:spLocks noGrp="1"/>
          </p:cNvSpPr>
          <p:nvPr>
            <p:ph type="title"/>
          </p:nvPr>
        </p:nvSpPr>
        <p:spPr/>
        <p:txBody>
          <a:bodyPr/>
          <a:lstStyle/>
          <a:p>
            <a:r>
              <a:rPr lang="en-IN" dirty="0" smtClean="0"/>
              <a:t>Chapter 1</a:t>
            </a:r>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 to JAVA</a:t>
            </a:r>
            <a:endParaRPr lang="en-IN" dirty="0"/>
          </a:p>
        </p:txBody>
      </p:sp>
      <p:sp>
        <p:nvSpPr>
          <p:cNvPr id="3" name="Content Placeholder 2"/>
          <p:cNvSpPr>
            <a:spLocks noGrp="1"/>
          </p:cNvSpPr>
          <p:nvPr>
            <p:ph sz="quarter" idx="1"/>
          </p:nvPr>
        </p:nvSpPr>
        <p:spPr/>
        <p:txBody>
          <a:bodyPr>
            <a:normAutofit/>
          </a:bodyPr>
          <a:lstStyle/>
          <a:p>
            <a:r>
              <a:rPr lang="en-IN" sz="3200" dirty="0" smtClean="0"/>
              <a:t>History</a:t>
            </a:r>
          </a:p>
          <a:p>
            <a:r>
              <a:rPr lang="en-IN" sz="3200" dirty="0" smtClean="0"/>
              <a:t>Features of Java</a:t>
            </a:r>
          </a:p>
          <a:p>
            <a:r>
              <a:rPr lang="en-IN" sz="3200" dirty="0" smtClean="0"/>
              <a:t>JVM</a:t>
            </a:r>
          </a:p>
          <a:p>
            <a:r>
              <a:rPr lang="en-IN" sz="3200" dirty="0" smtClean="0"/>
              <a:t>Java Program Types</a:t>
            </a:r>
          </a:p>
          <a:p>
            <a:r>
              <a:rPr lang="en-IN" sz="3200" dirty="0" smtClean="0"/>
              <a:t>Java Platforms</a:t>
            </a:r>
          </a:p>
          <a:p>
            <a:r>
              <a:rPr lang="en-IN" sz="3200" dirty="0" smtClean="0"/>
              <a:t>Simple java Program</a:t>
            </a:r>
          </a:p>
          <a:p>
            <a:r>
              <a:rPr lang="en-IN" sz="3200" dirty="0" smtClean="0"/>
              <a:t>Implementation of java program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History</a:t>
            </a:r>
            <a:endParaRPr lang="en-IN" dirty="0"/>
          </a:p>
        </p:txBody>
      </p:sp>
      <p:sp>
        <p:nvSpPr>
          <p:cNvPr id="3" name="Content Placeholder 2"/>
          <p:cNvSpPr>
            <a:spLocks noGrp="1"/>
          </p:cNvSpPr>
          <p:nvPr>
            <p:ph sz="quarter" idx="1"/>
          </p:nvPr>
        </p:nvSpPr>
        <p:spPr/>
        <p:txBody>
          <a:bodyPr>
            <a:normAutofit fontScale="25000" lnSpcReduction="20000"/>
          </a:bodyPr>
          <a:lstStyle/>
          <a:p>
            <a:r>
              <a:rPr lang="en-US" sz="8800" b="1" dirty="0" smtClean="0"/>
              <a:t>1991</a:t>
            </a:r>
            <a:r>
              <a:rPr lang="en-US" sz="8800" dirty="0" smtClean="0"/>
              <a:t> James Gosling at Sun creates Java Language</a:t>
            </a:r>
          </a:p>
          <a:p>
            <a:pPr lvl="1"/>
            <a:r>
              <a:rPr lang="en-US" sz="8800" dirty="0" smtClean="0"/>
              <a:t>Targeted at Consumer electronics  - Cable top box, VCR, TV etc.</a:t>
            </a:r>
          </a:p>
          <a:p>
            <a:pPr lvl="1"/>
            <a:r>
              <a:rPr lang="en-US" sz="8800" dirty="0" smtClean="0"/>
              <a:t>Goal was reliability not speed</a:t>
            </a:r>
          </a:p>
          <a:p>
            <a:r>
              <a:rPr lang="en-US" sz="8800" b="1" dirty="0" smtClean="0"/>
              <a:t>1994</a:t>
            </a:r>
            <a:r>
              <a:rPr lang="en-US" sz="8800" dirty="0" smtClean="0"/>
              <a:t> Hot Java Web Brower written (in Java)</a:t>
            </a:r>
          </a:p>
          <a:p>
            <a:pPr lvl="1"/>
            <a:r>
              <a:rPr lang="en-US" sz="8800" dirty="0" smtClean="0"/>
              <a:t>Supports Applet – Downloadable programs that run inside web browser</a:t>
            </a:r>
          </a:p>
          <a:p>
            <a:pPr lvl="1"/>
            <a:r>
              <a:rPr lang="en-IN" sz="8800" dirty="0" smtClean="0"/>
              <a:t>Java Licensed by Netscape, Oracle, Microsoft and many others</a:t>
            </a:r>
          </a:p>
          <a:p>
            <a:pPr lvl="2"/>
            <a:r>
              <a:rPr lang="en-IN" sz="8800" dirty="0" smtClean="0"/>
              <a:t>Huge hype surrounding “Web Programming Language”</a:t>
            </a:r>
          </a:p>
          <a:p>
            <a:r>
              <a:rPr lang="en-IN" sz="8800" b="1" dirty="0" smtClean="0"/>
              <a:t>1997</a:t>
            </a:r>
            <a:r>
              <a:rPr lang="en-IN" sz="8800" dirty="0" smtClean="0"/>
              <a:t> Java 1.1 released with many standard libraries</a:t>
            </a:r>
          </a:p>
          <a:p>
            <a:pPr lvl="1"/>
            <a:r>
              <a:rPr lang="en-IN" sz="8800" dirty="0" smtClean="0"/>
              <a:t>Sun’s mantra becomes “</a:t>
            </a:r>
            <a:r>
              <a:rPr lang="en-IN" sz="8800" b="1" u="sng" dirty="0" smtClean="0"/>
              <a:t>W</a:t>
            </a:r>
            <a:r>
              <a:rPr lang="en-IN" sz="8800" dirty="0" smtClean="0"/>
              <a:t>rite </a:t>
            </a:r>
            <a:r>
              <a:rPr lang="en-IN" sz="8800" b="1" u="sng" dirty="0" smtClean="0"/>
              <a:t>O</a:t>
            </a:r>
            <a:r>
              <a:rPr lang="en-IN" sz="8800" dirty="0" smtClean="0"/>
              <a:t>nce </a:t>
            </a:r>
            <a:r>
              <a:rPr lang="en-IN" sz="8800" b="1" u="sng" dirty="0" smtClean="0"/>
              <a:t>R</a:t>
            </a:r>
            <a:r>
              <a:rPr lang="en-IN" sz="8800" dirty="0" smtClean="0"/>
              <a:t>un </a:t>
            </a:r>
            <a:r>
              <a:rPr lang="en-IN" sz="8800" b="1" u="sng" dirty="0" smtClean="0"/>
              <a:t>A</a:t>
            </a:r>
            <a:r>
              <a:rPr lang="en-IN" sz="8800" dirty="0" smtClean="0"/>
              <a:t>nywhere”</a:t>
            </a:r>
          </a:p>
          <a:p>
            <a:pPr lvl="1"/>
            <a:r>
              <a:rPr lang="en-IN" sz="8800" dirty="0" smtClean="0"/>
              <a:t>Enthusiastically supported by all major hardware and many software vendor</a:t>
            </a:r>
          </a:p>
          <a:p>
            <a:r>
              <a:rPr lang="en-IN" sz="8800" b="1" dirty="0" smtClean="0"/>
              <a:t>1998</a:t>
            </a:r>
            <a:r>
              <a:rPr lang="en-IN" sz="8800" dirty="0" smtClean="0"/>
              <a:t> Java 2 released, even more standard libraries</a:t>
            </a:r>
          </a:p>
          <a:p>
            <a:pPr lvl="1"/>
            <a:r>
              <a:rPr lang="en-IN" sz="8800" dirty="0" smtClean="0"/>
              <a:t>Now truly general purpose language</a:t>
            </a:r>
          </a:p>
          <a:p>
            <a:pPr lvl="1"/>
            <a:endParaRPr lang="en-IN" dirty="0"/>
          </a:p>
        </p:txBody>
      </p:sp>
      <p:pic>
        <p:nvPicPr>
          <p:cNvPr id="1028" name="Picture 4" descr="Image result for patrick naughton java"/>
          <p:cNvPicPr>
            <a:picLocks noChangeAspect="1" noChangeArrowheads="1"/>
          </p:cNvPicPr>
          <p:nvPr/>
        </p:nvPicPr>
        <p:blipFill>
          <a:blip r:embed="rId2"/>
          <a:srcRect/>
          <a:stretch>
            <a:fillRect/>
          </a:stretch>
        </p:blipFill>
        <p:spPr bwMode="auto">
          <a:xfrm>
            <a:off x="3357554" y="0"/>
            <a:ext cx="5786446" cy="1500198"/>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Features of Java</a:t>
            </a:r>
            <a:endParaRPr lang="en-IN" dirty="0"/>
          </a:p>
        </p:txBody>
      </p:sp>
      <p:pic>
        <p:nvPicPr>
          <p:cNvPr id="17410" name="Picture 2" descr="Java Features"/>
          <p:cNvPicPr>
            <a:picLocks noChangeAspect="1" noChangeArrowheads="1"/>
          </p:cNvPicPr>
          <p:nvPr/>
        </p:nvPicPr>
        <p:blipFill>
          <a:blip r:embed="rId2"/>
          <a:srcRect/>
          <a:stretch>
            <a:fillRect/>
          </a:stretch>
        </p:blipFill>
        <p:spPr bwMode="auto">
          <a:xfrm>
            <a:off x="1000100" y="1714487"/>
            <a:ext cx="7104864" cy="4990189"/>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Simple</a:t>
            </a:r>
          </a:p>
          <a:p>
            <a:pPr lvl="1"/>
            <a:r>
              <a:rPr lang="en-IN" sz="2200" dirty="0" smtClean="0"/>
              <a:t>Syntax is based on C++ (so easier for programmers to learn it after C++)</a:t>
            </a:r>
          </a:p>
          <a:p>
            <a:pPr lvl="1"/>
            <a:r>
              <a:rPr lang="en-IN" sz="2200" dirty="0" smtClean="0"/>
              <a:t>Removed many confusing and/or rarely-used features</a:t>
            </a:r>
          </a:p>
          <a:p>
            <a:pPr lvl="2"/>
            <a:r>
              <a:rPr lang="en-IN" sz="2200" dirty="0" smtClean="0"/>
              <a:t>Operator overloading, Multiple Inheritance etc.</a:t>
            </a:r>
          </a:p>
          <a:p>
            <a:pPr lvl="1"/>
            <a:r>
              <a:rPr lang="en-IN" sz="2200" dirty="0" smtClean="0"/>
              <a:t>No Pointers</a:t>
            </a:r>
          </a:p>
          <a:p>
            <a:pPr lvl="1"/>
            <a:r>
              <a:rPr lang="en-IN" sz="2200" dirty="0" smtClean="0"/>
              <a:t> Automatic Garbage collection to unreferenced objects.</a:t>
            </a:r>
          </a:p>
          <a:p>
            <a:pPr lvl="1">
              <a:buNone/>
            </a:pPr>
            <a:endParaRPr lang="en-IN" sz="22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Object Oriented</a:t>
            </a:r>
          </a:p>
          <a:p>
            <a:pPr lvl="1"/>
            <a:r>
              <a:rPr lang="en-IN" sz="2200" dirty="0" smtClean="0"/>
              <a:t>Means that you focus on the </a:t>
            </a:r>
            <a:r>
              <a:rPr lang="en-IN" sz="2200" i="1" dirty="0" smtClean="0"/>
              <a:t>data</a:t>
            </a:r>
            <a:r>
              <a:rPr lang="en-IN" sz="2200" dirty="0" smtClean="0"/>
              <a:t> in your application and </a:t>
            </a:r>
            <a:r>
              <a:rPr lang="en-IN" sz="2200" i="1" dirty="0" smtClean="0"/>
              <a:t>methods</a:t>
            </a:r>
            <a:r>
              <a:rPr lang="en-IN" sz="2200" dirty="0" smtClean="0"/>
              <a:t> that manipulate that data, rather than thinking strictly in terms of procedures.</a:t>
            </a:r>
          </a:p>
          <a:p>
            <a:pPr lvl="1"/>
            <a:r>
              <a:rPr lang="en-IN" sz="2200" dirty="0" smtClean="0"/>
              <a:t>In an object-oriented system, </a:t>
            </a:r>
          </a:p>
          <a:p>
            <a:pPr lvl="2"/>
            <a:r>
              <a:rPr lang="en-IN" sz="2200" dirty="0" smtClean="0"/>
              <a:t>A </a:t>
            </a:r>
            <a:r>
              <a:rPr lang="en-IN" sz="2200" i="1" dirty="0" smtClean="0"/>
              <a:t>class</a:t>
            </a:r>
            <a:r>
              <a:rPr lang="en-IN" sz="2200" dirty="0" smtClean="0"/>
              <a:t> is a collection of data and methods that operate on that data. </a:t>
            </a:r>
          </a:p>
          <a:p>
            <a:pPr lvl="2"/>
            <a:r>
              <a:rPr lang="en-IN" sz="2200" dirty="0" smtClean="0"/>
              <a:t>The data and methods describe the state and </a:t>
            </a:r>
            <a:r>
              <a:rPr lang="en-IN" sz="2200" dirty="0" err="1" smtClean="0"/>
              <a:t>behavior</a:t>
            </a:r>
            <a:r>
              <a:rPr lang="en-IN" sz="2200" dirty="0" smtClean="0"/>
              <a:t> of an </a:t>
            </a:r>
            <a:r>
              <a:rPr lang="en-IN" sz="2200" i="1" dirty="0" smtClean="0"/>
              <a:t>object</a:t>
            </a:r>
            <a:r>
              <a:rPr lang="en-IN" sz="2200" dirty="0" smtClean="0"/>
              <a:t>.</a:t>
            </a:r>
            <a:endParaRPr lang="en-IN" sz="2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Features of Java</a:t>
            </a:r>
            <a:endParaRPr lang="en-IN" dirty="0"/>
          </a:p>
        </p:txBody>
      </p:sp>
      <p:sp>
        <p:nvSpPr>
          <p:cNvPr id="3" name="Content Placeholder 2"/>
          <p:cNvSpPr>
            <a:spLocks noGrp="1"/>
          </p:cNvSpPr>
          <p:nvPr>
            <p:ph sz="quarter" idx="1"/>
          </p:nvPr>
        </p:nvSpPr>
        <p:spPr>
          <a:xfrm>
            <a:off x="612648" y="1600200"/>
            <a:ext cx="5245236" cy="4495800"/>
          </a:xfrm>
        </p:spPr>
        <p:txBody>
          <a:bodyPr>
            <a:normAutofit/>
          </a:bodyPr>
          <a:lstStyle/>
          <a:p>
            <a:r>
              <a:rPr lang="en-IN" sz="2200" b="1" dirty="0" smtClean="0"/>
              <a:t>Platform Independent</a:t>
            </a:r>
          </a:p>
          <a:p>
            <a:pPr lvl="1"/>
            <a:r>
              <a:rPr lang="en-IN" sz="2200" dirty="0" smtClean="0"/>
              <a:t>Java code can be run on multiple platforms </a:t>
            </a:r>
          </a:p>
          <a:p>
            <a:pPr lvl="2"/>
            <a:r>
              <a:rPr lang="en-IN" sz="2200" dirty="0" smtClean="0"/>
              <a:t>e.g. Windows, Linux, Sun Solaris, Mac/OS etc. </a:t>
            </a:r>
          </a:p>
          <a:p>
            <a:pPr lvl="1"/>
            <a:r>
              <a:rPr lang="en-IN" sz="2200" dirty="0" smtClean="0"/>
              <a:t>Java code is compiled by the compiler and converted into </a:t>
            </a:r>
            <a:r>
              <a:rPr lang="en-IN" sz="2200" dirty="0" err="1" smtClean="0"/>
              <a:t>bytecode</a:t>
            </a:r>
            <a:r>
              <a:rPr lang="en-IN" sz="2200" dirty="0" smtClean="0"/>
              <a:t>. </a:t>
            </a:r>
          </a:p>
          <a:p>
            <a:pPr lvl="1"/>
            <a:r>
              <a:rPr lang="en-IN" sz="2200" dirty="0" smtClean="0"/>
              <a:t>This </a:t>
            </a:r>
            <a:r>
              <a:rPr lang="en-IN" sz="2200" dirty="0" err="1" smtClean="0"/>
              <a:t>bytecode</a:t>
            </a:r>
            <a:r>
              <a:rPr lang="en-IN" sz="2200" dirty="0" smtClean="0"/>
              <a:t> is a platform-independent code because it can be run on multiple platforms i.e. Write Once and Run Anywhere(WORA).</a:t>
            </a:r>
          </a:p>
        </p:txBody>
      </p:sp>
      <p:pic>
        <p:nvPicPr>
          <p:cNvPr id="18434" name="Picture 2" descr="java is platform independent"/>
          <p:cNvPicPr>
            <a:picLocks noChangeAspect="1" noChangeArrowheads="1"/>
          </p:cNvPicPr>
          <p:nvPr/>
        </p:nvPicPr>
        <p:blipFill>
          <a:blip r:embed="rId2"/>
          <a:srcRect/>
          <a:stretch>
            <a:fillRect/>
          </a:stretch>
        </p:blipFill>
        <p:spPr bwMode="auto">
          <a:xfrm>
            <a:off x="5857884" y="2138387"/>
            <a:ext cx="3143271" cy="3675429"/>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Features of Java</a:t>
            </a:r>
            <a:endParaRPr lang="en-IN" dirty="0"/>
          </a:p>
        </p:txBody>
      </p:sp>
      <p:sp>
        <p:nvSpPr>
          <p:cNvPr id="3" name="Content Placeholder 2"/>
          <p:cNvSpPr>
            <a:spLocks noGrp="1"/>
          </p:cNvSpPr>
          <p:nvPr>
            <p:ph sz="quarter" idx="1"/>
          </p:nvPr>
        </p:nvSpPr>
        <p:spPr>
          <a:xfrm>
            <a:off x="612648" y="1600200"/>
            <a:ext cx="5245236" cy="4495800"/>
          </a:xfrm>
        </p:spPr>
        <p:txBody>
          <a:bodyPr>
            <a:normAutofit/>
          </a:bodyPr>
          <a:lstStyle/>
          <a:p>
            <a:r>
              <a:rPr lang="en-IN" sz="2200" b="1" dirty="0" smtClean="0"/>
              <a:t>Secured </a:t>
            </a:r>
          </a:p>
          <a:p>
            <a:pPr lvl="1"/>
            <a:r>
              <a:rPr lang="en-IN" sz="2200" dirty="0" smtClean="0"/>
              <a:t>No explicit pointer </a:t>
            </a:r>
          </a:p>
          <a:p>
            <a:pPr lvl="1"/>
            <a:r>
              <a:rPr lang="en-IN" sz="2200" dirty="0" smtClean="0"/>
              <a:t>Access restrictions are enforced.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Robust</a:t>
            </a:r>
          </a:p>
          <a:p>
            <a:pPr lvl="1"/>
            <a:r>
              <a:rPr lang="en-IN" sz="2200" dirty="0" smtClean="0"/>
              <a:t>Robust simply means strong</a:t>
            </a:r>
          </a:p>
          <a:p>
            <a:pPr lvl="1"/>
            <a:r>
              <a:rPr lang="en-IN" sz="2200" dirty="0" smtClean="0"/>
              <a:t>Lack of pointers avoids:</a:t>
            </a:r>
          </a:p>
          <a:p>
            <a:pPr lvl="2"/>
            <a:r>
              <a:rPr lang="en-IN" sz="2200" dirty="0" smtClean="0"/>
              <a:t>Security problem</a:t>
            </a:r>
          </a:p>
          <a:p>
            <a:pPr lvl="2"/>
            <a:r>
              <a:rPr lang="en-IN" sz="2200" dirty="0" smtClean="0"/>
              <a:t>Overriding Memory and Corrupt data</a:t>
            </a:r>
          </a:p>
          <a:p>
            <a:pPr lvl="1"/>
            <a:r>
              <a:rPr lang="en-IN" sz="2200" dirty="0" smtClean="0"/>
              <a:t>Automatic garbage collection to prevent memory leaks.</a:t>
            </a:r>
          </a:p>
          <a:p>
            <a:pPr lvl="1"/>
            <a:r>
              <a:rPr lang="en-IN" sz="2200" dirty="0" smtClean="0"/>
              <a:t>Exception handling and type checking mechanism in java.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Portable</a:t>
            </a:r>
          </a:p>
          <a:p>
            <a:pPr lvl="1"/>
            <a:r>
              <a:rPr lang="en-IN" sz="2200" dirty="0" smtClean="0"/>
              <a:t>We may carry the java </a:t>
            </a:r>
            <a:r>
              <a:rPr lang="en-IN" sz="2200" dirty="0" err="1" smtClean="0"/>
              <a:t>bytecode</a:t>
            </a:r>
            <a:r>
              <a:rPr lang="en-IN" sz="2200" dirty="0" smtClean="0"/>
              <a:t> to any platform.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Architecture Neutral</a:t>
            </a:r>
          </a:p>
          <a:p>
            <a:pPr lvl="1"/>
            <a:r>
              <a:rPr lang="en-IN" sz="2200" dirty="0" smtClean="0"/>
              <a:t> Compiler generates </a:t>
            </a:r>
            <a:r>
              <a:rPr lang="en-IN" sz="2200" dirty="0" err="1" smtClean="0"/>
              <a:t>bytecodes</a:t>
            </a:r>
            <a:r>
              <a:rPr lang="en-IN" sz="2200" dirty="0" smtClean="0"/>
              <a:t>, which have nothing to do with a particular computer architecture</a:t>
            </a:r>
          </a:p>
          <a:p>
            <a:pPr lvl="1"/>
            <a:r>
              <a:rPr lang="en-IN" sz="2200" dirty="0" smtClean="0"/>
              <a:t> Easy to interpret on any machine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High Performance</a:t>
            </a:r>
          </a:p>
          <a:p>
            <a:pPr lvl="1"/>
            <a:r>
              <a:rPr lang="en-IN" sz="2200" dirty="0" smtClean="0"/>
              <a:t>Java is an interpreted language, so it will never be as fast as a compiled language as C or C++. </a:t>
            </a:r>
          </a:p>
          <a:p>
            <a:pPr lvl="1"/>
            <a:r>
              <a:rPr lang="en-IN" sz="2200" dirty="0" smtClean="0"/>
              <a:t>In fact, it is about 20 times as slow as C. However, this speed is more than enough to run interactive, GUI and network-based applications, where the application is often idle, waiting for the user to do something, or waiting for data from the network.</a:t>
            </a:r>
            <a:endParaRPr lang="en-IN" sz="2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Multithreaded</a:t>
            </a:r>
          </a:p>
          <a:p>
            <a:pPr lvl="1"/>
            <a:r>
              <a:rPr lang="en-IN" sz="2200" dirty="0" smtClean="0"/>
              <a:t>Java allows multiple concurrent threads of execution to be active at once. </a:t>
            </a:r>
          </a:p>
          <a:p>
            <a:pPr lvl="1"/>
            <a:r>
              <a:rPr lang="en-IN" sz="2200" dirty="0" smtClean="0"/>
              <a:t>This means that you could be listening to an audio clip while scrolling the page and in the background downloading an image.</a:t>
            </a:r>
            <a:endParaRPr lang="en-IN" sz="2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Dynamic</a:t>
            </a:r>
          </a:p>
          <a:p>
            <a:pPr lvl="1"/>
            <a:r>
              <a:rPr lang="en-IN" sz="2200" dirty="0" smtClean="0"/>
              <a:t>It supports Dynamic memory allocation due to this memory wastage is reduce and improve performance of the application. </a:t>
            </a:r>
          </a:p>
          <a:p>
            <a:pPr lvl="1"/>
            <a:r>
              <a:rPr lang="en-IN" sz="2200" dirty="0" smtClean="0"/>
              <a:t>The process of allocating the memory space to the input of the program at a run-time is known as dynamic memory allocation.</a:t>
            </a:r>
          </a:p>
          <a:p>
            <a:pPr lvl="1"/>
            <a:r>
              <a:rPr lang="en-IN" sz="2200" dirty="0" smtClean="0"/>
              <a:t>To programming to allocate memory space by dynamically we use an operator called 'new' 'new' operator is known as dynamic memory allocation operator.</a:t>
            </a:r>
            <a:endParaRPr lang="en-IN" sz="22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b="1" dirty="0" smtClean="0"/>
              <a:t>Interpreted</a:t>
            </a:r>
          </a:p>
          <a:p>
            <a:pPr lvl="1"/>
            <a:r>
              <a:rPr lang="en-IN" sz="2200" dirty="0" smtClean="0"/>
              <a:t>The Java compiler generates </a:t>
            </a:r>
            <a:r>
              <a:rPr lang="en-IN" sz="2200" i="1" dirty="0" smtClean="0"/>
              <a:t>byte-codes</a:t>
            </a:r>
            <a:r>
              <a:rPr lang="en-IN" sz="2200" dirty="0" smtClean="0"/>
              <a:t>, rather than native machine code. </a:t>
            </a:r>
          </a:p>
          <a:p>
            <a:pPr lvl="1"/>
            <a:r>
              <a:rPr lang="en-IN" sz="2200" dirty="0" smtClean="0"/>
              <a:t>To actually run a Java program, you use the Java interpreter to execute the compiled byte-codes.</a:t>
            </a:r>
          </a:p>
          <a:p>
            <a:pPr lvl="2"/>
            <a:r>
              <a:rPr lang="en-IN" sz="2200" dirty="0" smtClean="0"/>
              <a:t>Java Sample</a:t>
            </a:r>
          </a:p>
          <a:p>
            <a:pPr lvl="1"/>
            <a:r>
              <a:rPr lang="en-IN" sz="2200" dirty="0" smtClean="0"/>
              <a:t>The code is designed to transport programs efficiently to multiple platforms.</a:t>
            </a:r>
          </a:p>
          <a:p>
            <a:pPr lvl="2"/>
            <a:r>
              <a:rPr lang="en-IN" sz="2200" dirty="0" smtClean="0"/>
              <a:t>Rapid turn-around development</a:t>
            </a:r>
          </a:p>
          <a:p>
            <a:pPr lvl="2"/>
            <a:r>
              <a:rPr lang="en-IN" sz="2200" dirty="0" smtClean="0"/>
              <a:t>Software author is protected, since binary byte streams are downloaded and not the source code</a:t>
            </a:r>
            <a:endParaRPr lang="en-IN" sz="2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Features of Java</a:t>
            </a:r>
            <a:endParaRPr lang="en-IN" dirty="0"/>
          </a:p>
        </p:txBody>
      </p:sp>
      <p:sp>
        <p:nvSpPr>
          <p:cNvPr id="3" name="Content Placeholder 2"/>
          <p:cNvSpPr>
            <a:spLocks noGrp="1"/>
          </p:cNvSpPr>
          <p:nvPr>
            <p:ph sz="quarter" idx="1"/>
          </p:nvPr>
        </p:nvSpPr>
        <p:spPr/>
        <p:txBody>
          <a:bodyPr>
            <a:normAutofit/>
          </a:bodyPr>
          <a:lstStyle/>
          <a:p>
            <a:r>
              <a:rPr lang="en-IN" sz="2200" dirty="0" smtClean="0"/>
              <a:t>Distributed</a:t>
            </a:r>
            <a:endParaRPr lang="en-IN" sz="2200" b="1" dirty="0" smtClean="0"/>
          </a:p>
          <a:p>
            <a:pPr lvl="1"/>
            <a:r>
              <a:rPr lang="en-IN" sz="2200" dirty="0" smtClean="0"/>
              <a:t>We can create distributed applications in java. </a:t>
            </a:r>
          </a:p>
          <a:p>
            <a:pPr lvl="1"/>
            <a:r>
              <a:rPr lang="en-IN" sz="2200" dirty="0" smtClean="0"/>
              <a:t>RMI and EJB are used for creating distributed applications. We may access files by calling the methods from any machine on the internet.</a:t>
            </a:r>
            <a:endParaRPr lang="en-IN" sz="22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Virtual Machine (JVM)</a:t>
            </a:r>
            <a:endParaRPr lang="en-IN" dirty="0"/>
          </a:p>
        </p:txBody>
      </p:sp>
      <p:pic>
        <p:nvPicPr>
          <p:cNvPr id="4" name="Content Placeholder 3"/>
          <p:cNvPicPr>
            <a:picLocks noGrp="1"/>
          </p:cNvPicPr>
          <p:nvPr>
            <p:ph sz="quarter" idx="1"/>
          </p:nvPr>
        </p:nvPicPr>
        <p:blipFill>
          <a:blip r:embed="rId2"/>
          <a:srcRect/>
          <a:stretch>
            <a:fillRect/>
          </a:stretch>
        </p:blipFill>
        <p:spPr bwMode="auto">
          <a:xfrm>
            <a:off x="571472" y="2000240"/>
            <a:ext cx="7429552" cy="2071702"/>
          </a:xfrm>
          <a:prstGeom prst="rect">
            <a:avLst/>
          </a:prstGeom>
          <a:noFill/>
          <a:ln w="9525">
            <a:noFill/>
            <a:miter lim="800000"/>
            <a:headEnd/>
            <a:tailEnd/>
          </a:ln>
        </p:spPr>
      </p:pic>
      <p:pic>
        <p:nvPicPr>
          <p:cNvPr id="5" name="Picture 4"/>
          <p:cNvPicPr/>
          <p:nvPr/>
        </p:nvPicPr>
        <p:blipFill>
          <a:blip r:embed="rId3"/>
          <a:srcRect/>
          <a:stretch>
            <a:fillRect/>
          </a:stretch>
        </p:blipFill>
        <p:spPr bwMode="auto">
          <a:xfrm>
            <a:off x="642910" y="4143380"/>
            <a:ext cx="7500990" cy="2143140"/>
          </a:xfrm>
          <a:prstGeom prst="rect">
            <a:avLst/>
          </a:prstGeom>
          <a:noFill/>
          <a:ln w="9525">
            <a:noFill/>
            <a:miter lim="800000"/>
            <a:headEnd/>
            <a:tailEnd/>
          </a:ln>
        </p:spPr>
      </p:pic>
      <p:sp>
        <p:nvSpPr>
          <p:cNvPr id="6" name="TextBox 5"/>
          <p:cNvSpPr txBox="1"/>
          <p:nvPr/>
        </p:nvSpPr>
        <p:spPr>
          <a:xfrm>
            <a:off x="785786" y="1643050"/>
            <a:ext cx="1571636" cy="369332"/>
          </a:xfrm>
          <a:prstGeom prst="rect">
            <a:avLst/>
          </a:prstGeom>
          <a:noFill/>
        </p:spPr>
        <p:txBody>
          <a:bodyPr wrap="square" rtlCol="0">
            <a:spAutoFit/>
          </a:bodyPr>
          <a:lstStyle/>
          <a:p>
            <a:r>
              <a:rPr lang="en-IN" b="1" dirty="0" smtClean="0">
                <a:solidFill>
                  <a:srgbClr val="FF0000"/>
                </a:solidFill>
                <a:latin typeface="Times New Roman" pitchFamily="18" charset="0"/>
                <a:cs typeface="Times New Roman" pitchFamily="18" charset="0"/>
              </a:rPr>
              <a:t>Sample.java</a:t>
            </a:r>
            <a:endParaRPr lang="en-IN" b="1" dirty="0">
              <a:solidFill>
                <a:srgbClr val="FF0000"/>
              </a:solidFill>
              <a:latin typeface="Times New Roman" pitchFamily="18" charset="0"/>
              <a:cs typeface="Times New Roman" pitchFamily="18" charset="0"/>
            </a:endParaRPr>
          </a:p>
        </p:txBody>
      </p:sp>
      <p:sp>
        <p:nvSpPr>
          <p:cNvPr id="7" name="TextBox 6"/>
          <p:cNvSpPr txBox="1"/>
          <p:nvPr/>
        </p:nvSpPr>
        <p:spPr>
          <a:xfrm>
            <a:off x="3286116" y="1643050"/>
            <a:ext cx="2071702" cy="369332"/>
          </a:xfrm>
          <a:prstGeom prst="rect">
            <a:avLst/>
          </a:prstGeom>
          <a:noFill/>
        </p:spPr>
        <p:txBody>
          <a:bodyPr wrap="square" rtlCol="0">
            <a:spAutoFit/>
          </a:bodyPr>
          <a:lstStyle/>
          <a:p>
            <a:r>
              <a:rPr lang="en-IN" b="1" dirty="0" err="1" smtClean="0">
                <a:solidFill>
                  <a:srgbClr val="FF0000"/>
                </a:solidFill>
                <a:latin typeface="Times New Roman" pitchFamily="18" charset="0"/>
                <a:cs typeface="Times New Roman" pitchFamily="18" charset="0"/>
              </a:rPr>
              <a:t>javac</a:t>
            </a:r>
            <a:r>
              <a:rPr lang="en-IN" b="1" dirty="0" smtClean="0">
                <a:solidFill>
                  <a:srgbClr val="FF0000"/>
                </a:solidFill>
                <a:latin typeface="Times New Roman" pitchFamily="18" charset="0"/>
                <a:cs typeface="Times New Roman" pitchFamily="18" charset="0"/>
              </a:rPr>
              <a:t>  Sample.java</a:t>
            </a:r>
            <a:endParaRPr lang="en-IN" b="1" dirty="0">
              <a:solidFill>
                <a:srgbClr val="FF0000"/>
              </a:solidFill>
              <a:latin typeface="Times New Roman" pitchFamily="18" charset="0"/>
              <a:cs typeface="Times New Roman" pitchFamily="18" charset="0"/>
            </a:endParaRPr>
          </a:p>
        </p:txBody>
      </p:sp>
      <p:sp>
        <p:nvSpPr>
          <p:cNvPr id="8" name="TextBox 7"/>
          <p:cNvSpPr txBox="1"/>
          <p:nvPr/>
        </p:nvSpPr>
        <p:spPr>
          <a:xfrm>
            <a:off x="6072198" y="1643050"/>
            <a:ext cx="1857388" cy="369332"/>
          </a:xfrm>
          <a:prstGeom prst="rect">
            <a:avLst/>
          </a:prstGeom>
          <a:noFill/>
        </p:spPr>
        <p:txBody>
          <a:bodyPr wrap="square" rtlCol="0">
            <a:spAutoFit/>
          </a:bodyPr>
          <a:lstStyle/>
          <a:p>
            <a:r>
              <a:rPr lang="en-IN" b="1" dirty="0" err="1" smtClean="0">
                <a:solidFill>
                  <a:srgbClr val="FF0000"/>
                </a:solidFill>
                <a:latin typeface="Times New Roman" pitchFamily="18" charset="0"/>
                <a:cs typeface="Times New Roman" pitchFamily="18" charset="0"/>
              </a:rPr>
              <a:t>Sample.class</a:t>
            </a:r>
            <a:endParaRPr lang="en-IN" b="1" dirty="0">
              <a:solidFill>
                <a:srgbClr val="FF0000"/>
              </a:solidFill>
              <a:latin typeface="Times New Roman" pitchFamily="18" charset="0"/>
              <a:cs typeface="Times New Roman" pitchFamily="18" charset="0"/>
            </a:endParaRPr>
          </a:p>
        </p:txBody>
      </p:sp>
      <p:sp>
        <p:nvSpPr>
          <p:cNvPr id="9" name="TextBox 8"/>
          <p:cNvSpPr txBox="1"/>
          <p:nvPr/>
        </p:nvSpPr>
        <p:spPr>
          <a:xfrm>
            <a:off x="3571868" y="5072074"/>
            <a:ext cx="1571636" cy="369332"/>
          </a:xfrm>
          <a:prstGeom prst="rect">
            <a:avLst/>
          </a:prstGeom>
          <a:noFill/>
        </p:spPr>
        <p:txBody>
          <a:bodyPr wrap="square" rtlCol="0">
            <a:spAutoFit/>
          </a:bodyPr>
          <a:lstStyle/>
          <a:p>
            <a:r>
              <a:rPr lang="en-IN" b="1" dirty="0" smtClean="0">
                <a:solidFill>
                  <a:srgbClr val="FF0000"/>
                </a:solidFill>
                <a:latin typeface="Times New Roman" pitchFamily="18" charset="0"/>
                <a:cs typeface="Times New Roman" pitchFamily="18" charset="0"/>
              </a:rPr>
              <a:t>java  Sample</a:t>
            </a:r>
            <a:endParaRPr lang="en-IN" b="1"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Program Types</a:t>
            </a:r>
            <a:endParaRPr lang="en-IN" dirty="0"/>
          </a:p>
        </p:txBody>
      </p:sp>
      <p:sp>
        <p:nvSpPr>
          <p:cNvPr id="13" name="Content Placeholder 12"/>
          <p:cNvSpPr>
            <a:spLocks noGrp="1"/>
          </p:cNvSpPr>
          <p:nvPr>
            <p:ph sz="quarter" idx="1"/>
          </p:nvPr>
        </p:nvSpPr>
        <p:spPr/>
        <p:txBody>
          <a:bodyPr>
            <a:normAutofit/>
          </a:bodyPr>
          <a:lstStyle/>
          <a:p>
            <a:r>
              <a:rPr lang="en-IN" sz="2200" b="1" dirty="0" smtClean="0"/>
              <a:t>Standalone Application</a:t>
            </a:r>
          </a:p>
          <a:p>
            <a:r>
              <a:rPr lang="en-IN" sz="2200" b="1" dirty="0" smtClean="0"/>
              <a:t>Web Applets</a:t>
            </a:r>
            <a:endParaRPr lang="en-IN" sz="2200" b="1" dirty="0"/>
          </a:p>
        </p:txBody>
      </p:sp>
      <p:pic>
        <p:nvPicPr>
          <p:cNvPr id="10" name="Picture 9" descr="http://ecomputernotes.com/images/Compilation-and-Interpretation-of-Stand-alone-application-and-Java-applets.jpg"/>
          <p:cNvPicPr/>
          <p:nvPr/>
        </p:nvPicPr>
        <p:blipFill>
          <a:blip r:embed="rId2"/>
          <a:srcRect/>
          <a:stretch>
            <a:fillRect/>
          </a:stretch>
        </p:blipFill>
        <p:spPr bwMode="auto">
          <a:xfrm>
            <a:off x="714348" y="2674779"/>
            <a:ext cx="7116705" cy="39689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Platforms</a:t>
            </a:r>
            <a:endParaRPr lang="en-IN" dirty="0"/>
          </a:p>
        </p:txBody>
      </p:sp>
      <p:sp>
        <p:nvSpPr>
          <p:cNvPr id="13" name="Content Placeholder 12"/>
          <p:cNvSpPr>
            <a:spLocks noGrp="1"/>
          </p:cNvSpPr>
          <p:nvPr>
            <p:ph sz="quarter" idx="1"/>
          </p:nvPr>
        </p:nvSpPr>
        <p:spPr/>
        <p:txBody>
          <a:bodyPr>
            <a:normAutofit/>
          </a:bodyPr>
          <a:lstStyle/>
          <a:p>
            <a:r>
              <a:rPr lang="en-US" sz="2200" b="1" dirty="0" smtClean="0"/>
              <a:t>Micro Edition (Java ME)</a:t>
            </a:r>
            <a:endParaRPr lang="en-IN" sz="2200" b="1" dirty="0" smtClean="0"/>
          </a:p>
          <a:p>
            <a:r>
              <a:rPr lang="en-US" sz="2200" b="1" dirty="0" smtClean="0"/>
              <a:t>Standard Edition (Java SE)</a:t>
            </a:r>
            <a:endParaRPr lang="en-IN" sz="2200" b="1" dirty="0" smtClean="0"/>
          </a:p>
          <a:p>
            <a:r>
              <a:rPr lang="en-US" sz="2200" b="1" dirty="0" smtClean="0"/>
              <a:t>Enterprise Edition (Java EE)</a:t>
            </a:r>
            <a:endParaRPr lang="en-IN" sz="2200" b="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Simple Java Program</a:t>
            </a:r>
            <a:endParaRPr lang="en-IN" dirty="0"/>
          </a:p>
        </p:txBody>
      </p:sp>
      <p:sp>
        <p:nvSpPr>
          <p:cNvPr id="4" name="Content Placeholder 3"/>
          <p:cNvSpPr>
            <a:spLocks noGrp="1"/>
          </p:cNvSpPr>
          <p:nvPr>
            <p:ph sz="quarter" idx="2"/>
          </p:nvPr>
        </p:nvSpPr>
        <p:spPr>
          <a:xfrm>
            <a:off x="609600" y="2438400"/>
            <a:ext cx="2533640" cy="3581400"/>
          </a:xfrm>
          <a:ln>
            <a:solidFill>
              <a:schemeClr val="accent2">
                <a:lumMod val="75000"/>
              </a:schemeClr>
            </a:solidFill>
          </a:ln>
        </p:spPr>
        <p:txBody>
          <a:bodyPr>
            <a:normAutofit/>
          </a:bodyPr>
          <a:lstStyle/>
          <a:p>
            <a:pPr>
              <a:buNone/>
            </a:pPr>
            <a:r>
              <a:rPr lang="en-IN" sz="2400" dirty="0" smtClean="0"/>
              <a:t>void main()</a:t>
            </a:r>
          </a:p>
          <a:p>
            <a:pPr>
              <a:buNone/>
            </a:pPr>
            <a:r>
              <a:rPr lang="en-IN" sz="2400" dirty="0" smtClean="0"/>
              <a:t>{</a:t>
            </a:r>
          </a:p>
          <a:p>
            <a:pPr>
              <a:buNone/>
            </a:pPr>
            <a:r>
              <a:rPr lang="en-IN" sz="2400" dirty="0" smtClean="0"/>
              <a:t>	</a:t>
            </a:r>
            <a:r>
              <a:rPr lang="en-IN" sz="2400" dirty="0" err="1" smtClean="0"/>
              <a:t>printf</a:t>
            </a:r>
            <a:r>
              <a:rPr lang="en-IN" sz="2400" dirty="0" smtClean="0"/>
              <a:t>(“Hello C”);</a:t>
            </a:r>
          </a:p>
          <a:p>
            <a:pPr>
              <a:buNone/>
            </a:pPr>
            <a:r>
              <a:rPr lang="en-IN" sz="2400" dirty="0" smtClean="0"/>
              <a:t>}</a:t>
            </a:r>
            <a:endParaRPr lang="en-IN" sz="2400" dirty="0"/>
          </a:p>
        </p:txBody>
      </p:sp>
      <p:sp>
        <p:nvSpPr>
          <p:cNvPr id="5" name="Content Placeholder 4"/>
          <p:cNvSpPr>
            <a:spLocks noGrp="1"/>
          </p:cNvSpPr>
          <p:nvPr>
            <p:ph sz="quarter" idx="4"/>
          </p:nvPr>
        </p:nvSpPr>
        <p:spPr>
          <a:xfrm>
            <a:off x="3286116" y="2438400"/>
            <a:ext cx="5400684" cy="3581400"/>
          </a:xfrm>
          <a:ln>
            <a:solidFill>
              <a:schemeClr val="bg2">
                <a:lumMod val="75000"/>
              </a:schemeClr>
            </a:solidFill>
          </a:ln>
        </p:spPr>
        <p:txBody>
          <a:bodyPr>
            <a:normAutofit/>
          </a:bodyPr>
          <a:lstStyle/>
          <a:p>
            <a:pPr>
              <a:buNone/>
            </a:pPr>
            <a:r>
              <a:rPr lang="en-IN" sz="2400" dirty="0" smtClean="0"/>
              <a:t>class Sample</a:t>
            </a:r>
          </a:p>
          <a:p>
            <a:pPr>
              <a:buNone/>
            </a:pPr>
            <a:r>
              <a:rPr lang="en-IN" sz="2400" dirty="0" smtClean="0"/>
              <a:t>{</a:t>
            </a:r>
          </a:p>
          <a:p>
            <a:pPr>
              <a:buNone/>
            </a:pPr>
            <a:r>
              <a:rPr lang="en-IN" sz="2400" dirty="0" smtClean="0"/>
              <a:t>	public static void main(String </a:t>
            </a:r>
            <a:r>
              <a:rPr lang="en-IN" sz="2400" dirty="0" err="1" smtClean="0"/>
              <a:t>args</a:t>
            </a:r>
            <a:r>
              <a:rPr lang="en-IN" sz="2400" dirty="0" smtClean="0"/>
              <a:t>[])</a:t>
            </a:r>
          </a:p>
          <a:p>
            <a:pPr>
              <a:buNone/>
            </a:pPr>
            <a:r>
              <a:rPr lang="en-IN" sz="2400" dirty="0" smtClean="0"/>
              <a:t>	{</a:t>
            </a:r>
          </a:p>
          <a:p>
            <a:pPr>
              <a:buNone/>
            </a:pPr>
            <a:r>
              <a:rPr lang="en-IN" sz="2400" dirty="0" smtClean="0"/>
              <a:t>		</a:t>
            </a:r>
            <a:r>
              <a:rPr lang="en-IN" sz="2400" dirty="0" err="1" smtClean="0"/>
              <a:t>System.out.println</a:t>
            </a:r>
            <a:r>
              <a:rPr lang="en-IN" sz="2400" dirty="0" smtClean="0"/>
              <a:t>(“Hello Java”);</a:t>
            </a:r>
          </a:p>
          <a:p>
            <a:pPr>
              <a:buNone/>
            </a:pPr>
            <a:r>
              <a:rPr lang="en-IN" sz="2400" dirty="0" smtClean="0"/>
              <a:t>	}</a:t>
            </a:r>
          </a:p>
          <a:p>
            <a:pPr>
              <a:buNone/>
            </a:pPr>
            <a:r>
              <a:rPr lang="en-IN" sz="2400" dirty="0" smtClean="0"/>
              <a:t>}</a:t>
            </a:r>
            <a:endParaRPr lang="en-IN" sz="2400" dirty="0"/>
          </a:p>
        </p:txBody>
      </p:sp>
      <p:sp>
        <p:nvSpPr>
          <p:cNvPr id="6" name="Text Placeholder 5"/>
          <p:cNvSpPr>
            <a:spLocks noGrp="1"/>
          </p:cNvSpPr>
          <p:nvPr>
            <p:ph type="body" sz="quarter" idx="1"/>
          </p:nvPr>
        </p:nvSpPr>
        <p:spPr>
          <a:xfrm>
            <a:off x="609600" y="1752600"/>
            <a:ext cx="2533640" cy="640080"/>
          </a:xfrm>
        </p:spPr>
        <p:txBody>
          <a:bodyPr/>
          <a:lstStyle/>
          <a:p>
            <a:r>
              <a:rPr lang="en-IN" dirty="0" smtClean="0"/>
              <a:t>Program in C</a:t>
            </a:r>
            <a:endParaRPr lang="en-IN" dirty="0"/>
          </a:p>
        </p:txBody>
      </p:sp>
      <p:sp>
        <p:nvSpPr>
          <p:cNvPr id="7" name="Text Placeholder 6"/>
          <p:cNvSpPr>
            <a:spLocks noGrp="1"/>
          </p:cNvSpPr>
          <p:nvPr>
            <p:ph type="body" sz="quarter" idx="3"/>
          </p:nvPr>
        </p:nvSpPr>
        <p:spPr>
          <a:xfrm>
            <a:off x="3286116" y="1752600"/>
            <a:ext cx="5400684" cy="640080"/>
          </a:xfrm>
        </p:spPr>
        <p:txBody>
          <a:bodyPr/>
          <a:lstStyle/>
          <a:p>
            <a:r>
              <a:rPr lang="en-IN" dirty="0" smtClean="0"/>
              <a:t>Program in JAVA</a:t>
            </a:r>
            <a:endParaRPr lang="en-I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Simple Java Program</a:t>
            </a:r>
            <a:endParaRPr lang="en-IN" dirty="0"/>
          </a:p>
        </p:txBody>
      </p:sp>
      <p:sp>
        <p:nvSpPr>
          <p:cNvPr id="13" name="Content Placeholder 12"/>
          <p:cNvSpPr>
            <a:spLocks noGrp="1"/>
          </p:cNvSpPr>
          <p:nvPr>
            <p:ph sz="quarter" idx="1"/>
          </p:nvPr>
        </p:nvSpPr>
        <p:spPr/>
        <p:txBody>
          <a:bodyPr>
            <a:normAutofit/>
          </a:bodyPr>
          <a:lstStyle/>
          <a:p>
            <a:pPr lvl="0"/>
            <a:r>
              <a:rPr lang="en-US" sz="2200" b="1" dirty="0" smtClean="0"/>
              <a:t>The first line is the class declaration</a:t>
            </a:r>
            <a:endParaRPr lang="en-IN" sz="2200" dirty="0" smtClean="0"/>
          </a:p>
          <a:p>
            <a:pPr lvl="1"/>
            <a:r>
              <a:rPr lang="en-US" sz="2200" dirty="0" smtClean="0"/>
              <a:t>As stated earlier, Java is true Object Oriented Language and therefore everything must be placed inside the class. “Hello” is a java identifier that specifies the name of the class.</a:t>
            </a:r>
            <a:endParaRPr lang="en-IN" sz="22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Simple Java Program</a:t>
            </a:r>
            <a:endParaRPr lang="en-IN" dirty="0"/>
          </a:p>
        </p:txBody>
      </p:sp>
      <p:sp>
        <p:nvSpPr>
          <p:cNvPr id="13" name="Content Placeholder 12"/>
          <p:cNvSpPr>
            <a:spLocks noGrp="1"/>
          </p:cNvSpPr>
          <p:nvPr>
            <p:ph sz="quarter" idx="1"/>
          </p:nvPr>
        </p:nvSpPr>
        <p:spPr/>
        <p:txBody>
          <a:bodyPr>
            <a:noAutofit/>
          </a:bodyPr>
          <a:lstStyle/>
          <a:p>
            <a:pPr lvl="0"/>
            <a:r>
              <a:rPr lang="en-US" sz="2200" b="1" dirty="0" smtClean="0"/>
              <a:t>The second line is the main line declaration.</a:t>
            </a:r>
            <a:endParaRPr lang="en-IN" sz="2200" dirty="0" smtClean="0"/>
          </a:p>
          <a:p>
            <a:pPr algn="ctr">
              <a:buNone/>
            </a:pPr>
            <a:r>
              <a:rPr lang="en-US" sz="2200" i="1" dirty="0" smtClean="0"/>
              <a:t>public static void main(String </a:t>
            </a:r>
            <a:r>
              <a:rPr lang="en-US" sz="2200" i="1" dirty="0" err="1" smtClean="0"/>
              <a:t>args</a:t>
            </a:r>
            <a:r>
              <a:rPr lang="en-US" sz="2200" i="1" dirty="0" smtClean="0"/>
              <a:t>[])</a:t>
            </a:r>
            <a:endParaRPr lang="en-IN" sz="2200" dirty="0" smtClean="0"/>
          </a:p>
          <a:p>
            <a:pPr lvl="1"/>
            <a:r>
              <a:rPr lang="en-US" sz="2200" b="1" dirty="0" smtClean="0"/>
              <a:t>public:</a:t>
            </a:r>
            <a:r>
              <a:rPr lang="en-US" sz="2200" dirty="0" smtClean="0"/>
              <a:t> </a:t>
            </a:r>
          </a:p>
          <a:p>
            <a:pPr lvl="1">
              <a:buNone/>
            </a:pPr>
            <a:r>
              <a:rPr lang="en-US" sz="2200" dirty="0" smtClean="0"/>
              <a:t>		The keyword “public” is an access </a:t>
            </a:r>
            <a:r>
              <a:rPr lang="en-US" sz="2200" dirty="0" err="1" smtClean="0"/>
              <a:t>specifier</a:t>
            </a:r>
            <a:r>
              <a:rPr lang="en-US" sz="2200" dirty="0" smtClean="0"/>
              <a:t> that declares 	the main method is unprotected. Hence it can be access by other classes.</a:t>
            </a:r>
            <a:endParaRPr lang="en-IN" sz="2200" dirty="0" smtClean="0"/>
          </a:p>
          <a:p>
            <a:pPr lvl="1"/>
            <a:r>
              <a:rPr lang="en-US" sz="2200" b="1" dirty="0" smtClean="0"/>
              <a:t>static:</a:t>
            </a:r>
            <a:r>
              <a:rPr lang="en-US" sz="2200" dirty="0" smtClean="0"/>
              <a:t> </a:t>
            </a:r>
          </a:p>
          <a:p>
            <a:pPr lvl="1">
              <a:buNone/>
            </a:pPr>
            <a:r>
              <a:rPr lang="en-US" sz="2200" dirty="0" smtClean="0"/>
              <a:t>		The main always declared as static because interpreter use this method before declaring the object.</a:t>
            </a:r>
            <a:endParaRPr lang="en-IN" sz="2200" dirty="0" smtClean="0"/>
          </a:p>
          <a:p>
            <a:pPr lvl="1"/>
            <a:r>
              <a:rPr lang="en-US" sz="2200" b="1" dirty="0" smtClean="0"/>
              <a:t>void:</a:t>
            </a:r>
            <a:r>
              <a:rPr lang="en-US" sz="2200" dirty="0" smtClean="0"/>
              <a:t> </a:t>
            </a:r>
          </a:p>
          <a:p>
            <a:pPr lvl="1">
              <a:buNone/>
            </a:pPr>
            <a:r>
              <a:rPr lang="en-US" sz="2200" dirty="0" smtClean="0"/>
              <a:t>		It states that main does not return any value.</a:t>
            </a:r>
            <a:endParaRPr lang="en-IN" sz="22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Simple Java Program</a:t>
            </a:r>
            <a:endParaRPr lang="en-IN" dirty="0"/>
          </a:p>
        </p:txBody>
      </p:sp>
      <p:sp>
        <p:nvSpPr>
          <p:cNvPr id="13" name="Content Placeholder 12"/>
          <p:cNvSpPr>
            <a:spLocks noGrp="1"/>
          </p:cNvSpPr>
          <p:nvPr>
            <p:ph sz="quarter" idx="1"/>
          </p:nvPr>
        </p:nvSpPr>
        <p:spPr/>
        <p:txBody>
          <a:bodyPr>
            <a:noAutofit/>
          </a:bodyPr>
          <a:lstStyle/>
          <a:p>
            <a:pPr lvl="1"/>
            <a:r>
              <a:rPr lang="en-US" sz="2000" b="1" dirty="0" smtClean="0"/>
              <a:t>main():</a:t>
            </a:r>
            <a:r>
              <a:rPr lang="en-US" sz="2000" dirty="0" smtClean="0"/>
              <a:t> </a:t>
            </a:r>
          </a:p>
          <a:p>
            <a:pPr lvl="1">
              <a:buNone/>
            </a:pPr>
            <a:r>
              <a:rPr lang="en-US" sz="2000" dirty="0" smtClean="0"/>
              <a:t>		This is the starting point for the interpreter to begin the execution of the program.</a:t>
            </a:r>
          </a:p>
          <a:p>
            <a:pPr lvl="1">
              <a:buNone/>
            </a:pPr>
            <a:endParaRPr lang="en-IN" sz="2000" dirty="0" smtClean="0"/>
          </a:p>
          <a:p>
            <a:pPr lvl="1"/>
            <a:r>
              <a:rPr lang="en-US" sz="2000" b="1" dirty="0" smtClean="0"/>
              <a:t>String </a:t>
            </a:r>
            <a:r>
              <a:rPr lang="en-US" sz="2000" b="1" dirty="0" err="1" smtClean="0"/>
              <a:t>args</a:t>
            </a:r>
            <a:r>
              <a:rPr lang="en-US" sz="2000" b="1" dirty="0" smtClean="0"/>
              <a:t>[]:</a:t>
            </a:r>
            <a:r>
              <a:rPr lang="en-US" sz="2000" dirty="0" smtClean="0"/>
              <a:t> </a:t>
            </a:r>
          </a:p>
          <a:p>
            <a:pPr lvl="1">
              <a:buNone/>
            </a:pPr>
            <a:r>
              <a:rPr lang="en-US" sz="2000" dirty="0" smtClean="0"/>
              <a:t>		It defines </a:t>
            </a:r>
            <a:r>
              <a:rPr lang="en-US" sz="2000" dirty="0" err="1" smtClean="0"/>
              <a:t>args</a:t>
            </a:r>
            <a:r>
              <a:rPr lang="en-US" sz="2000" dirty="0" smtClean="0"/>
              <a:t> parameter contain array of objects of the class type String.</a:t>
            </a:r>
            <a:endParaRPr lang="en-IN" sz="2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Implementation of Java Program </a:t>
            </a:r>
            <a:endParaRPr lang="en-IN" dirty="0"/>
          </a:p>
        </p:txBody>
      </p:sp>
      <p:sp>
        <p:nvSpPr>
          <p:cNvPr id="13" name="Content Placeholder 12"/>
          <p:cNvSpPr>
            <a:spLocks noGrp="1"/>
          </p:cNvSpPr>
          <p:nvPr>
            <p:ph sz="quarter" idx="1"/>
          </p:nvPr>
        </p:nvSpPr>
        <p:spPr/>
        <p:txBody>
          <a:bodyPr>
            <a:noAutofit/>
          </a:bodyPr>
          <a:lstStyle/>
          <a:p>
            <a:endParaRPr lang="en-US" sz="2200" dirty="0" smtClean="0"/>
          </a:p>
          <a:p>
            <a:endParaRPr lang="en-US" sz="2200" dirty="0" smtClean="0"/>
          </a:p>
          <a:p>
            <a:r>
              <a:rPr lang="en-US" sz="2200" dirty="0" smtClean="0"/>
              <a:t>We can create the program using text editor.</a:t>
            </a:r>
          </a:p>
          <a:p>
            <a:r>
              <a:rPr lang="en-US" sz="2200" dirty="0" smtClean="0"/>
              <a:t>Save this program in a file called Hello.java (filename and class name should be same)</a:t>
            </a:r>
            <a:endParaRPr lang="en-IN" sz="2200" dirty="0" smtClean="0"/>
          </a:p>
          <a:p>
            <a:r>
              <a:rPr lang="en-US" sz="2200" dirty="0" smtClean="0"/>
              <a:t>To compile the program type line as shown below.</a:t>
            </a:r>
            <a:endParaRPr lang="en-IN" sz="2200" dirty="0" smtClean="0"/>
          </a:p>
          <a:p>
            <a:pPr>
              <a:buNone/>
            </a:pPr>
            <a:r>
              <a:rPr lang="en-US" sz="2200" b="1" dirty="0" smtClean="0"/>
              <a:t>		</a:t>
            </a:r>
            <a:r>
              <a:rPr lang="en-US" sz="2200" b="1" dirty="0" err="1" smtClean="0"/>
              <a:t>javac</a:t>
            </a:r>
            <a:r>
              <a:rPr lang="en-US" sz="2200" b="1" dirty="0" smtClean="0"/>
              <a:t> Hello.java</a:t>
            </a:r>
            <a:endParaRPr lang="en-IN" sz="2200" dirty="0" smtClean="0"/>
          </a:p>
          <a:p>
            <a:r>
              <a:rPr lang="en-US" sz="2200" dirty="0" smtClean="0"/>
              <a:t>If every syntax is right then,  </a:t>
            </a:r>
            <a:r>
              <a:rPr lang="en-US" sz="2200" dirty="0" err="1" smtClean="0"/>
              <a:t>javac</a:t>
            </a:r>
            <a:r>
              <a:rPr lang="en-US" sz="2200" dirty="0" smtClean="0"/>
              <a:t> creates a file called </a:t>
            </a:r>
            <a:r>
              <a:rPr lang="en-US" sz="2200" b="1" dirty="0" err="1" smtClean="0"/>
              <a:t>Hello.class</a:t>
            </a:r>
            <a:r>
              <a:rPr lang="en-US" sz="2200" dirty="0" smtClean="0"/>
              <a:t> contains the byte code.</a:t>
            </a:r>
            <a:endParaRPr lang="en-IN" sz="2200" dirty="0" smtClean="0"/>
          </a:p>
          <a:p>
            <a:r>
              <a:rPr lang="en-US" sz="2200" dirty="0" smtClean="0"/>
              <a:t>Run the program on command line</a:t>
            </a:r>
            <a:endParaRPr lang="en-IN" sz="2200" dirty="0" smtClean="0"/>
          </a:p>
          <a:p>
            <a:pPr>
              <a:buNone/>
            </a:pPr>
            <a:r>
              <a:rPr lang="en-US" sz="2200" b="1" dirty="0" smtClean="0"/>
              <a:t>		java Hello </a:t>
            </a:r>
            <a:endParaRPr lang="en-IN" sz="2200" dirty="0" smtClean="0"/>
          </a:p>
          <a:p>
            <a:r>
              <a:rPr lang="en-US" sz="2200" dirty="0" smtClean="0"/>
              <a:t>Now program executes and generates output as:	</a:t>
            </a:r>
          </a:p>
          <a:p>
            <a:pPr lvl="2">
              <a:buNone/>
            </a:pPr>
            <a:r>
              <a:rPr lang="en-US" sz="2200" dirty="0" smtClean="0"/>
              <a:t>	Hello, World!</a:t>
            </a:r>
            <a:endParaRPr lang="en-IN" sz="2200" dirty="0"/>
          </a:p>
        </p:txBody>
      </p:sp>
      <p:pic>
        <p:nvPicPr>
          <p:cNvPr id="4" name="Picture 3"/>
          <p:cNvPicPr/>
          <p:nvPr/>
        </p:nvPicPr>
        <p:blipFill>
          <a:blip r:embed="rId2"/>
          <a:srcRect/>
          <a:stretch>
            <a:fillRect/>
          </a:stretch>
        </p:blipFill>
        <p:spPr bwMode="auto">
          <a:xfrm>
            <a:off x="2143108" y="1500174"/>
            <a:ext cx="4352925" cy="10347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 of Introduction to JAVA</a:t>
            </a:r>
            <a:endParaRPr lang="en-IN" dirty="0"/>
          </a:p>
        </p:txBody>
      </p:sp>
      <p:sp>
        <p:nvSpPr>
          <p:cNvPr id="3" name="Content Placeholder 2"/>
          <p:cNvSpPr>
            <a:spLocks noGrp="1"/>
          </p:cNvSpPr>
          <p:nvPr>
            <p:ph sz="quarter" idx="1"/>
          </p:nvPr>
        </p:nvSpPr>
        <p:spPr/>
        <p:txBody>
          <a:bodyPr>
            <a:normAutofit/>
          </a:bodyPr>
          <a:lstStyle/>
          <a:p>
            <a:pPr marL="893763" lvl="1" indent="-527050">
              <a:buSzPct val="100000"/>
              <a:buBlip>
                <a:blip r:embed="rId2"/>
              </a:buBlip>
            </a:pPr>
            <a:r>
              <a:rPr lang="en-IN" sz="3200" dirty="0" smtClean="0"/>
              <a:t>History</a:t>
            </a:r>
          </a:p>
          <a:p>
            <a:pPr marL="893763" lvl="1" indent="-527050">
              <a:buSzPct val="100000"/>
              <a:buBlip>
                <a:blip r:embed="rId2"/>
              </a:buBlip>
            </a:pPr>
            <a:r>
              <a:rPr lang="en-IN" sz="3200" dirty="0" smtClean="0"/>
              <a:t>Features of Java</a:t>
            </a:r>
          </a:p>
          <a:p>
            <a:pPr marL="893763" lvl="1" indent="-527050">
              <a:buSzPct val="100000"/>
              <a:buBlip>
                <a:blip r:embed="rId2"/>
              </a:buBlip>
            </a:pPr>
            <a:r>
              <a:rPr lang="en-IN" sz="3200" dirty="0" smtClean="0"/>
              <a:t>JVM</a:t>
            </a:r>
          </a:p>
          <a:p>
            <a:pPr marL="893763" lvl="1" indent="-527050">
              <a:buSzPct val="100000"/>
              <a:buBlip>
                <a:blip r:embed="rId2"/>
              </a:buBlip>
            </a:pPr>
            <a:r>
              <a:rPr lang="en-IN" sz="3200" dirty="0" smtClean="0"/>
              <a:t>Java Program Types</a:t>
            </a:r>
          </a:p>
          <a:p>
            <a:pPr marL="893763" lvl="1" indent="-527050">
              <a:buSzPct val="100000"/>
              <a:buBlip>
                <a:blip r:embed="rId2"/>
              </a:buBlip>
            </a:pPr>
            <a:r>
              <a:rPr lang="en-IN" sz="3200" dirty="0" smtClean="0"/>
              <a:t>Java Platforms</a:t>
            </a:r>
          </a:p>
          <a:p>
            <a:pPr marL="893763" lvl="1" indent="-527050">
              <a:buSzPct val="100000"/>
              <a:buBlip>
                <a:blip r:embed="rId2"/>
              </a:buBlip>
            </a:pPr>
            <a:r>
              <a:rPr lang="en-IN" sz="3200" dirty="0" smtClean="0"/>
              <a:t>Simple java Program</a:t>
            </a:r>
          </a:p>
          <a:p>
            <a:pPr marL="893763" lvl="1" indent="-527050">
              <a:buSzPct val="100000"/>
              <a:buBlip>
                <a:blip r:embed="rId2"/>
              </a:buBlip>
            </a:pPr>
            <a:r>
              <a:rPr lang="en-IN" sz="3200" dirty="0" smtClean="0"/>
              <a:t>Implementation of java program</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Fundamentals of JAVA</a:t>
            </a:r>
            <a:endParaRPr lang="en-IN" dirty="0"/>
          </a:p>
        </p:txBody>
      </p:sp>
      <p:sp>
        <p:nvSpPr>
          <p:cNvPr id="3" name="Content Placeholder 2"/>
          <p:cNvSpPr>
            <a:spLocks noGrp="1"/>
          </p:cNvSpPr>
          <p:nvPr>
            <p:ph sz="quarter" idx="1"/>
          </p:nvPr>
        </p:nvSpPr>
        <p:spPr/>
        <p:txBody>
          <a:bodyPr>
            <a:noAutofit/>
          </a:bodyPr>
          <a:lstStyle/>
          <a:p>
            <a:r>
              <a:rPr lang="en-IN" sz="3200" dirty="0" smtClean="0"/>
              <a:t>Character set</a:t>
            </a:r>
          </a:p>
          <a:p>
            <a:r>
              <a:rPr lang="en-IN" sz="3200" dirty="0" smtClean="0"/>
              <a:t>Comments</a:t>
            </a:r>
          </a:p>
          <a:p>
            <a:r>
              <a:rPr lang="en-IN" sz="3200" dirty="0" smtClean="0"/>
              <a:t>Identifier</a:t>
            </a:r>
          </a:p>
          <a:p>
            <a:r>
              <a:rPr lang="en-IN" sz="3200" dirty="0" smtClean="0"/>
              <a:t>Keywords</a:t>
            </a:r>
          </a:p>
          <a:p>
            <a:r>
              <a:rPr lang="en-IN" sz="3200" dirty="0" smtClean="0"/>
              <a:t>Constants</a:t>
            </a:r>
          </a:p>
          <a:p>
            <a:r>
              <a:rPr lang="en-IN" sz="3200" dirty="0" smtClean="0"/>
              <a:t>Variable</a:t>
            </a:r>
          </a:p>
          <a:p>
            <a:r>
              <a:rPr lang="en-IN" sz="3200" dirty="0" err="1" smtClean="0"/>
              <a:t>Datatype</a:t>
            </a:r>
            <a:endParaRPr lang="en-IN" sz="3200" dirty="0" smtClean="0"/>
          </a:p>
          <a:p>
            <a:r>
              <a:rPr lang="en-IN" sz="3200" dirty="0" smtClean="0"/>
              <a:t>Type conversation and Type casting</a:t>
            </a:r>
            <a:endParaRPr lang="en-IN" sz="32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Character set</a:t>
            </a:r>
          </a:p>
        </p:txBody>
      </p:sp>
      <p:sp>
        <p:nvSpPr>
          <p:cNvPr id="3" name="Content Placeholder 2"/>
          <p:cNvSpPr>
            <a:spLocks noGrp="1"/>
          </p:cNvSpPr>
          <p:nvPr>
            <p:ph sz="quarter" idx="1"/>
          </p:nvPr>
        </p:nvSpPr>
        <p:spPr/>
        <p:txBody>
          <a:bodyPr>
            <a:normAutofit/>
          </a:bodyPr>
          <a:lstStyle/>
          <a:p>
            <a:r>
              <a:rPr lang="en-US" sz="2200" dirty="0" smtClean="0"/>
              <a:t>Java uses the </a:t>
            </a:r>
            <a:r>
              <a:rPr lang="en-US" sz="2200" b="1" dirty="0" smtClean="0"/>
              <a:t>Unicode</a:t>
            </a:r>
            <a:r>
              <a:rPr lang="en-US" sz="2200" dirty="0" smtClean="0"/>
              <a:t> (Universal Code) to represent the characters. </a:t>
            </a:r>
          </a:p>
          <a:p>
            <a:r>
              <a:rPr lang="en-US" sz="2200" dirty="0" smtClean="0"/>
              <a:t>It currently supports more than 34,000 defined characters derived from 24 languages from America, Europe, Middle East, Africa and Asia (including India). </a:t>
            </a:r>
          </a:p>
          <a:p>
            <a:r>
              <a:rPr lang="en-US" sz="2200" b="1" dirty="0" smtClean="0"/>
              <a:t>ASCII</a:t>
            </a:r>
            <a:r>
              <a:rPr lang="en-US" sz="2200" dirty="0" smtClean="0"/>
              <a:t> (American Standard Code for Information Interchange) which </a:t>
            </a:r>
            <a:r>
              <a:rPr lang="en-US" sz="2200" b="1" dirty="0" smtClean="0"/>
              <a:t>is a subset of Unicode Character Set. </a:t>
            </a:r>
          </a:p>
          <a:p>
            <a:r>
              <a:rPr lang="en-US" sz="2200" b="1" dirty="0" smtClean="0"/>
              <a:t>Unicode full range: 65536 codes &amp; ASCII full range: 256 codes.</a:t>
            </a:r>
            <a:endParaRPr lang="en-IN" sz="2200" b="1"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Comments</a:t>
            </a:r>
            <a:endParaRPr lang="en-IN" dirty="0"/>
          </a:p>
        </p:txBody>
      </p:sp>
      <p:sp>
        <p:nvSpPr>
          <p:cNvPr id="3" name="Content Placeholder 2"/>
          <p:cNvSpPr>
            <a:spLocks noGrp="1"/>
          </p:cNvSpPr>
          <p:nvPr>
            <p:ph sz="quarter" idx="1"/>
          </p:nvPr>
        </p:nvSpPr>
        <p:spPr/>
        <p:txBody>
          <a:bodyPr>
            <a:normAutofit/>
          </a:bodyPr>
          <a:lstStyle/>
          <a:p>
            <a:pPr lvl="0"/>
            <a:r>
              <a:rPr lang="en-US" sz="2200" b="1" dirty="0" smtClean="0"/>
              <a:t>Comments:</a:t>
            </a:r>
            <a:endParaRPr lang="en-IN" sz="2200" dirty="0" smtClean="0"/>
          </a:p>
          <a:p>
            <a:pPr lvl="1">
              <a:buNone/>
            </a:pPr>
            <a:r>
              <a:rPr lang="en-US" sz="2200" dirty="0" smtClean="0"/>
              <a:t>The comments are useful for documentation purpose.</a:t>
            </a:r>
            <a:endParaRPr lang="en-IN" sz="2200" dirty="0" smtClean="0"/>
          </a:p>
          <a:p>
            <a:pPr lvl="1"/>
            <a:r>
              <a:rPr lang="en-US" sz="2200" b="1" dirty="0" smtClean="0"/>
              <a:t>Single line comment:	</a:t>
            </a:r>
            <a:r>
              <a:rPr lang="en-US" sz="2200" dirty="0" smtClean="0"/>
              <a:t>//</a:t>
            </a:r>
            <a:endParaRPr lang="en-IN" sz="2200" dirty="0" smtClean="0"/>
          </a:p>
          <a:p>
            <a:pPr lvl="1"/>
            <a:r>
              <a:rPr lang="en-US" sz="2200" b="1" dirty="0" smtClean="0"/>
              <a:t> Multiline comment:		</a:t>
            </a:r>
            <a:r>
              <a:rPr lang="en-US" sz="2200" dirty="0" smtClean="0"/>
              <a:t>/*	*/</a:t>
            </a:r>
            <a:endParaRPr lang="en-IN" sz="22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latin typeface="Times New Roman" pitchFamily="18" charset="0"/>
                <a:cs typeface="Times New Roman" pitchFamily="18" charset="0"/>
              </a:rPr>
              <a:t>Identifier</a:t>
            </a:r>
            <a:endParaRPr lang="en-IN" sz="4000" dirty="0" smtClean="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r>
              <a:rPr lang="en-US" sz="2200" dirty="0" smtClean="0">
                <a:latin typeface="Times New Roman" pitchFamily="18" charset="0"/>
                <a:cs typeface="Times New Roman" pitchFamily="18" charset="0"/>
              </a:rPr>
              <a:t>Identifiers are the programmers design tokens or it is a name convention for class name, method name, variable name, interface and package in a program. Identifier must be meaningful, short enough to write and quickly read.</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It has following rules:</a:t>
            </a:r>
            <a:endParaRPr lang="en-IN" sz="2200" dirty="0" smtClean="0">
              <a:latin typeface="Times New Roman" pitchFamily="18" charset="0"/>
              <a:cs typeface="Times New Roman" pitchFamily="18" charset="0"/>
            </a:endParaRPr>
          </a:p>
          <a:p>
            <a:pPr lvl="1"/>
            <a:r>
              <a:rPr lang="en-US" sz="2200" dirty="0" smtClean="0">
                <a:latin typeface="Times New Roman" pitchFamily="18" charset="0"/>
                <a:cs typeface="Times New Roman" pitchFamily="18" charset="0"/>
              </a:rPr>
              <a:t>It is a descriptive sequence of uppercase and lowercase letters and digits.</a:t>
            </a:r>
            <a:endParaRPr lang="en-IN" sz="2200" dirty="0" smtClean="0">
              <a:latin typeface="Times New Roman" pitchFamily="18" charset="0"/>
              <a:cs typeface="Times New Roman" pitchFamily="18" charset="0"/>
            </a:endParaRPr>
          </a:p>
          <a:p>
            <a:pPr lvl="1"/>
            <a:r>
              <a:rPr lang="en-US" sz="2200" dirty="0" smtClean="0">
                <a:latin typeface="Times New Roman" pitchFamily="18" charset="0"/>
                <a:cs typeface="Times New Roman" pitchFamily="18" charset="0"/>
              </a:rPr>
              <a:t>It should not begin with digit.</a:t>
            </a:r>
            <a:endParaRPr lang="en-IN" sz="2200" dirty="0" smtClean="0">
              <a:latin typeface="Times New Roman" pitchFamily="18" charset="0"/>
              <a:cs typeface="Times New Roman" pitchFamily="18" charset="0"/>
            </a:endParaRPr>
          </a:p>
          <a:p>
            <a:pPr lvl="1"/>
            <a:r>
              <a:rPr lang="en-US" sz="2200" dirty="0" smtClean="0">
                <a:latin typeface="Times New Roman" pitchFamily="18" charset="0"/>
                <a:cs typeface="Times New Roman" pitchFamily="18" charset="0"/>
              </a:rPr>
              <a:t>Uppercase and lowercase are distinct.</a:t>
            </a:r>
            <a:endParaRPr lang="en-IN" sz="2200" dirty="0" smtClean="0">
              <a:latin typeface="Times New Roman" pitchFamily="18" charset="0"/>
              <a:cs typeface="Times New Roman" pitchFamily="18" charset="0"/>
            </a:endParaRPr>
          </a:p>
          <a:p>
            <a:pPr lvl="1"/>
            <a:r>
              <a:rPr lang="en-US" sz="2200" dirty="0" smtClean="0">
                <a:latin typeface="Times New Roman" pitchFamily="18" charset="0"/>
                <a:cs typeface="Times New Roman" pitchFamily="18" charset="0"/>
              </a:rPr>
              <a:t>They can be of any length.</a:t>
            </a:r>
            <a:endParaRPr lang="en-IN"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Identifier</a:t>
            </a:r>
            <a:endParaRPr lang="en-IN" dirty="0"/>
          </a:p>
        </p:txBody>
      </p:sp>
      <p:sp>
        <p:nvSpPr>
          <p:cNvPr id="3" name="Content Placeholder 2"/>
          <p:cNvSpPr>
            <a:spLocks noGrp="1"/>
          </p:cNvSpPr>
          <p:nvPr>
            <p:ph sz="quarter" idx="1"/>
          </p:nvPr>
        </p:nvSpPr>
        <p:spPr/>
        <p:txBody>
          <a:bodyPr>
            <a:noAutofit/>
          </a:bodyPr>
          <a:lstStyle/>
          <a:p>
            <a:r>
              <a:rPr lang="en-US" sz="2200" dirty="0" smtClean="0"/>
              <a:t>All class and interface start with uppercase letter followed by lowercase letters. If name contains more than two words. Then each subsequent word leading with uppercase letter.</a:t>
            </a:r>
            <a:endParaRPr lang="en-IN" sz="2200" dirty="0" smtClean="0"/>
          </a:p>
          <a:p>
            <a:pPr>
              <a:buNone/>
            </a:pPr>
            <a:r>
              <a:rPr lang="en-US" sz="2200" b="1" dirty="0" smtClean="0"/>
              <a:t>		Example: Student, </a:t>
            </a:r>
            <a:r>
              <a:rPr lang="en-US" sz="2200" b="1" dirty="0" err="1" smtClean="0"/>
              <a:t>ComputerTechnology</a:t>
            </a:r>
            <a:endParaRPr lang="en-IN" sz="2200" dirty="0" smtClean="0"/>
          </a:p>
          <a:p>
            <a:r>
              <a:rPr lang="en-US" sz="2200" dirty="0" smtClean="0"/>
              <a:t>All methods start with lowercase letters. If method contains more than two words then each subsequent word leading with uppercase letter.</a:t>
            </a:r>
            <a:endParaRPr lang="en-IN" sz="2200" dirty="0" smtClean="0"/>
          </a:p>
          <a:p>
            <a:pPr>
              <a:buNone/>
            </a:pPr>
            <a:r>
              <a:rPr lang="en-US" sz="2200" dirty="0" smtClean="0"/>
              <a:t>		</a:t>
            </a:r>
            <a:r>
              <a:rPr lang="en-US" sz="2200" b="1" dirty="0" smtClean="0"/>
              <a:t>Example: sum(), </a:t>
            </a:r>
            <a:r>
              <a:rPr lang="en-US" sz="2200" b="1" dirty="0" err="1" smtClean="0"/>
              <a:t>sumOfAll</a:t>
            </a:r>
            <a:r>
              <a:rPr lang="en-US" sz="2200" b="1" dirty="0" smtClean="0"/>
              <a:t>()</a:t>
            </a:r>
            <a:endParaRPr lang="en-IN" sz="2200" b="1" dirty="0" smtClean="0"/>
          </a:p>
          <a:p>
            <a:r>
              <a:rPr lang="en-US" sz="2200" dirty="0" smtClean="0"/>
              <a:t>All variables use only lowercase letters. If variable contains more than two words then they must be combined with underscore between the words.</a:t>
            </a:r>
            <a:endParaRPr lang="en-IN" sz="2200" dirty="0" smtClean="0"/>
          </a:p>
          <a:p>
            <a:pPr>
              <a:buNone/>
            </a:pPr>
            <a:r>
              <a:rPr lang="en-US" sz="2200" dirty="0" smtClean="0"/>
              <a:t>		</a:t>
            </a:r>
            <a:r>
              <a:rPr lang="en-US" sz="2200" b="1" dirty="0" smtClean="0"/>
              <a:t>Example: </a:t>
            </a:r>
            <a:r>
              <a:rPr lang="en-US" sz="2200" b="1" dirty="0" smtClean="0">
                <a:solidFill>
                  <a:srgbClr val="FF0000"/>
                </a:solidFill>
              </a:rPr>
              <a:t>radius1=5.5</a:t>
            </a:r>
            <a:r>
              <a:rPr lang="en-US" sz="2200" b="1" dirty="0" smtClean="0"/>
              <a:t>, </a:t>
            </a:r>
            <a:r>
              <a:rPr lang="en-US" sz="2200" b="1" dirty="0" smtClean="0">
                <a:solidFill>
                  <a:srgbClr val="00B050"/>
                </a:solidFill>
              </a:rPr>
              <a:t>balance=9999</a:t>
            </a:r>
            <a:r>
              <a:rPr lang="en-US" sz="2200" b="1" dirty="0" smtClean="0"/>
              <a:t>,  </a:t>
            </a:r>
            <a:r>
              <a:rPr lang="en-US" sz="2200" b="1" dirty="0" err="1" smtClean="0">
                <a:solidFill>
                  <a:srgbClr val="0070C0"/>
                </a:solidFill>
              </a:rPr>
              <a:t>marks_scored</a:t>
            </a:r>
            <a:r>
              <a:rPr lang="en-US" sz="2200" b="1" dirty="0" smtClean="0">
                <a:solidFill>
                  <a:srgbClr val="0070C0"/>
                </a:solidFill>
              </a:rPr>
              <a:t>=100</a:t>
            </a:r>
          </a:p>
          <a:p>
            <a:pPr>
              <a:buNone/>
            </a:pPr>
            <a:r>
              <a:rPr lang="en-US" sz="2200" dirty="0" smtClean="0"/>
              <a:t>		</a:t>
            </a:r>
            <a:r>
              <a:rPr lang="en-US" sz="2200" b="1" dirty="0" smtClean="0"/>
              <a:t>Example: </a:t>
            </a:r>
            <a:r>
              <a:rPr lang="en-US" sz="2200" b="1" dirty="0" smtClean="0">
                <a:solidFill>
                  <a:srgbClr val="FF0000"/>
                </a:solidFill>
              </a:rPr>
              <a:t>PI=3.14</a:t>
            </a:r>
            <a:r>
              <a:rPr lang="en-US" sz="2200" b="1" dirty="0" smtClean="0"/>
              <a:t>,      </a:t>
            </a:r>
            <a:r>
              <a:rPr lang="en-US" sz="2200" b="1" dirty="0" smtClean="0">
                <a:solidFill>
                  <a:srgbClr val="00B050"/>
                </a:solidFill>
              </a:rPr>
              <a:t>INTEREST=12.5</a:t>
            </a:r>
            <a:r>
              <a:rPr lang="en-US" sz="2200" b="1" dirty="0" smtClean="0"/>
              <a:t>,  </a:t>
            </a:r>
            <a:r>
              <a:rPr lang="en-US" sz="2200" b="1" dirty="0" smtClean="0">
                <a:solidFill>
                  <a:srgbClr val="0070C0"/>
                </a:solidFill>
              </a:rPr>
              <a:t>TOTAL_MARKS=100</a:t>
            </a:r>
            <a:endParaRPr lang="en-IN" sz="2200" b="1" dirty="0" smtClean="0">
              <a:solidFill>
                <a:srgbClr val="0070C0"/>
              </a:solidFill>
            </a:endParaRPr>
          </a:p>
          <a:p>
            <a:pPr>
              <a:buNone/>
            </a:pPr>
            <a:endParaRPr lang="en-IN" sz="2200"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latin typeface="Times New Roman" pitchFamily="18" charset="0"/>
                <a:cs typeface="Times New Roman" pitchFamily="18" charset="0"/>
              </a:rPr>
              <a:t>Keyword</a:t>
            </a:r>
            <a:endParaRPr lang="en-IN" dirty="0" smtClean="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Autofit/>
          </a:bodyPr>
          <a:lstStyle/>
          <a:p>
            <a:r>
              <a:rPr lang="en-US" sz="2200" dirty="0" smtClean="0">
                <a:latin typeface="Times New Roman" pitchFamily="18" charset="0"/>
                <a:cs typeface="Times New Roman" pitchFamily="18" charset="0"/>
              </a:rPr>
              <a:t>Keywords are essential part of language definition. They implement specific feature of the language. </a:t>
            </a:r>
          </a:p>
          <a:p>
            <a:r>
              <a:rPr lang="en-US" sz="2200" dirty="0" smtClean="0">
                <a:latin typeface="Times New Roman" pitchFamily="18" charset="0"/>
                <a:cs typeface="Times New Roman" pitchFamily="18" charset="0"/>
              </a:rPr>
              <a:t>Since keywords have specific meaning in Java we cannot use them as names for variables, class, method etc.</a:t>
            </a:r>
          </a:p>
          <a:p>
            <a:r>
              <a:rPr lang="en-US" sz="2200" b="1" dirty="0" smtClean="0">
                <a:latin typeface="Times New Roman" pitchFamily="18" charset="0"/>
                <a:cs typeface="Times New Roman" pitchFamily="18" charset="0"/>
              </a:rPr>
              <a:t>All keywords are to be written in lower case.</a:t>
            </a:r>
          </a:p>
          <a:p>
            <a:r>
              <a:rPr lang="en-US" sz="2200" dirty="0" smtClean="0">
                <a:latin typeface="Times New Roman" pitchFamily="18" charset="0"/>
                <a:cs typeface="Times New Roman" pitchFamily="18" charset="0"/>
              </a:rPr>
              <a:t>Most of the keywords derived from C and C++</a:t>
            </a:r>
          </a:p>
        </p:txBody>
      </p:sp>
      <p:pic>
        <p:nvPicPr>
          <p:cNvPr id="4" name="Picture 3"/>
          <p:cNvPicPr/>
          <p:nvPr/>
        </p:nvPicPr>
        <p:blipFill>
          <a:blip r:embed="rId2"/>
          <a:srcRect/>
          <a:stretch>
            <a:fillRect/>
          </a:stretch>
        </p:blipFill>
        <p:spPr bwMode="auto">
          <a:xfrm>
            <a:off x="1785918" y="4000528"/>
            <a:ext cx="5643602" cy="27860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Constants in Java (Literals)</a:t>
            </a:r>
            <a:endParaRPr lang="en-IN" dirty="0" smtClean="0"/>
          </a:p>
        </p:txBody>
      </p:sp>
      <p:sp>
        <p:nvSpPr>
          <p:cNvPr id="3" name="Content Placeholder 2"/>
          <p:cNvSpPr>
            <a:spLocks noGrp="1"/>
          </p:cNvSpPr>
          <p:nvPr>
            <p:ph sz="quarter" idx="1"/>
          </p:nvPr>
        </p:nvSpPr>
        <p:spPr/>
        <p:txBody>
          <a:bodyPr>
            <a:noAutofit/>
          </a:bodyPr>
          <a:lstStyle/>
          <a:p>
            <a:r>
              <a:rPr lang="en-US" sz="2200" dirty="0" smtClean="0"/>
              <a:t>Constant is a programming element whose fixed value cannot be changed during the execution of the program.</a:t>
            </a:r>
            <a:endParaRPr lang="en-IN" sz="2200" dirty="0" smtClean="0"/>
          </a:p>
          <a:p>
            <a:r>
              <a:rPr lang="en-US" sz="2200" b="1" dirty="0" smtClean="0"/>
              <a:t>Numeric Constants:</a:t>
            </a:r>
            <a:r>
              <a:rPr lang="en-US" sz="2200" dirty="0" smtClean="0"/>
              <a:t> includes Decimal constants, Octal Constants, Hexadecimal Constants and Floating Constants.</a:t>
            </a:r>
            <a:endParaRPr lang="en-IN" sz="2200" dirty="0" smtClean="0"/>
          </a:p>
          <a:p>
            <a:r>
              <a:rPr lang="en-US" sz="2200" b="1" dirty="0" smtClean="0"/>
              <a:t>Non Numeric Constants:</a:t>
            </a:r>
            <a:r>
              <a:rPr lang="en-US" sz="2200" dirty="0" smtClean="0"/>
              <a:t> includes Character constants (which also includes escape sequence), String Constants, Boolean Constants.</a:t>
            </a:r>
            <a:endParaRPr lang="en-IN" sz="22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Constants in Java (Literals)</a:t>
            </a:r>
            <a:endParaRPr lang="en-IN" dirty="0"/>
          </a:p>
        </p:txBody>
      </p:sp>
      <p:sp>
        <p:nvSpPr>
          <p:cNvPr id="3" name="Content Placeholder 2"/>
          <p:cNvSpPr>
            <a:spLocks noGrp="1"/>
          </p:cNvSpPr>
          <p:nvPr>
            <p:ph sz="quarter" idx="1"/>
          </p:nvPr>
        </p:nvSpPr>
        <p:spPr/>
        <p:txBody>
          <a:bodyPr>
            <a:noAutofit/>
          </a:bodyPr>
          <a:lstStyle/>
          <a:p>
            <a:r>
              <a:rPr lang="en-US" sz="2200" b="1" dirty="0" smtClean="0">
                <a:cs typeface="Times New Roman" pitchFamily="18" charset="0"/>
              </a:rPr>
              <a:t>Integer Constants:</a:t>
            </a:r>
            <a:endParaRPr lang="en-IN" sz="2200" dirty="0" smtClean="0">
              <a:cs typeface="Times New Roman" pitchFamily="18" charset="0"/>
            </a:endParaRPr>
          </a:p>
          <a:p>
            <a:pPr lvl="1"/>
            <a:r>
              <a:rPr lang="en-US" sz="2200" dirty="0" smtClean="0">
                <a:cs typeface="Times New Roman" pitchFamily="18" charset="0"/>
              </a:rPr>
              <a:t>Decimal integer consists of a set of digits between ‘0’ to’ 9’ proceeded by an optional sign. (i.e. -) </a:t>
            </a:r>
          </a:p>
          <a:p>
            <a:pPr lvl="2"/>
            <a:r>
              <a:rPr lang="en-US" sz="2200" dirty="0" smtClean="0">
                <a:cs typeface="Times New Roman" pitchFamily="18" charset="0"/>
              </a:rPr>
              <a:t>Example: 345, -67</a:t>
            </a:r>
            <a:endParaRPr lang="en-IN" sz="2200" dirty="0" smtClean="0">
              <a:cs typeface="Times New Roman" pitchFamily="18" charset="0"/>
            </a:endParaRPr>
          </a:p>
          <a:p>
            <a:pPr lvl="1"/>
            <a:r>
              <a:rPr lang="en-US" sz="2200" dirty="0" smtClean="0">
                <a:cs typeface="Times New Roman" pitchFamily="18" charset="0"/>
              </a:rPr>
              <a:t>Octal integer constant consists of any combination of digits between ‘0’ to ‘7’ with leading 0 (zero). </a:t>
            </a:r>
          </a:p>
          <a:p>
            <a:pPr lvl="2"/>
            <a:r>
              <a:rPr lang="en-US" sz="2200" dirty="0" smtClean="0">
                <a:cs typeface="Times New Roman" pitchFamily="18" charset="0"/>
              </a:rPr>
              <a:t>Example: 042, -076</a:t>
            </a:r>
            <a:endParaRPr lang="en-IN" sz="2200" dirty="0" smtClean="0">
              <a:cs typeface="Times New Roman" pitchFamily="18" charset="0"/>
            </a:endParaRPr>
          </a:p>
          <a:p>
            <a:pPr lvl="1"/>
            <a:r>
              <a:rPr lang="en-US" sz="2200" dirty="0" smtClean="0">
                <a:cs typeface="Times New Roman" pitchFamily="18" charset="0"/>
              </a:rPr>
              <a:t>Hexadecimal integer constant consists of any combination of digits between ‘0’ to ‘F’ with leading 0X. </a:t>
            </a:r>
          </a:p>
          <a:p>
            <a:pPr lvl="2"/>
            <a:r>
              <a:rPr lang="en-US" sz="2200" dirty="0" smtClean="0">
                <a:cs typeface="Times New Roman" pitchFamily="18" charset="0"/>
              </a:rPr>
              <a:t>Example: 0X28, 0x7A</a:t>
            </a:r>
            <a:endParaRPr lang="en-IN" sz="2200" dirty="0" smtClean="0">
              <a:cs typeface="Times New Roman" pitchFamily="18" charset="0"/>
            </a:endParaRPr>
          </a:p>
        </p:txBody>
      </p:sp>
      <p:graphicFrame>
        <p:nvGraphicFramePr>
          <p:cNvPr id="4" name="Table 3"/>
          <p:cNvGraphicFramePr>
            <a:graphicFrameLocks noGrp="1"/>
          </p:cNvGraphicFramePr>
          <p:nvPr/>
        </p:nvGraphicFramePr>
        <p:xfrm>
          <a:off x="571472" y="5500702"/>
          <a:ext cx="8501122" cy="1051560"/>
        </p:xfrm>
        <a:graphic>
          <a:graphicData uri="http://schemas.openxmlformats.org/drawingml/2006/table">
            <a:tbl>
              <a:tblPr/>
              <a:tblGrid>
                <a:gridCol w="2809693"/>
                <a:gridCol w="2881736"/>
                <a:gridCol w="2809693"/>
              </a:tblGrid>
              <a:tr h="0">
                <a:tc gridSpan="3">
                  <a:txBody>
                    <a:bodyPr/>
                    <a:lstStyle/>
                    <a:p>
                      <a:pPr marL="457200" algn="just">
                        <a:lnSpc>
                          <a:spcPct val="115000"/>
                        </a:lnSpc>
                        <a:spcAft>
                          <a:spcPts val="0"/>
                        </a:spcAft>
                      </a:pPr>
                      <a:r>
                        <a:rPr lang="en-US" sz="2000" b="1" dirty="0">
                          <a:latin typeface="Times New Roman"/>
                          <a:ea typeface="Times New Roman"/>
                          <a:cs typeface="Times New Roman"/>
                        </a:rPr>
                        <a:t>For example, the value 43 may be represented by any of the following:</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r>
              <a:tr h="299092">
                <a:tc>
                  <a:txBody>
                    <a:bodyPr/>
                    <a:lstStyle/>
                    <a:p>
                      <a:pPr marL="457200" algn="just">
                        <a:lnSpc>
                          <a:spcPct val="115000"/>
                        </a:lnSpc>
                        <a:spcAft>
                          <a:spcPts val="0"/>
                        </a:spcAft>
                      </a:pPr>
                      <a:r>
                        <a:rPr lang="en-US" sz="2000" dirty="0">
                          <a:latin typeface="Times New Roman"/>
                          <a:ea typeface="Times New Roman"/>
                          <a:cs typeface="Times New Roman"/>
                        </a:rPr>
                        <a:t>43 (Decimal)</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2000" dirty="0">
                          <a:latin typeface="Times New Roman"/>
                          <a:ea typeface="Times New Roman"/>
                          <a:cs typeface="Times New Roman"/>
                        </a:rPr>
                        <a:t>053 (Octal)</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2000">
                          <a:latin typeface="Times New Roman"/>
                          <a:ea typeface="Times New Roman"/>
                          <a:cs typeface="Times New Roman"/>
                        </a:rPr>
                        <a:t>0X2B (Hexadecimal)</a:t>
                      </a:r>
                      <a:endParaRPr lang="en-IN"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457200" algn="just">
                        <a:lnSpc>
                          <a:spcPct val="115000"/>
                        </a:lnSpc>
                        <a:spcAft>
                          <a:spcPts val="0"/>
                        </a:spcAft>
                      </a:pPr>
                      <a:r>
                        <a:rPr lang="en-US" sz="2000">
                          <a:latin typeface="Times New Roman"/>
                          <a:ea typeface="Times New Roman"/>
                          <a:cs typeface="Times New Roman"/>
                        </a:rPr>
                        <a:t>0x2B (Hexadecimal)</a:t>
                      </a:r>
                      <a:endParaRPr lang="en-IN"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2000" dirty="0">
                          <a:latin typeface="Times New Roman"/>
                          <a:ea typeface="Times New Roman"/>
                          <a:cs typeface="Times New Roman"/>
                        </a:rPr>
                        <a:t>0X2b (Hexadecimal)</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2000" dirty="0">
                          <a:latin typeface="Times New Roman"/>
                          <a:ea typeface="Times New Roman"/>
                          <a:cs typeface="Times New Roman"/>
                        </a:rPr>
                        <a:t>0x2b (Hexadecimal)</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Constants in Java (Literals)</a:t>
            </a:r>
            <a:endParaRPr lang="en-IN" dirty="0"/>
          </a:p>
        </p:txBody>
      </p:sp>
      <p:sp>
        <p:nvSpPr>
          <p:cNvPr id="3" name="Content Placeholder 2"/>
          <p:cNvSpPr>
            <a:spLocks noGrp="1"/>
          </p:cNvSpPr>
          <p:nvPr>
            <p:ph sz="quarter" idx="1"/>
          </p:nvPr>
        </p:nvSpPr>
        <p:spPr/>
        <p:txBody>
          <a:bodyPr>
            <a:noAutofit/>
          </a:bodyPr>
          <a:lstStyle/>
          <a:p>
            <a:r>
              <a:rPr lang="en-US" sz="2200" b="1" dirty="0" smtClean="0">
                <a:latin typeface="Times New Roman" pitchFamily="18" charset="0"/>
                <a:cs typeface="Times New Roman" pitchFamily="18" charset="0"/>
              </a:rPr>
              <a:t>Floating-point Constant:</a:t>
            </a:r>
            <a:r>
              <a:rPr lang="en-US" sz="2200" dirty="0" smtClean="0">
                <a:latin typeface="Times New Roman" pitchFamily="18" charset="0"/>
                <a:cs typeface="Times New Roman" pitchFamily="18" charset="0"/>
              </a:rPr>
              <a:t> A Floating-point literal is represented by a floating-point number, and is used for both float and double data types. </a:t>
            </a:r>
            <a:endParaRPr lang="en-IN" sz="2200" dirty="0" smtClean="0">
              <a:latin typeface="Times New Roman" pitchFamily="18" charset="0"/>
              <a:cs typeface="Times New Roman" pitchFamily="18" charset="0"/>
            </a:endParaRPr>
          </a:p>
          <a:p>
            <a:pPr lvl="1"/>
            <a:r>
              <a:rPr lang="en-US" sz="2200" b="1" dirty="0" smtClean="0">
                <a:latin typeface="Times New Roman" pitchFamily="18" charset="0"/>
                <a:cs typeface="Times New Roman" pitchFamily="18" charset="0"/>
              </a:rPr>
              <a:t>Standard notation</a:t>
            </a:r>
            <a:r>
              <a:rPr lang="en-US" sz="2200" dirty="0" smtClean="0">
                <a:latin typeface="Times New Roman" pitchFamily="18" charset="0"/>
                <a:cs typeface="Times New Roman" pitchFamily="18" charset="0"/>
              </a:rPr>
              <a:t> consists of whole number followed by decimal point and fractional digit. </a:t>
            </a:r>
          </a:p>
          <a:p>
            <a:pPr lvl="2">
              <a:buNone/>
            </a:pPr>
            <a:r>
              <a:rPr lang="en-US" sz="2200" b="1" dirty="0" smtClean="0">
                <a:latin typeface="Times New Roman" pitchFamily="18" charset="0"/>
                <a:cs typeface="Times New Roman" pitchFamily="18" charset="0"/>
              </a:rPr>
              <a:t>	Example:</a:t>
            </a:r>
            <a:r>
              <a:rPr lang="en-US" sz="2200" dirty="0" smtClean="0">
                <a:latin typeface="Times New Roman" pitchFamily="18" charset="0"/>
                <a:cs typeface="Times New Roman" pitchFamily="18" charset="0"/>
              </a:rPr>
              <a:t> 	12.34, -1.34</a:t>
            </a:r>
            <a:endParaRPr lang="en-IN" sz="2200" dirty="0" smtClean="0">
              <a:latin typeface="Times New Roman" pitchFamily="18" charset="0"/>
              <a:cs typeface="Times New Roman" pitchFamily="18" charset="0"/>
            </a:endParaRPr>
          </a:p>
          <a:p>
            <a:pPr lvl="1"/>
            <a:r>
              <a:rPr lang="en-US" sz="2200" b="1" dirty="0" smtClean="0">
                <a:latin typeface="Times New Roman" pitchFamily="18" charset="0"/>
                <a:cs typeface="Times New Roman" pitchFamily="18" charset="0"/>
              </a:rPr>
              <a:t>Scientific notations</a:t>
            </a:r>
            <a:r>
              <a:rPr lang="en-US" sz="2200" dirty="0" smtClean="0">
                <a:latin typeface="Times New Roman" pitchFamily="18" charset="0"/>
                <a:cs typeface="Times New Roman" pitchFamily="18" charset="0"/>
              </a:rPr>
              <a:t> consist of floating point numbers plus (+) suffix that specifies power of 10 by which the number is to be multiplied. It is also called exponential notation.</a:t>
            </a:r>
            <a:endParaRPr lang="en-IN" sz="2200" dirty="0" smtClean="0">
              <a:latin typeface="Times New Roman" pitchFamily="18" charset="0"/>
              <a:cs typeface="Times New Roman" pitchFamily="18" charset="0"/>
            </a:endParaRPr>
          </a:p>
          <a:p>
            <a:pPr lvl="2">
              <a:buNone/>
            </a:pPr>
            <a:r>
              <a:rPr lang="en-US" sz="2200" b="1" dirty="0" smtClean="0">
                <a:latin typeface="Times New Roman" pitchFamily="18" charset="0"/>
                <a:cs typeface="Times New Roman" pitchFamily="18" charset="0"/>
              </a:rPr>
              <a:t>	Example:</a:t>
            </a:r>
            <a:r>
              <a:rPr lang="en-US" sz="2200" dirty="0" smtClean="0">
                <a:latin typeface="Times New Roman" pitchFamily="18" charset="0"/>
                <a:cs typeface="Times New Roman" pitchFamily="18" charset="0"/>
              </a:rPr>
              <a:t> 	1.25E+8. </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The suffix f or F indicating a floating-point number such as </a:t>
            </a:r>
            <a:r>
              <a:rPr lang="en-US" sz="2200" dirty="0" smtClean="0">
                <a:solidFill>
                  <a:srgbClr val="FF0000"/>
                </a:solidFill>
                <a:latin typeface="Times New Roman" pitchFamily="18" charset="0"/>
                <a:cs typeface="Times New Roman" pitchFamily="18" charset="0"/>
              </a:rPr>
              <a:t>2.345f</a:t>
            </a:r>
            <a:endParaRPr lang="en-IN" sz="2200" dirty="0" smtClean="0">
              <a:solidFill>
                <a:srgbClr val="FF0000"/>
              </a:solidFill>
              <a:latin typeface="Times New Roman" pitchFamily="18" charset="0"/>
              <a:cs typeface="Times New Roman" pitchFamily="18" charset="0"/>
            </a:endParaRPr>
          </a:p>
          <a:p>
            <a:r>
              <a:rPr lang="en-US" sz="2200" dirty="0" smtClean="0">
                <a:latin typeface="Times New Roman" pitchFamily="18" charset="0"/>
                <a:cs typeface="Times New Roman" pitchFamily="18" charset="0"/>
              </a:rPr>
              <a:t>The suffix d or D indicating a double number such as </a:t>
            </a:r>
            <a:r>
              <a:rPr lang="en-US" sz="2200" dirty="0" smtClean="0">
                <a:solidFill>
                  <a:srgbClr val="FF0000"/>
                </a:solidFill>
                <a:latin typeface="Times New Roman" pitchFamily="18" charset="0"/>
                <a:cs typeface="Times New Roman" pitchFamily="18" charset="0"/>
              </a:rPr>
              <a:t>26d</a:t>
            </a:r>
            <a:endParaRPr lang="en-IN" sz="2200" dirty="0" smtClean="0">
              <a:solidFill>
                <a:srgbClr val="FF0000"/>
              </a:solidFill>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If the suffix f or d is not used, the literal is interpreted as of type double.</a:t>
            </a:r>
            <a:endParaRPr lang="en-IN" sz="22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Constants in Java (Literals)</a:t>
            </a:r>
            <a:endParaRPr lang="en-IN" dirty="0"/>
          </a:p>
        </p:txBody>
      </p:sp>
      <p:sp>
        <p:nvSpPr>
          <p:cNvPr id="3" name="Content Placeholder 2"/>
          <p:cNvSpPr>
            <a:spLocks noGrp="1"/>
          </p:cNvSpPr>
          <p:nvPr>
            <p:ph sz="quarter" idx="1"/>
          </p:nvPr>
        </p:nvSpPr>
        <p:spPr/>
        <p:txBody>
          <a:bodyPr>
            <a:noAutofit/>
          </a:bodyPr>
          <a:lstStyle/>
          <a:p>
            <a:r>
              <a:rPr lang="en-US" sz="2200" b="1" dirty="0" smtClean="0">
                <a:cs typeface="Times New Roman" pitchFamily="18" charset="0"/>
              </a:rPr>
              <a:t>Character Constant: </a:t>
            </a:r>
            <a:r>
              <a:rPr lang="en-US" sz="2200" dirty="0" smtClean="0">
                <a:cs typeface="Times New Roman" pitchFamily="18" charset="0"/>
              </a:rPr>
              <a:t>A literal character is represented inside pair of single quotes such as following:</a:t>
            </a:r>
            <a:endParaRPr lang="en-IN" sz="2200" dirty="0" smtClean="0">
              <a:cs typeface="Times New Roman" pitchFamily="18" charset="0"/>
            </a:endParaRPr>
          </a:p>
          <a:p>
            <a:pPr lvl="1">
              <a:buNone/>
            </a:pPr>
            <a:r>
              <a:rPr lang="en-US" sz="2200" b="1" dirty="0" smtClean="0">
                <a:cs typeface="Times New Roman" pitchFamily="18" charset="0"/>
              </a:rPr>
              <a:t>Example:</a:t>
            </a:r>
          </a:p>
          <a:p>
            <a:pPr lvl="1">
              <a:buNone/>
            </a:pPr>
            <a:r>
              <a:rPr lang="en-US" sz="2200" b="1" dirty="0" smtClean="0">
                <a:cs typeface="Times New Roman" pitchFamily="18" charset="0"/>
              </a:rPr>
              <a:t>		</a:t>
            </a:r>
            <a:r>
              <a:rPr lang="en-US" sz="2200" dirty="0" smtClean="0">
                <a:cs typeface="Times New Roman" pitchFamily="18" charset="0"/>
              </a:rPr>
              <a:t>char </a:t>
            </a:r>
            <a:r>
              <a:rPr lang="en-US" sz="2200" dirty="0" err="1" smtClean="0">
                <a:cs typeface="Times New Roman" pitchFamily="18" charset="0"/>
              </a:rPr>
              <a:t>ch</a:t>
            </a:r>
            <a:r>
              <a:rPr lang="en-US" sz="2200" dirty="0" smtClean="0">
                <a:cs typeface="Times New Roman" pitchFamily="18" charset="0"/>
              </a:rPr>
              <a:t>=’a’;</a:t>
            </a:r>
            <a:endParaRPr lang="en-IN" sz="2200" dirty="0" smtClean="0">
              <a:cs typeface="Times New Roman" pitchFamily="18" charset="0"/>
            </a:endParaRPr>
          </a:p>
          <a:p>
            <a:pPr lvl="1">
              <a:buNone/>
            </a:pPr>
            <a:r>
              <a:rPr lang="en-IN" sz="2200" dirty="0" smtClean="0">
                <a:cs typeface="Times New Roman" pitchFamily="18" charset="0"/>
              </a:rPr>
              <a:t>		</a:t>
            </a:r>
            <a:r>
              <a:rPr lang="en-US" sz="2200" dirty="0" smtClean="0">
                <a:cs typeface="Times New Roman" pitchFamily="18" charset="0"/>
              </a:rPr>
              <a:t>char </a:t>
            </a:r>
            <a:r>
              <a:rPr lang="en-US" sz="2200" dirty="0" err="1" smtClean="0">
                <a:cs typeface="Times New Roman" pitchFamily="18" charset="0"/>
              </a:rPr>
              <a:t>ch</a:t>
            </a:r>
            <a:r>
              <a:rPr lang="en-US" sz="2200" dirty="0" smtClean="0">
                <a:cs typeface="Times New Roman" pitchFamily="18" charset="0"/>
              </a:rPr>
              <a:t>=65; //integer literal representation of character A.</a:t>
            </a:r>
            <a:endParaRPr lang="en-IN" sz="2200" dirty="0" smtClean="0">
              <a:cs typeface="Times New Roman" pitchFamily="18" charset="0"/>
            </a:endParaRPr>
          </a:p>
          <a:p>
            <a:pPr lvl="1">
              <a:buNone/>
            </a:pPr>
            <a:r>
              <a:rPr lang="en-IN" sz="2200" dirty="0" smtClean="0">
                <a:cs typeface="Times New Roman" pitchFamily="18" charset="0"/>
              </a:rPr>
              <a:t>       </a:t>
            </a:r>
            <a:r>
              <a:rPr lang="en-US" sz="2200" dirty="0" smtClean="0">
                <a:cs typeface="Times New Roman" pitchFamily="18" charset="0"/>
              </a:rPr>
              <a:t>char </a:t>
            </a:r>
            <a:r>
              <a:rPr lang="en-US" sz="2200" dirty="0" err="1" smtClean="0">
                <a:cs typeface="Times New Roman" pitchFamily="18" charset="0"/>
              </a:rPr>
              <a:t>ch</a:t>
            </a:r>
            <a:r>
              <a:rPr lang="en-US" sz="2200" dirty="0" smtClean="0">
                <a:cs typeface="Times New Roman" pitchFamily="18" charset="0"/>
              </a:rPr>
              <a:t>=0102; //octal literal representation of character B.</a:t>
            </a:r>
            <a:endParaRPr lang="en-IN" sz="2200" dirty="0" smtClean="0">
              <a:cs typeface="Times New Roman" pitchFamily="18" charset="0"/>
            </a:endParaRPr>
          </a:p>
          <a:p>
            <a:pPr lvl="1">
              <a:buNone/>
            </a:pPr>
            <a:r>
              <a:rPr lang="en-US" sz="2200" dirty="0" smtClean="0">
                <a:cs typeface="Times New Roman" pitchFamily="18" charset="0"/>
              </a:rPr>
              <a:t>		char </a:t>
            </a:r>
            <a:r>
              <a:rPr lang="en-US" sz="2200" dirty="0" err="1" smtClean="0">
                <a:cs typeface="Times New Roman" pitchFamily="18" charset="0"/>
              </a:rPr>
              <a:t>ch</a:t>
            </a:r>
            <a:r>
              <a:rPr lang="en-US" sz="2200" dirty="0" smtClean="0">
                <a:cs typeface="Times New Roman" pitchFamily="18" charset="0"/>
              </a:rPr>
              <a:t>=0X43 //hexadecimal literal representation of character C.</a:t>
            </a:r>
            <a:endParaRPr lang="en-IN" sz="2200" dirty="0" smtClean="0">
              <a:cs typeface="Times New Roman" pitchFamily="18" charset="0"/>
            </a:endParaRPr>
          </a:p>
          <a:p>
            <a:r>
              <a:rPr lang="en-US" sz="2200" dirty="0" smtClean="0">
                <a:cs typeface="Times New Roman" pitchFamily="18" charset="0"/>
              </a:rPr>
              <a:t>Some characters used with backslash (\) give escape sequences in output.</a:t>
            </a:r>
            <a:endParaRPr lang="en-IN" sz="2200" dirty="0" smtClean="0">
              <a:cs typeface="Times New Roman" pitchFamily="18" charset="0"/>
            </a:endParaRPr>
          </a:p>
          <a:p>
            <a:pPr>
              <a:buNone/>
            </a:pPr>
            <a:r>
              <a:rPr lang="en-US" sz="2200" dirty="0" smtClean="0">
                <a:cs typeface="Times New Roman" pitchFamily="18" charset="0"/>
              </a:rPr>
              <a:t>		\n </a:t>
            </a:r>
            <a:r>
              <a:rPr lang="en-US" sz="2200" dirty="0" smtClean="0">
                <a:cs typeface="Times New Roman" pitchFamily="18" charset="0"/>
                <a:sym typeface="Wingdings"/>
              </a:rPr>
              <a:t></a:t>
            </a:r>
            <a:r>
              <a:rPr lang="en-US" sz="2200" dirty="0" smtClean="0">
                <a:cs typeface="Times New Roman" pitchFamily="18" charset="0"/>
              </a:rPr>
              <a:t> new line		\t </a:t>
            </a:r>
            <a:r>
              <a:rPr lang="en-US" sz="2200" dirty="0" smtClean="0">
                <a:cs typeface="Times New Roman" pitchFamily="18" charset="0"/>
                <a:sym typeface="Wingdings"/>
              </a:rPr>
              <a:t></a:t>
            </a:r>
            <a:r>
              <a:rPr lang="en-US" sz="2200" dirty="0" smtClean="0">
                <a:cs typeface="Times New Roman" pitchFamily="18" charset="0"/>
              </a:rPr>
              <a:t> tab i.e. 8 blank spaces</a:t>
            </a:r>
            <a:endParaRPr lang="en-IN" sz="2200" dirty="0" smtClean="0">
              <a:cs typeface="Times New Roman" pitchFamily="18" charset="0"/>
            </a:endParaRPr>
          </a:p>
          <a:p>
            <a:pPr>
              <a:buNone/>
            </a:pPr>
            <a:r>
              <a:rPr lang="en-US" sz="2200" dirty="0" smtClean="0">
                <a:cs typeface="Times New Roman" pitchFamily="18" charset="0"/>
              </a:rPr>
              <a:t> 		\f </a:t>
            </a:r>
            <a:r>
              <a:rPr lang="en-US" sz="2200" dirty="0" smtClean="0">
                <a:cs typeface="Times New Roman" pitchFamily="18" charset="0"/>
                <a:sym typeface="Wingdings"/>
              </a:rPr>
              <a:t></a:t>
            </a:r>
            <a:r>
              <a:rPr lang="en-US" sz="2200" dirty="0" smtClean="0">
                <a:cs typeface="Times New Roman" pitchFamily="18" charset="0"/>
              </a:rPr>
              <a:t> form feed		\r </a:t>
            </a:r>
            <a:r>
              <a:rPr lang="en-US" sz="2200" dirty="0" smtClean="0">
                <a:cs typeface="Times New Roman" pitchFamily="18" charset="0"/>
                <a:sym typeface="Wingdings"/>
              </a:rPr>
              <a:t></a:t>
            </a:r>
            <a:r>
              <a:rPr lang="en-US" sz="2200" dirty="0" smtClean="0">
                <a:cs typeface="Times New Roman" pitchFamily="18" charset="0"/>
              </a:rPr>
              <a:t> carriage return</a:t>
            </a:r>
            <a:endParaRPr lang="en-IN" sz="2200" b="1" dirty="0" smtClean="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Constants in Java (Literals)</a:t>
            </a:r>
            <a:endParaRPr lang="en-IN" dirty="0"/>
          </a:p>
        </p:txBody>
      </p:sp>
      <p:sp>
        <p:nvSpPr>
          <p:cNvPr id="3" name="Content Placeholder 2"/>
          <p:cNvSpPr>
            <a:spLocks noGrp="1"/>
          </p:cNvSpPr>
          <p:nvPr>
            <p:ph sz="quarter" idx="1"/>
          </p:nvPr>
        </p:nvSpPr>
        <p:spPr/>
        <p:txBody>
          <a:bodyPr>
            <a:noAutofit/>
          </a:bodyPr>
          <a:lstStyle/>
          <a:p>
            <a:r>
              <a:rPr lang="en-US" sz="2200" b="1" dirty="0" smtClean="0">
                <a:cs typeface="Times New Roman" pitchFamily="18" charset="0"/>
              </a:rPr>
              <a:t>String Constant: </a:t>
            </a:r>
            <a:r>
              <a:rPr lang="en-US" sz="2200" dirty="0" smtClean="0">
                <a:cs typeface="Times New Roman" pitchFamily="18" charset="0"/>
              </a:rPr>
              <a:t>String literals are the values of the String class objects. String literals are a collection of characters enclosed within double quotes.</a:t>
            </a:r>
            <a:endParaRPr lang="en-IN" sz="2200" dirty="0" smtClean="0">
              <a:cs typeface="Times New Roman" pitchFamily="18" charset="0"/>
            </a:endParaRPr>
          </a:p>
          <a:p>
            <a:pPr lvl="1">
              <a:buNone/>
            </a:pPr>
            <a:r>
              <a:rPr lang="en-US" sz="2200" dirty="0" smtClean="0">
                <a:cs typeface="Times New Roman" pitchFamily="18" charset="0"/>
              </a:rPr>
              <a:t>	Example: 	String </a:t>
            </a:r>
            <a:r>
              <a:rPr lang="en-US" sz="2200" dirty="0" err="1" smtClean="0">
                <a:cs typeface="Times New Roman" pitchFamily="18" charset="0"/>
              </a:rPr>
              <a:t>msg</a:t>
            </a:r>
            <a:r>
              <a:rPr lang="en-US" sz="2200" dirty="0" smtClean="0">
                <a:cs typeface="Times New Roman" pitchFamily="18" charset="0"/>
              </a:rPr>
              <a:t>=“Welcome to JAVA”;</a:t>
            </a:r>
            <a:endParaRPr lang="en-IN" sz="2200" dirty="0" smtClean="0">
              <a:cs typeface="Times New Roman" pitchFamily="18" charset="0"/>
            </a:endParaRPr>
          </a:p>
          <a:p>
            <a:endParaRPr lang="en-IN" sz="2200" dirty="0" smtClean="0">
              <a:cs typeface="Times New Roman" pitchFamily="18" charset="0"/>
            </a:endParaRPr>
          </a:p>
          <a:p>
            <a:r>
              <a:rPr lang="en-US" sz="2200" b="1" dirty="0" smtClean="0">
                <a:cs typeface="Times New Roman" pitchFamily="18" charset="0"/>
              </a:rPr>
              <a:t>Boolean Constants</a:t>
            </a:r>
            <a:r>
              <a:rPr lang="en-US" sz="2200" dirty="0" smtClean="0">
                <a:cs typeface="Times New Roman" pitchFamily="18" charset="0"/>
              </a:rPr>
              <a:t>: A variable of Boolean type can have only one of two possible values, </a:t>
            </a:r>
            <a:r>
              <a:rPr lang="en-US" sz="2200" b="1" dirty="0" smtClean="0">
                <a:cs typeface="Times New Roman" pitchFamily="18" charset="0"/>
              </a:rPr>
              <a:t>true</a:t>
            </a:r>
            <a:r>
              <a:rPr lang="en-US" sz="2200" dirty="0" smtClean="0">
                <a:cs typeface="Times New Roman" pitchFamily="18" charset="0"/>
              </a:rPr>
              <a:t> or </a:t>
            </a:r>
            <a:r>
              <a:rPr lang="en-US" sz="2200" b="1" dirty="0" smtClean="0">
                <a:cs typeface="Times New Roman" pitchFamily="18" charset="0"/>
              </a:rPr>
              <a:t>false. </a:t>
            </a:r>
            <a:r>
              <a:rPr lang="en-US" sz="2200" dirty="0" smtClean="0">
                <a:cs typeface="Times New Roman" pitchFamily="18" charset="0"/>
              </a:rPr>
              <a:t>Therefore, these two values are the only available Boolean literals.</a:t>
            </a:r>
            <a:endParaRPr lang="en-IN" sz="2200" dirty="0" smtClean="0">
              <a:cs typeface="Times New Roman" pitchFamily="18" charset="0"/>
            </a:endParaRPr>
          </a:p>
          <a:p>
            <a:pPr lvl="1">
              <a:buNone/>
            </a:pPr>
            <a:r>
              <a:rPr lang="en-US" sz="2200" dirty="0" smtClean="0">
                <a:cs typeface="Times New Roman" pitchFamily="18" charset="0"/>
              </a:rPr>
              <a:t>	Example: 	</a:t>
            </a:r>
            <a:r>
              <a:rPr lang="en-US" sz="2200" dirty="0" err="1" smtClean="0">
                <a:cs typeface="Times New Roman" pitchFamily="18" charset="0"/>
              </a:rPr>
              <a:t>boolean</a:t>
            </a:r>
            <a:r>
              <a:rPr lang="en-US" sz="2200" dirty="0" smtClean="0">
                <a:cs typeface="Times New Roman" pitchFamily="18" charset="0"/>
              </a:rPr>
              <a:t> </a:t>
            </a:r>
            <a:r>
              <a:rPr lang="en-US" sz="2200" dirty="0" err="1" smtClean="0">
                <a:cs typeface="Times New Roman" pitchFamily="18" charset="0"/>
              </a:rPr>
              <a:t>ans</a:t>
            </a:r>
            <a:r>
              <a:rPr lang="en-US" sz="2200" dirty="0" smtClean="0">
                <a:cs typeface="Times New Roman" pitchFamily="18" charset="0"/>
              </a:rPr>
              <a:t>=true;</a:t>
            </a:r>
            <a:endParaRPr lang="en-IN" sz="2200" dirty="0" smtClean="0">
              <a:cs typeface="Times New Roman" pitchFamily="18" charset="0"/>
            </a:endParaRPr>
          </a:p>
          <a:p>
            <a:pPr lvl="1">
              <a:buNone/>
            </a:pPr>
            <a:r>
              <a:rPr lang="en-US" sz="2200" dirty="0" smtClean="0">
                <a:cs typeface="Times New Roman" pitchFamily="18" charset="0"/>
              </a:rPr>
              <a:t>			</a:t>
            </a:r>
            <a:r>
              <a:rPr lang="en-US" sz="2200" dirty="0" err="1" smtClean="0">
                <a:cs typeface="Times New Roman" pitchFamily="18" charset="0"/>
              </a:rPr>
              <a:t>boolean</a:t>
            </a:r>
            <a:r>
              <a:rPr lang="en-US" sz="2200" dirty="0" smtClean="0">
                <a:cs typeface="Times New Roman" pitchFamily="18" charset="0"/>
              </a:rPr>
              <a:t> </a:t>
            </a:r>
            <a:r>
              <a:rPr lang="en-US" sz="2200" dirty="0" err="1" smtClean="0">
                <a:cs typeface="Times New Roman" pitchFamily="18" charset="0"/>
              </a:rPr>
              <a:t>ans</a:t>
            </a:r>
            <a:r>
              <a:rPr lang="en-US" sz="2200" dirty="0" smtClean="0">
                <a:cs typeface="Times New Roman" pitchFamily="18" charset="0"/>
              </a:rPr>
              <a:t>=false;</a:t>
            </a:r>
            <a:endParaRPr lang="en-IN" sz="2200" dirty="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Variable</a:t>
            </a:r>
            <a:endParaRPr lang="en-IN" dirty="0" smtClean="0"/>
          </a:p>
        </p:txBody>
      </p:sp>
      <p:sp>
        <p:nvSpPr>
          <p:cNvPr id="3" name="Content Placeholder 2"/>
          <p:cNvSpPr>
            <a:spLocks noGrp="1"/>
          </p:cNvSpPr>
          <p:nvPr>
            <p:ph sz="quarter" idx="1"/>
          </p:nvPr>
        </p:nvSpPr>
        <p:spPr/>
        <p:txBody>
          <a:bodyPr>
            <a:noAutofit/>
          </a:bodyPr>
          <a:lstStyle/>
          <a:p>
            <a:r>
              <a:rPr lang="en-US" sz="2200" dirty="0" smtClean="0"/>
              <a:t>The variable is the basic unit of storage location used to store the data value in Java program. </a:t>
            </a:r>
          </a:p>
          <a:p>
            <a:r>
              <a:rPr lang="en-US" sz="2200" dirty="0" smtClean="0"/>
              <a:t>A variable defined by the combination of identifier type and an optional initialize. </a:t>
            </a:r>
          </a:p>
          <a:p>
            <a:r>
              <a:rPr lang="en-US" sz="2200" dirty="0" smtClean="0"/>
              <a:t>All variable used have been declared before it is used in the program. </a:t>
            </a:r>
          </a:p>
          <a:p>
            <a:r>
              <a:rPr lang="en-US" sz="2200" dirty="0" smtClean="0"/>
              <a:t>Variable may take different value at different time during the execution of the program.</a:t>
            </a:r>
            <a:endParaRPr lang="en-IN" sz="22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a:t>
            </a:r>
            <a:endParaRPr lang="en-IN" dirty="0"/>
          </a:p>
        </p:txBody>
      </p:sp>
      <p:sp>
        <p:nvSpPr>
          <p:cNvPr id="3" name="Content Placeholder 2"/>
          <p:cNvSpPr>
            <a:spLocks noGrp="1"/>
          </p:cNvSpPr>
          <p:nvPr>
            <p:ph sz="quarter" idx="1"/>
          </p:nvPr>
        </p:nvSpPr>
        <p:spPr/>
        <p:txBody>
          <a:bodyPr>
            <a:noAutofit/>
          </a:bodyPr>
          <a:lstStyle/>
          <a:p>
            <a:r>
              <a:rPr lang="en-US" sz="2200" dirty="0" smtClean="0"/>
              <a:t>Variable name may consist of alphabets, digits, underscore and also following condition:</a:t>
            </a:r>
            <a:endParaRPr lang="en-IN" sz="2200" dirty="0" smtClean="0"/>
          </a:p>
          <a:p>
            <a:pPr lvl="0"/>
            <a:r>
              <a:rPr lang="en-US" sz="2200" dirty="0" smtClean="0"/>
              <a:t>They must not begin with digits.</a:t>
            </a:r>
            <a:endParaRPr lang="en-IN" sz="2200" dirty="0" smtClean="0"/>
          </a:p>
          <a:p>
            <a:pPr lvl="0"/>
            <a:r>
              <a:rPr lang="en-US" sz="2200" dirty="0" smtClean="0"/>
              <a:t>Uppercase and lowercase are distinct.</a:t>
            </a:r>
            <a:endParaRPr lang="en-IN" sz="2200" dirty="0" smtClean="0"/>
          </a:p>
          <a:p>
            <a:pPr lvl="0"/>
            <a:r>
              <a:rPr lang="en-US" sz="2200" dirty="0" smtClean="0"/>
              <a:t>It should not be a Keyword.</a:t>
            </a:r>
            <a:endParaRPr lang="en-IN" sz="2200" dirty="0" smtClean="0"/>
          </a:p>
          <a:p>
            <a:pPr lvl="0"/>
            <a:r>
              <a:rPr lang="en-US" sz="2200" dirty="0" smtClean="0"/>
              <a:t>White spaces (Blank spaces) are not allowed.</a:t>
            </a:r>
            <a:endParaRPr lang="en-IN" sz="2200" dirty="0" smtClean="0"/>
          </a:p>
          <a:p>
            <a:pPr lvl="0"/>
            <a:r>
              <a:rPr lang="en-US" sz="2200" dirty="0" smtClean="0"/>
              <a:t>You can initialize the variable by specifying an equal sign (=) and a value.</a:t>
            </a:r>
            <a:endParaRPr lang="en-IN" sz="22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a:t>
            </a:r>
            <a:endParaRPr lang="en-IN" dirty="0"/>
          </a:p>
        </p:txBody>
      </p:sp>
      <p:sp>
        <p:nvSpPr>
          <p:cNvPr id="3" name="Content Placeholder 2"/>
          <p:cNvSpPr>
            <a:spLocks noGrp="1"/>
          </p:cNvSpPr>
          <p:nvPr>
            <p:ph sz="quarter" idx="1"/>
          </p:nvPr>
        </p:nvSpPr>
        <p:spPr/>
        <p:txBody>
          <a:bodyPr>
            <a:noAutofit/>
          </a:bodyPr>
          <a:lstStyle/>
          <a:p>
            <a:r>
              <a:rPr lang="en-US" sz="2200" b="1" dirty="0" smtClean="0"/>
              <a:t>Instance variable:</a:t>
            </a:r>
            <a:r>
              <a:rPr lang="en-US" sz="2200" dirty="0" smtClean="0"/>
              <a:t> When the objects are instantiated instance variables are created and therefore they are associated with the object. They take different values each object. </a:t>
            </a:r>
            <a:endParaRPr lang="en-IN" sz="2200" dirty="0" smtClean="0"/>
          </a:p>
          <a:p>
            <a:r>
              <a:rPr lang="en-US" sz="2200" b="1" dirty="0" smtClean="0"/>
              <a:t>Class variable:</a:t>
            </a:r>
            <a:r>
              <a:rPr lang="en-US" sz="2200" dirty="0" smtClean="0"/>
              <a:t> Class variables are global to a class and belong to the entire set of objects that same class creates.</a:t>
            </a:r>
            <a:endParaRPr lang="en-IN" sz="2200" dirty="0" smtClean="0"/>
          </a:p>
          <a:p>
            <a:r>
              <a:rPr lang="en-US" sz="2200" b="1" dirty="0" smtClean="0"/>
              <a:t>Local variable:</a:t>
            </a:r>
            <a:r>
              <a:rPr lang="en-US" sz="2200" dirty="0" smtClean="0"/>
              <a:t> Variables declared used inside the method are called local variables However these variable to be declared within the block ({}).</a:t>
            </a:r>
            <a:endParaRPr lang="en-IN" sz="22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Data types</a:t>
            </a:r>
            <a:endParaRPr lang="en-IN" dirty="0" smtClean="0"/>
          </a:p>
        </p:txBody>
      </p:sp>
      <p:sp>
        <p:nvSpPr>
          <p:cNvPr id="3" name="Content Placeholder 2"/>
          <p:cNvSpPr>
            <a:spLocks noGrp="1"/>
          </p:cNvSpPr>
          <p:nvPr>
            <p:ph sz="quarter" idx="1"/>
          </p:nvPr>
        </p:nvSpPr>
        <p:spPr/>
        <p:txBody>
          <a:bodyPr>
            <a:normAutofit/>
          </a:bodyPr>
          <a:lstStyle/>
          <a:p>
            <a:r>
              <a:rPr lang="en-US" sz="2200" dirty="0" smtClean="0"/>
              <a:t>Every variable in java has a data type. </a:t>
            </a:r>
          </a:p>
          <a:p>
            <a:r>
              <a:rPr lang="en-US" sz="2200" dirty="0" smtClean="0"/>
              <a:t>Data type specifies the size and type of values that can be stored.</a:t>
            </a:r>
          </a:p>
          <a:p>
            <a:r>
              <a:rPr lang="en-US" sz="2200" dirty="0" smtClean="0"/>
              <a:t>Every variable, method,</a:t>
            </a:r>
          </a:p>
          <a:p>
            <a:pPr>
              <a:buNone/>
            </a:pPr>
            <a:r>
              <a:rPr lang="en-US" sz="2200" dirty="0" smtClean="0"/>
              <a:t>	expression has strict to </a:t>
            </a:r>
          </a:p>
          <a:p>
            <a:pPr>
              <a:buNone/>
            </a:pPr>
            <a:r>
              <a:rPr lang="en-US" sz="2200" dirty="0" smtClean="0"/>
              <a:t>	particular data type. </a:t>
            </a:r>
            <a:endParaRPr lang="en-IN" sz="2200" dirty="0"/>
          </a:p>
        </p:txBody>
      </p:sp>
      <p:pic>
        <p:nvPicPr>
          <p:cNvPr id="4" name="Picture 3"/>
          <p:cNvPicPr/>
          <p:nvPr/>
        </p:nvPicPr>
        <p:blipFill>
          <a:blip r:embed="rId2"/>
          <a:srcRect/>
          <a:stretch>
            <a:fillRect/>
          </a:stretch>
        </p:blipFill>
        <p:spPr bwMode="auto">
          <a:xfrm>
            <a:off x="4143372" y="2428868"/>
            <a:ext cx="5000628" cy="44291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types</a:t>
            </a:r>
            <a:endParaRPr lang="en-IN" dirty="0"/>
          </a:p>
        </p:txBody>
      </p:sp>
      <p:sp>
        <p:nvSpPr>
          <p:cNvPr id="3" name="Content Placeholder 2"/>
          <p:cNvSpPr>
            <a:spLocks noGrp="1"/>
          </p:cNvSpPr>
          <p:nvPr>
            <p:ph sz="quarter" idx="1"/>
          </p:nvPr>
        </p:nvSpPr>
        <p:spPr/>
        <p:txBody>
          <a:bodyPr>
            <a:normAutofit/>
          </a:bodyPr>
          <a:lstStyle/>
          <a:p>
            <a:pPr lvl="0"/>
            <a:r>
              <a:rPr lang="en-US" sz="2200" dirty="0" smtClean="0"/>
              <a:t>Data types:</a:t>
            </a:r>
            <a:endParaRPr lang="en-IN" sz="2200" dirty="0" smtClean="0"/>
          </a:p>
          <a:p>
            <a:pPr lvl="1"/>
            <a:r>
              <a:rPr lang="en-US" sz="2200" dirty="0" smtClean="0"/>
              <a:t>There are eight primitive data types in Java</a:t>
            </a:r>
            <a:endParaRPr lang="en-IN" sz="2200" dirty="0"/>
          </a:p>
        </p:txBody>
      </p:sp>
      <p:graphicFrame>
        <p:nvGraphicFramePr>
          <p:cNvPr id="7" name="Table 6"/>
          <p:cNvGraphicFramePr>
            <a:graphicFrameLocks noGrp="1"/>
          </p:cNvGraphicFramePr>
          <p:nvPr/>
        </p:nvGraphicFramePr>
        <p:xfrm>
          <a:off x="153762" y="2857496"/>
          <a:ext cx="8847394" cy="2857518"/>
        </p:xfrm>
        <a:graphic>
          <a:graphicData uri="http://schemas.openxmlformats.org/drawingml/2006/table">
            <a:tbl>
              <a:tblPr firstRow="1" firstCol="1"/>
              <a:tblGrid>
                <a:gridCol w="1129455"/>
                <a:gridCol w="658848"/>
                <a:gridCol w="847091"/>
                <a:gridCol w="1129455"/>
                <a:gridCol w="5082545"/>
              </a:tblGrid>
              <a:tr h="317502">
                <a:tc>
                  <a:txBody>
                    <a:bodyPr/>
                    <a:lstStyle/>
                    <a:p>
                      <a:pPr>
                        <a:lnSpc>
                          <a:spcPct val="115000"/>
                        </a:lnSpc>
                        <a:spcAft>
                          <a:spcPts val="0"/>
                        </a:spcAft>
                      </a:pPr>
                      <a:r>
                        <a:rPr lang="en-US" sz="1800" b="1" dirty="0">
                          <a:latin typeface="Times New Roman"/>
                          <a:ea typeface="Times New Roman"/>
                          <a:cs typeface="Times New Roman"/>
                        </a:rPr>
                        <a:t>Name</a:t>
                      </a:r>
                      <a:endParaRPr lang="en-IN" sz="1800" b="1" dirty="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b="1">
                          <a:latin typeface="Times New Roman"/>
                          <a:ea typeface="Times New Roman"/>
                          <a:cs typeface="Times New Roman"/>
                        </a:rPr>
                        <a:t>Bits</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b="1">
                          <a:latin typeface="Times New Roman"/>
                          <a:ea typeface="Times New Roman"/>
                          <a:cs typeface="Times New Roman"/>
                        </a:rPr>
                        <a:t>Bytes</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b="1">
                          <a:latin typeface="Times New Roman"/>
                          <a:ea typeface="Times New Roman"/>
                          <a:cs typeface="Times New Roman"/>
                        </a:rPr>
                        <a:t>Range</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b="1">
                          <a:latin typeface="Times New Roman"/>
                          <a:ea typeface="Times New Roman"/>
                          <a:cs typeface="Times New Roman"/>
                        </a:rPr>
                        <a:t>Range of values</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502">
                <a:tc>
                  <a:txBody>
                    <a:bodyPr/>
                    <a:lstStyle/>
                    <a:p>
                      <a:pPr algn="just">
                        <a:lnSpc>
                          <a:spcPct val="115000"/>
                        </a:lnSpc>
                        <a:spcAft>
                          <a:spcPts val="0"/>
                        </a:spcAft>
                      </a:pPr>
                      <a:r>
                        <a:rPr lang="en-US" sz="1800" b="1">
                          <a:latin typeface="Times New Roman"/>
                          <a:ea typeface="Times New Roman"/>
                          <a:cs typeface="Times New Roman"/>
                        </a:rPr>
                        <a:t>byte</a:t>
                      </a:r>
                      <a:endParaRPr lang="en-IN" sz="1800" b="1">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8</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1</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2</a:t>
                      </a:r>
                      <a:r>
                        <a:rPr lang="en-US" sz="1800" baseline="30000">
                          <a:latin typeface="Times New Roman"/>
                          <a:ea typeface="Times New Roman"/>
                          <a:cs typeface="Times New Roman"/>
                        </a:rPr>
                        <a:t>-7</a:t>
                      </a:r>
                      <a:r>
                        <a:rPr lang="en-US" sz="1800">
                          <a:latin typeface="Times New Roman"/>
                          <a:ea typeface="Times New Roman"/>
                          <a:cs typeface="Times New Roman"/>
                        </a:rPr>
                        <a:t> to 2</a:t>
                      </a:r>
                      <a:r>
                        <a:rPr lang="en-US" sz="1800" baseline="30000">
                          <a:latin typeface="Times New Roman"/>
                          <a:ea typeface="Times New Roman"/>
                          <a:cs typeface="Times New Roman"/>
                        </a:rPr>
                        <a:t>7</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-128 to 127</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502">
                <a:tc>
                  <a:txBody>
                    <a:bodyPr/>
                    <a:lstStyle/>
                    <a:p>
                      <a:pPr algn="just">
                        <a:lnSpc>
                          <a:spcPct val="115000"/>
                        </a:lnSpc>
                        <a:spcAft>
                          <a:spcPts val="0"/>
                        </a:spcAft>
                      </a:pPr>
                      <a:r>
                        <a:rPr lang="en-US" sz="1800" b="1">
                          <a:latin typeface="Times New Roman"/>
                          <a:ea typeface="Times New Roman"/>
                          <a:cs typeface="Times New Roman"/>
                        </a:rPr>
                        <a:t>short</a:t>
                      </a:r>
                      <a:endParaRPr lang="en-IN" sz="1800" b="1">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16</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2</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2</a:t>
                      </a:r>
                      <a:r>
                        <a:rPr lang="en-US" sz="1800" baseline="30000">
                          <a:latin typeface="Times New Roman"/>
                          <a:ea typeface="Times New Roman"/>
                          <a:cs typeface="Times New Roman"/>
                        </a:rPr>
                        <a:t>-15</a:t>
                      </a:r>
                      <a:r>
                        <a:rPr lang="en-US" sz="1800">
                          <a:latin typeface="Times New Roman"/>
                          <a:ea typeface="Times New Roman"/>
                          <a:cs typeface="Times New Roman"/>
                        </a:rPr>
                        <a:t> to 2</a:t>
                      </a:r>
                      <a:r>
                        <a:rPr lang="en-US" sz="1800" baseline="30000">
                          <a:latin typeface="Times New Roman"/>
                          <a:ea typeface="Times New Roman"/>
                          <a:cs typeface="Times New Roman"/>
                        </a:rPr>
                        <a:t>15</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-32768 to 32767</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502">
                <a:tc>
                  <a:txBody>
                    <a:bodyPr/>
                    <a:lstStyle/>
                    <a:p>
                      <a:pPr algn="just">
                        <a:lnSpc>
                          <a:spcPct val="115000"/>
                        </a:lnSpc>
                        <a:spcAft>
                          <a:spcPts val="0"/>
                        </a:spcAft>
                      </a:pPr>
                      <a:r>
                        <a:rPr lang="en-US" sz="1800" b="1">
                          <a:latin typeface="Times New Roman"/>
                          <a:ea typeface="Times New Roman"/>
                          <a:cs typeface="Times New Roman"/>
                        </a:rPr>
                        <a:t>int</a:t>
                      </a:r>
                      <a:endParaRPr lang="en-IN" sz="1800" b="1">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32</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4</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2</a:t>
                      </a:r>
                      <a:r>
                        <a:rPr lang="en-US" sz="1800" baseline="30000">
                          <a:latin typeface="Times New Roman"/>
                          <a:ea typeface="Times New Roman"/>
                          <a:cs typeface="Times New Roman"/>
                        </a:rPr>
                        <a:t>-31</a:t>
                      </a:r>
                      <a:r>
                        <a:rPr lang="en-US" sz="1800">
                          <a:latin typeface="Times New Roman"/>
                          <a:ea typeface="Times New Roman"/>
                          <a:cs typeface="Times New Roman"/>
                        </a:rPr>
                        <a:t> to 2</a:t>
                      </a:r>
                      <a:r>
                        <a:rPr lang="en-US" sz="1800" baseline="30000">
                          <a:latin typeface="Times New Roman"/>
                          <a:ea typeface="Times New Roman"/>
                          <a:cs typeface="Times New Roman"/>
                        </a:rPr>
                        <a:t>31</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-2147483648 to 2147483647</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502">
                <a:tc>
                  <a:txBody>
                    <a:bodyPr/>
                    <a:lstStyle/>
                    <a:p>
                      <a:pPr algn="just">
                        <a:lnSpc>
                          <a:spcPct val="115000"/>
                        </a:lnSpc>
                        <a:spcAft>
                          <a:spcPts val="0"/>
                        </a:spcAft>
                      </a:pPr>
                      <a:r>
                        <a:rPr lang="en-US" sz="1800" b="1">
                          <a:latin typeface="Times New Roman"/>
                          <a:ea typeface="Times New Roman"/>
                          <a:cs typeface="Times New Roman"/>
                        </a:rPr>
                        <a:t>long</a:t>
                      </a:r>
                      <a:endParaRPr lang="en-IN" sz="1800" b="1">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64</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8</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2</a:t>
                      </a:r>
                      <a:r>
                        <a:rPr lang="en-US" sz="1800" baseline="30000">
                          <a:latin typeface="Times New Roman"/>
                          <a:ea typeface="Times New Roman"/>
                          <a:cs typeface="Times New Roman"/>
                        </a:rPr>
                        <a:t>-63</a:t>
                      </a:r>
                      <a:r>
                        <a:rPr lang="en-US" sz="1800">
                          <a:latin typeface="Times New Roman"/>
                          <a:ea typeface="Times New Roman"/>
                          <a:cs typeface="Times New Roman"/>
                        </a:rPr>
                        <a:t> to 2</a:t>
                      </a:r>
                      <a:r>
                        <a:rPr lang="en-US" sz="1800" baseline="30000">
                          <a:latin typeface="Times New Roman"/>
                          <a:ea typeface="Times New Roman"/>
                          <a:cs typeface="Times New Roman"/>
                        </a:rPr>
                        <a:t>63</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-9223372036854775808 to 9223372036854775807</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502">
                <a:tc>
                  <a:txBody>
                    <a:bodyPr/>
                    <a:lstStyle/>
                    <a:p>
                      <a:pPr algn="just">
                        <a:lnSpc>
                          <a:spcPct val="115000"/>
                        </a:lnSpc>
                        <a:spcAft>
                          <a:spcPts val="0"/>
                        </a:spcAft>
                      </a:pPr>
                      <a:r>
                        <a:rPr lang="en-US" sz="1800" b="1">
                          <a:latin typeface="Times New Roman"/>
                          <a:ea typeface="Times New Roman"/>
                          <a:cs typeface="Times New Roman"/>
                        </a:rPr>
                        <a:t>float</a:t>
                      </a:r>
                      <a:endParaRPr lang="en-IN" sz="1800" b="1">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32</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4</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endParaRPr lang="en-US" sz="1800">
                        <a:latin typeface="Times New Roman"/>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±1.4e-45 to ±3.4e+308</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502">
                <a:tc>
                  <a:txBody>
                    <a:bodyPr/>
                    <a:lstStyle/>
                    <a:p>
                      <a:pPr algn="just">
                        <a:lnSpc>
                          <a:spcPct val="115000"/>
                        </a:lnSpc>
                        <a:spcAft>
                          <a:spcPts val="0"/>
                        </a:spcAft>
                      </a:pPr>
                      <a:r>
                        <a:rPr lang="en-US" sz="1800" b="1">
                          <a:latin typeface="Times New Roman"/>
                          <a:ea typeface="Times New Roman"/>
                          <a:cs typeface="Times New Roman"/>
                        </a:rPr>
                        <a:t>double</a:t>
                      </a:r>
                      <a:endParaRPr lang="en-IN" sz="1800" b="1">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64</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8</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endParaRPr lang="en-US" sz="1800">
                        <a:latin typeface="Times New Roman"/>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±4.9e-324 to ±1.8e+308</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502">
                <a:tc>
                  <a:txBody>
                    <a:bodyPr/>
                    <a:lstStyle/>
                    <a:p>
                      <a:pPr algn="just">
                        <a:lnSpc>
                          <a:spcPct val="115000"/>
                        </a:lnSpc>
                        <a:spcAft>
                          <a:spcPts val="0"/>
                        </a:spcAft>
                      </a:pPr>
                      <a:r>
                        <a:rPr lang="en-US" sz="1800" b="1">
                          <a:latin typeface="Times New Roman"/>
                          <a:ea typeface="Times New Roman"/>
                          <a:cs typeface="Times New Roman"/>
                        </a:rPr>
                        <a:t>char</a:t>
                      </a:r>
                      <a:endParaRPr lang="en-IN" sz="1800" b="1">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16</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2</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endParaRPr lang="en-US" sz="1800">
                        <a:latin typeface="Times New Roman"/>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Unicode (0-65535)</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502">
                <a:tc>
                  <a:txBody>
                    <a:bodyPr/>
                    <a:lstStyle/>
                    <a:p>
                      <a:pPr algn="just">
                        <a:lnSpc>
                          <a:spcPct val="115000"/>
                        </a:lnSpc>
                        <a:spcAft>
                          <a:spcPts val="0"/>
                        </a:spcAft>
                      </a:pPr>
                      <a:r>
                        <a:rPr lang="en-US" sz="1800" b="1" dirty="0" err="1">
                          <a:latin typeface="Times New Roman"/>
                          <a:ea typeface="Times New Roman"/>
                          <a:cs typeface="Times New Roman"/>
                        </a:rPr>
                        <a:t>boolean</a:t>
                      </a:r>
                      <a:endParaRPr lang="en-IN" sz="1800" b="1" dirty="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1</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endParaRPr lang="en-US" sz="1800">
                        <a:latin typeface="Times New Roman"/>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a:latin typeface="Times New Roman"/>
                          <a:ea typeface="Times New Roman"/>
                          <a:cs typeface="Times New Roman"/>
                        </a:rPr>
                        <a:t>0 to 1</a:t>
                      </a:r>
                      <a:endParaRPr lang="en-IN" sz="180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800" dirty="0">
                          <a:latin typeface="Times New Roman"/>
                          <a:ea typeface="Times New Roman"/>
                          <a:cs typeface="Times New Roman"/>
                        </a:rPr>
                        <a:t>true or false</a:t>
                      </a:r>
                      <a:endParaRPr lang="en-IN" sz="1800" dirty="0">
                        <a:latin typeface="Calibri"/>
                        <a:ea typeface="Times New Roman"/>
                        <a:cs typeface="Times New Roman"/>
                      </a:endParaRPr>
                    </a:p>
                  </a:txBody>
                  <a:tcPr marL="112945" marR="1129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 Conversion and Type Casting</a:t>
            </a:r>
            <a:endParaRPr lang="en-IN" dirty="0"/>
          </a:p>
        </p:txBody>
      </p:sp>
      <p:sp>
        <p:nvSpPr>
          <p:cNvPr id="3" name="Content Placeholder 2"/>
          <p:cNvSpPr>
            <a:spLocks noGrp="1"/>
          </p:cNvSpPr>
          <p:nvPr>
            <p:ph sz="quarter" idx="1"/>
          </p:nvPr>
        </p:nvSpPr>
        <p:spPr/>
        <p:txBody>
          <a:bodyPr>
            <a:normAutofit/>
          </a:bodyPr>
          <a:lstStyle/>
          <a:p>
            <a:r>
              <a:rPr lang="en-US" sz="2200" dirty="0" smtClean="0"/>
              <a:t>Type Conversion: Type conversion is also known as Widening Conversion. </a:t>
            </a:r>
          </a:p>
          <a:p>
            <a:r>
              <a:rPr lang="en-US" sz="2200" dirty="0" smtClean="0"/>
              <a:t>When one type of data is assigned to another type of variable, an automatic type conversion will take place if the following two conditions are satisfied:</a:t>
            </a:r>
            <a:endParaRPr lang="en-IN" sz="2200" dirty="0" smtClean="0"/>
          </a:p>
          <a:p>
            <a:pPr lvl="1"/>
            <a:r>
              <a:rPr lang="en-US" sz="2200" dirty="0" smtClean="0"/>
              <a:t>The two types are compatible.</a:t>
            </a:r>
            <a:endParaRPr lang="en-IN" sz="2200" dirty="0" smtClean="0"/>
          </a:p>
          <a:p>
            <a:pPr lvl="1"/>
            <a:r>
              <a:rPr lang="en-US" sz="2200" dirty="0" smtClean="0"/>
              <a:t>The destination type is larger than the source type.</a:t>
            </a:r>
            <a:endParaRPr lang="en-IN" sz="2200" dirty="0" smtClean="0"/>
          </a:p>
          <a:p>
            <a:r>
              <a:rPr lang="en-US" sz="2200" dirty="0" smtClean="0"/>
              <a:t>The numeric types (integer and floating point types) are compatible with each other. The numeric types are not compatible with Boolean and classes.</a:t>
            </a:r>
            <a:endParaRPr lang="en-IN" sz="2200" dirty="0"/>
          </a:p>
        </p:txBody>
      </p:sp>
      <p:graphicFrame>
        <p:nvGraphicFramePr>
          <p:cNvPr id="5" name="Table 4"/>
          <p:cNvGraphicFramePr>
            <a:graphicFrameLocks noGrp="1"/>
          </p:cNvGraphicFramePr>
          <p:nvPr/>
        </p:nvGraphicFramePr>
        <p:xfrm>
          <a:off x="1357290" y="5520712"/>
          <a:ext cx="2460308" cy="1051560"/>
        </p:xfrm>
        <a:graphic>
          <a:graphicData uri="http://schemas.openxmlformats.org/drawingml/2006/table">
            <a:tbl>
              <a:tblPr/>
              <a:tblGrid>
                <a:gridCol w="1235710"/>
                <a:gridCol w="1224598"/>
              </a:tblGrid>
              <a:tr h="571504">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Example: </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byte b=65</a:t>
                      </a:r>
                      <a:endParaRPr lang="en-IN" sz="2000" dirty="0">
                        <a:latin typeface="Times New Roman" pitchFamily="18" charset="0"/>
                        <a:ea typeface="Times New Roman"/>
                        <a:cs typeface="Times New Roman" pitchFamily="18" charset="0"/>
                      </a:endParaRPr>
                    </a:p>
                    <a:p>
                      <a:pPr algn="just">
                        <a:lnSpc>
                          <a:spcPct val="115000"/>
                        </a:lnSpc>
                        <a:spcAft>
                          <a:spcPts val="0"/>
                        </a:spcAft>
                      </a:pPr>
                      <a:r>
                        <a:rPr lang="en-US" sz="2000" dirty="0" err="1">
                          <a:latin typeface="Times New Roman" pitchFamily="18" charset="0"/>
                          <a:ea typeface="Times New Roman"/>
                          <a:cs typeface="Times New Roman" pitchFamily="18" charset="0"/>
                        </a:rPr>
                        <a:t>int</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i</a:t>
                      </a:r>
                      <a:r>
                        <a:rPr lang="en-US" sz="2000" dirty="0">
                          <a:latin typeface="Times New Roman" pitchFamily="18" charset="0"/>
                          <a:ea typeface="Times New Roman"/>
                          <a:cs typeface="Times New Roman" pitchFamily="18" charset="0"/>
                        </a:rPr>
                        <a:t>=b*2</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a:txBody>
                    <a:bodyPr/>
                    <a:lstStyle/>
                    <a:p>
                      <a:pPr algn="just">
                        <a:lnSpc>
                          <a:spcPct val="115000"/>
                        </a:lnSpc>
                        <a:spcAft>
                          <a:spcPts val="0"/>
                        </a:spcAft>
                      </a:pPr>
                      <a:r>
                        <a:rPr lang="en-US" sz="2000">
                          <a:latin typeface="Times New Roman" pitchFamily="18" charset="0"/>
                          <a:ea typeface="Times New Roman"/>
                          <a:cs typeface="Times New Roman" pitchFamily="18" charset="0"/>
                        </a:rPr>
                        <a:t>Output:</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130</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 Conversion and Type Casting</a:t>
            </a:r>
            <a:endParaRPr lang="en-IN" dirty="0"/>
          </a:p>
        </p:txBody>
      </p:sp>
      <p:sp>
        <p:nvSpPr>
          <p:cNvPr id="3" name="Content Placeholder 2"/>
          <p:cNvSpPr>
            <a:spLocks noGrp="1"/>
          </p:cNvSpPr>
          <p:nvPr>
            <p:ph sz="quarter" idx="1"/>
          </p:nvPr>
        </p:nvSpPr>
        <p:spPr/>
        <p:txBody>
          <a:bodyPr>
            <a:normAutofit/>
          </a:bodyPr>
          <a:lstStyle/>
          <a:p>
            <a:r>
              <a:rPr lang="en-US" sz="2200" b="1" dirty="0" smtClean="0">
                <a:cs typeface="Times New Roman" pitchFamily="18" charset="0"/>
              </a:rPr>
              <a:t>Type Casting:  </a:t>
            </a:r>
            <a:r>
              <a:rPr lang="en-US" sz="2200" dirty="0" smtClean="0">
                <a:cs typeface="Times New Roman" pitchFamily="18" charset="0"/>
              </a:rPr>
              <a:t>Type casting is also known as </a:t>
            </a:r>
            <a:r>
              <a:rPr lang="en-US" sz="2200" b="1" dirty="0" smtClean="0">
                <a:cs typeface="Times New Roman" pitchFamily="18" charset="0"/>
              </a:rPr>
              <a:t>Narrowing Conversion</a:t>
            </a:r>
            <a:r>
              <a:rPr lang="en-US" sz="2200" dirty="0" smtClean="0">
                <a:cs typeface="Times New Roman" pitchFamily="18" charset="0"/>
              </a:rPr>
              <a:t>.</a:t>
            </a:r>
          </a:p>
          <a:p>
            <a:pPr lvl="1"/>
            <a:r>
              <a:rPr lang="en-US" sz="2200" dirty="0" smtClean="0">
                <a:cs typeface="Times New Roman" pitchFamily="18" charset="0"/>
              </a:rPr>
              <a:t>If the destination type is smaller than source type then we should go for narrowing the conversion so that it will fit into target type. </a:t>
            </a:r>
          </a:p>
          <a:p>
            <a:pPr lvl="1"/>
            <a:r>
              <a:rPr lang="en-US" sz="2200" dirty="0" smtClean="0">
                <a:cs typeface="Times New Roman" pitchFamily="18" charset="0"/>
              </a:rPr>
              <a:t>Conversion from an </a:t>
            </a:r>
            <a:r>
              <a:rPr lang="en-US" sz="2200" dirty="0" err="1" smtClean="0">
                <a:cs typeface="Times New Roman" pitchFamily="18" charset="0"/>
              </a:rPr>
              <a:t>int</a:t>
            </a:r>
            <a:r>
              <a:rPr lang="en-US" sz="2200" dirty="0" smtClean="0">
                <a:cs typeface="Times New Roman" pitchFamily="18" charset="0"/>
              </a:rPr>
              <a:t> to a byte variable will not be performed automatically, because a byte is smaller than an int.</a:t>
            </a:r>
            <a:endParaRPr lang="en-IN" sz="2200" dirty="0" smtClean="0">
              <a:cs typeface="Times New Roman" pitchFamily="18" charset="0"/>
            </a:endParaRPr>
          </a:p>
          <a:p>
            <a:pPr lvl="1"/>
            <a:r>
              <a:rPr lang="en-US" sz="2200" dirty="0" smtClean="0">
                <a:cs typeface="Times New Roman" pitchFamily="18" charset="0"/>
              </a:rPr>
              <a:t>To create a narrowing conversion, we must use a cast. Casting into smaller type may result in a loss of data</a:t>
            </a:r>
            <a:endParaRPr lang="en-IN" sz="2200" dirty="0">
              <a:cs typeface="Times New Roman" pitchFamily="18" charset="0"/>
            </a:endParaRPr>
          </a:p>
        </p:txBody>
      </p:sp>
      <p:graphicFrame>
        <p:nvGraphicFramePr>
          <p:cNvPr id="9" name="Table 8"/>
          <p:cNvGraphicFramePr>
            <a:graphicFrameLocks noGrp="1"/>
          </p:cNvGraphicFramePr>
          <p:nvPr/>
        </p:nvGraphicFramePr>
        <p:xfrm>
          <a:off x="1643042" y="4741564"/>
          <a:ext cx="4476433" cy="1402080"/>
        </p:xfrm>
        <a:graphic>
          <a:graphicData uri="http://schemas.openxmlformats.org/drawingml/2006/table">
            <a:tbl>
              <a:tblPr/>
              <a:tblGrid>
                <a:gridCol w="1629410"/>
                <a:gridCol w="2847023"/>
              </a:tblGrid>
              <a:tr h="0">
                <a:tc>
                  <a:txBody>
                    <a:bodyPr/>
                    <a:lstStyle/>
                    <a:p>
                      <a:pPr algn="just">
                        <a:lnSpc>
                          <a:spcPct val="115000"/>
                        </a:lnSpc>
                        <a:spcAft>
                          <a:spcPts val="0"/>
                        </a:spcAft>
                      </a:pPr>
                      <a:r>
                        <a:rPr lang="en-US" sz="2000">
                          <a:latin typeface="Times New Roman" pitchFamily="18" charset="0"/>
                          <a:ea typeface="Times New Roman"/>
                          <a:cs typeface="Times New Roman" pitchFamily="18" charset="0"/>
                        </a:rPr>
                        <a:t>General form:</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(data type) variable_name</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0"/>
                        </a:spcAft>
                      </a:pPr>
                      <a:r>
                        <a:rPr lang="en-US" sz="2000">
                          <a:latin typeface="Times New Roman" pitchFamily="18" charset="0"/>
                          <a:ea typeface="Times New Roman"/>
                          <a:cs typeface="Times New Roman" pitchFamily="18" charset="0"/>
                        </a:rPr>
                        <a:t>Example:</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err="1">
                          <a:latin typeface="Times New Roman" pitchFamily="18" charset="0"/>
                          <a:ea typeface="Times New Roman"/>
                          <a:cs typeface="Times New Roman" pitchFamily="18" charset="0"/>
                        </a:rPr>
                        <a:t>int</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i</a:t>
                      </a:r>
                      <a:r>
                        <a:rPr lang="en-US" sz="2000" dirty="0">
                          <a:latin typeface="Times New Roman" pitchFamily="18" charset="0"/>
                          <a:ea typeface="Times New Roman"/>
                          <a:cs typeface="Times New Roman" pitchFamily="18" charset="0"/>
                        </a:rPr>
                        <a:t>=130</a:t>
                      </a:r>
                      <a:endParaRPr lang="en-IN" sz="2000" dirty="0">
                        <a:latin typeface="Times New Roman" pitchFamily="18" charset="0"/>
                        <a:ea typeface="Times New Roman"/>
                        <a:cs typeface="Times New Roman" pitchFamily="18" charset="0"/>
                      </a:endParaRPr>
                    </a:p>
                    <a:p>
                      <a:pPr algn="just">
                        <a:lnSpc>
                          <a:spcPct val="115000"/>
                        </a:lnSpc>
                        <a:spcAft>
                          <a:spcPts val="0"/>
                        </a:spcAft>
                      </a:pPr>
                      <a:r>
                        <a:rPr lang="en-US" sz="2000" dirty="0">
                          <a:latin typeface="Times New Roman" pitchFamily="18" charset="0"/>
                          <a:ea typeface="Times New Roman"/>
                          <a:cs typeface="Times New Roman" pitchFamily="18" charset="0"/>
                        </a:rPr>
                        <a:t>byte b=(byte)</a:t>
                      </a:r>
                      <a:r>
                        <a:rPr lang="en-US" sz="2000" dirty="0" err="1">
                          <a:latin typeface="Times New Roman" pitchFamily="18" charset="0"/>
                          <a:ea typeface="Times New Roman"/>
                          <a:cs typeface="Times New Roman" pitchFamily="18" charset="0"/>
                        </a:rPr>
                        <a:t>i</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0"/>
                        </a:spcAft>
                      </a:pPr>
                      <a:r>
                        <a:rPr lang="en-US" sz="2000">
                          <a:latin typeface="Times New Roman" pitchFamily="18" charset="0"/>
                          <a:ea typeface="Times New Roman"/>
                          <a:cs typeface="Times New Roman" pitchFamily="18" charset="0"/>
                        </a:rPr>
                        <a:t>Output:</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-126</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 of Fundamentals of JAVA</a:t>
            </a:r>
            <a:endParaRPr lang="en-IN" dirty="0"/>
          </a:p>
        </p:txBody>
      </p:sp>
      <p:sp>
        <p:nvSpPr>
          <p:cNvPr id="3" name="Content Placeholder 2"/>
          <p:cNvSpPr>
            <a:spLocks noGrp="1"/>
          </p:cNvSpPr>
          <p:nvPr>
            <p:ph sz="quarter" idx="1"/>
          </p:nvPr>
        </p:nvSpPr>
        <p:spPr/>
        <p:txBody>
          <a:bodyPr>
            <a:noAutofit/>
          </a:bodyPr>
          <a:lstStyle/>
          <a:p>
            <a:pPr marL="357188" indent="-357188">
              <a:buSzPct val="100000"/>
              <a:buBlip>
                <a:blip r:embed="rId3"/>
              </a:buBlip>
            </a:pPr>
            <a:r>
              <a:rPr lang="en-IN" sz="3200" dirty="0" smtClean="0"/>
              <a:t>Character set</a:t>
            </a:r>
          </a:p>
          <a:p>
            <a:pPr marL="357188" indent="-357188">
              <a:buSzPct val="100000"/>
              <a:buBlip>
                <a:blip r:embed="rId3"/>
              </a:buBlip>
            </a:pPr>
            <a:r>
              <a:rPr lang="en-IN" sz="3200" dirty="0" smtClean="0"/>
              <a:t>Comments</a:t>
            </a:r>
          </a:p>
          <a:p>
            <a:pPr marL="357188" indent="-357188">
              <a:buSzPct val="100000"/>
              <a:buBlip>
                <a:blip r:embed="rId3"/>
              </a:buBlip>
            </a:pPr>
            <a:r>
              <a:rPr lang="en-IN" sz="3200" dirty="0" smtClean="0"/>
              <a:t>Identifier</a:t>
            </a:r>
          </a:p>
          <a:p>
            <a:pPr marL="357188" indent="-357188">
              <a:buSzPct val="100000"/>
              <a:buBlip>
                <a:blip r:embed="rId3"/>
              </a:buBlip>
            </a:pPr>
            <a:r>
              <a:rPr lang="en-IN" sz="3200" dirty="0" smtClean="0"/>
              <a:t>Keywords</a:t>
            </a:r>
          </a:p>
          <a:p>
            <a:pPr marL="357188" indent="-357188">
              <a:buSzPct val="100000"/>
              <a:buBlip>
                <a:blip r:embed="rId3"/>
              </a:buBlip>
            </a:pPr>
            <a:r>
              <a:rPr lang="en-IN" sz="3200" dirty="0" smtClean="0"/>
              <a:t>Constants</a:t>
            </a:r>
          </a:p>
          <a:p>
            <a:pPr marL="357188" indent="-357188">
              <a:buSzPct val="100000"/>
              <a:buBlip>
                <a:blip r:embed="rId3"/>
              </a:buBlip>
            </a:pPr>
            <a:r>
              <a:rPr lang="en-IN" sz="3200" dirty="0" smtClean="0"/>
              <a:t>Variable</a:t>
            </a:r>
          </a:p>
          <a:p>
            <a:pPr marL="357188" indent="-357188">
              <a:buSzPct val="100000"/>
              <a:buBlip>
                <a:blip r:embed="rId3"/>
              </a:buBlip>
            </a:pPr>
            <a:r>
              <a:rPr lang="en-IN" sz="3200" dirty="0" err="1" smtClean="0"/>
              <a:t>Datatypes</a:t>
            </a:r>
            <a:endParaRPr lang="en-IN" sz="3200" dirty="0" smtClean="0"/>
          </a:p>
          <a:p>
            <a:pPr marL="357188" indent="-357188">
              <a:buSzPct val="100000"/>
              <a:buBlip>
                <a:blip r:embed="rId3"/>
              </a:buBlip>
            </a:pPr>
            <a:r>
              <a:rPr lang="en-IN" sz="3200" dirty="0" smtClean="0"/>
              <a:t>Type conversation and Type casting</a:t>
            </a:r>
            <a:endParaRPr lang="en-IN" sz="32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Operators in JAVA</a:t>
            </a:r>
            <a:endParaRPr lang="en-IN" dirty="0"/>
          </a:p>
        </p:txBody>
      </p:sp>
      <p:sp>
        <p:nvSpPr>
          <p:cNvPr id="3" name="Content Placeholder 2"/>
          <p:cNvSpPr>
            <a:spLocks noGrp="1"/>
          </p:cNvSpPr>
          <p:nvPr>
            <p:ph sz="quarter" idx="1"/>
          </p:nvPr>
        </p:nvSpPr>
        <p:spPr/>
        <p:txBody>
          <a:bodyPr>
            <a:noAutofit/>
          </a:bodyPr>
          <a:lstStyle/>
          <a:p>
            <a:r>
              <a:rPr lang="en-IN" sz="3200" dirty="0" smtClean="0"/>
              <a:t>Arithmetic Operators</a:t>
            </a:r>
          </a:p>
          <a:p>
            <a:r>
              <a:rPr lang="en-IN" sz="3200" dirty="0" smtClean="0"/>
              <a:t>Relational Operators</a:t>
            </a:r>
          </a:p>
          <a:p>
            <a:r>
              <a:rPr lang="en-IN" sz="3200" dirty="0" smtClean="0"/>
              <a:t>Logical Operators</a:t>
            </a:r>
          </a:p>
          <a:p>
            <a:r>
              <a:rPr lang="en-IN" sz="3200" dirty="0" smtClean="0"/>
              <a:t>Bitwise Operators</a:t>
            </a:r>
          </a:p>
          <a:p>
            <a:r>
              <a:rPr lang="en-IN" sz="3200" dirty="0" smtClean="0"/>
              <a:t>Conditional Operators</a:t>
            </a:r>
          </a:p>
          <a:p>
            <a:r>
              <a:rPr lang="en-IN" sz="3200" dirty="0" smtClean="0"/>
              <a:t>Special Operators</a:t>
            </a:r>
          </a:p>
          <a:p>
            <a:r>
              <a:rPr lang="en-IN" sz="3200" dirty="0" smtClean="0"/>
              <a:t>Assignment Operators</a:t>
            </a:r>
          </a:p>
          <a:p>
            <a:r>
              <a:rPr lang="en-IN" sz="3200" dirty="0" smtClean="0"/>
              <a:t>Priority of Operators</a:t>
            </a:r>
            <a:endParaRPr lang="en-IN" sz="32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Arithmetic Operators</a:t>
            </a:r>
          </a:p>
        </p:txBody>
      </p:sp>
      <p:graphicFrame>
        <p:nvGraphicFramePr>
          <p:cNvPr id="4" name="Content Placeholder 3"/>
          <p:cNvGraphicFramePr>
            <a:graphicFrameLocks noGrp="1"/>
          </p:cNvGraphicFramePr>
          <p:nvPr>
            <p:ph sz="quarter" idx="1"/>
          </p:nvPr>
        </p:nvGraphicFramePr>
        <p:xfrm>
          <a:off x="642909" y="1643050"/>
          <a:ext cx="7200273" cy="4907280"/>
        </p:xfrm>
        <a:graphic>
          <a:graphicData uri="http://schemas.openxmlformats.org/drawingml/2006/table">
            <a:tbl>
              <a:tblPr firstRow="1">
                <a:tableStyleId>{284E427A-3D55-4303-BF80-6455036E1DE7}</a:tableStyleId>
              </a:tblPr>
              <a:tblGrid>
                <a:gridCol w="2304087"/>
                <a:gridCol w="4896186"/>
              </a:tblGrid>
              <a:tr h="485778">
                <a:tc>
                  <a:txBody>
                    <a:bodyPr/>
                    <a:lstStyle/>
                    <a:p>
                      <a:pPr algn="ctr">
                        <a:lnSpc>
                          <a:spcPct val="115000"/>
                        </a:lnSpc>
                        <a:spcAft>
                          <a:spcPts val="0"/>
                        </a:spcAft>
                      </a:pPr>
                      <a:r>
                        <a:rPr lang="en-US" sz="2800" dirty="0"/>
                        <a:t>Operator</a:t>
                      </a:r>
                      <a:endParaRPr lang="en-IN" sz="2800" dirty="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Meaning</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dirty="0"/>
                        <a:t>+</a:t>
                      </a:r>
                      <a:endParaRPr lang="en-IN" sz="2800" dirty="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Addition</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dirty="0"/>
                        <a:t>-</a:t>
                      </a:r>
                      <a:endParaRPr lang="en-IN" sz="2800" dirty="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Subtraction</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a:t>*</a:t>
                      </a:r>
                      <a:endParaRPr lang="en-IN" sz="280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Multiplication</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a:t>/</a:t>
                      </a:r>
                      <a:endParaRPr lang="en-IN" sz="280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Division</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a:t>%</a:t>
                      </a:r>
                      <a:endParaRPr lang="en-IN" sz="280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Modulus</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a:t>++</a:t>
                      </a:r>
                      <a:endParaRPr lang="en-IN" sz="280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Pre/Post Increment</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a:t>--</a:t>
                      </a:r>
                      <a:endParaRPr lang="en-IN" sz="280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Pre/Post Decrement</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a:t>+</a:t>
                      </a:r>
                      <a:endParaRPr lang="en-IN" sz="280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Unary Positive</a:t>
                      </a:r>
                      <a:endParaRPr lang="en-IN" sz="2800" dirty="0">
                        <a:latin typeface="Calibri"/>
                        <a:ea typeface="Times New Roman"/>
                        <a:cs typeface="Times New Roman"/>
                      </a:endParaRPr>
                    </a:p>
                  </a:txBody>
                  <a:tcPr marL="172807" marR="172807" marT="0" marB="0"/>
                </a:tc>
              </a:tr>
              <a:tr h="485778">
                <a:tc>
                  <a:txBody>
                    <a:bodyPr/>
                    <a:lstStyle/>
                    <a:p>
                      <a:pPr algn="ctr">
                        <a:lnSpc>
                          <a:spcPct val="115000"/>
                        </a:lnSpc>
                        <a:spcAft>
                          <a:spcPts val="0"/>
                        </a:spcAft>
                      </a:pPr>
                      <a:r>
                        <a:rPr lang="en-US" sz="2800"/>
                        <a:t>-</a:t>
                      </a:r>
                      <a:endParaRPr lang="en-IN" sz="2800">
                        <a:latin typeface="Calibri"/>
                        <a:ea typeface="Times New Roman"/>
                        <a:cs typeface="Times New Roman"/>
                      </a:endParaRPr>
                    </a:p>
                  </a:txBody>
                  <a:tcPr marL="172807" marR="172807" marT="0" marB="0"/>
                </a:tc>
                <a:tc>
                  <a:txBody>
                    <a:bodyPr/>
                    <a:lstStyle/>
                    <a:p>
                      <a:pPr algn="just">
                        <a:lnSpc>
                          <a:spcPct val="115000"/>
                        </a:lnSpc>
                        <a:spcAft>
                          <a:spcPts val="0"/>
                        </a:spcAft>
                      </a:pPr>
                      <a:r>
                        <a:rPr lang="en-US" sz="2800" dirty="0"/>
                        <a:t>Unary Negative</a:t>
                      </a:r>
                      <a:endParaRPr lang="en-IN" sz="2800" dirty="0">
                        <a:latin typeface="Calibri"/>
                        <a:ea typeface="Times New Roman"/>
                        <a:cs typeface="Times New Roman"/>
                      </a:endParaRPr>
                    </a:p>
                  </a:txBody>
                  <a:tcPr marL="172807" marR="172807" marT="0" marB="0"/>
                </a:tc>
              </a:tr>
            </a:tbl>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Arithmetic Operators</a:t>
            </a:r>
          </a:p>
        </p:txBody>
      </p:sp>
      <p:sp>
        <p:nvSpPr>
          <p:cNvPr id="5" name="Content Placeholder 4"/>
          <p:cNvSpPr>
            <a:spLocks noGrp="1"/>
          </p:cNvSpPr>
          <p:nvPr>
            <p:ph sz="quarter" idx="1"/>
          </p:nvPr>
        </p:nvSpPr>
        <p:spPr/>
        <p:txBody>
          <a:bodyPr>
            <a:normAutofit/>
          </a:bodyPr>
          <a:lstStyle/>
          <a:p>
            <a:r>
              <a:rPr lang="en-US" sz="2200" b="1" dirty="0" smtClean="0">
                <a:cs typeface="Times New Roman" pitchFamily="18" charset="0"/>
              </a:rPr>
              <a:t>Increment:</a:t>
            </a:r>
            <a:endParaRPr lang="en-IN" sz="2200" dirty="0" smtClean="0">
              <a:cs typeface="Times New Roman" pitchFamily="18" charset="0"/>
            </a:endParaRPr>
          </a:p>
          <a:p>
            <a:pPr lvl="1"/>
            <a:r>
              <a:rPr lang="en-US" sz="2200" b="1" dirty="0" smtClean="0">
                <a:cs typeface="Times New Roman" pitchFamily="18" charset="0"/>
              </a:rPr>
              <a:t>Prefix:</a:t>
            </a:r>
            <a:r>
              <a:rPr lang="en-US" sz="2200" dirty="0" smtClean="0">
                <a:cs typeface="Times New Roman" pitchFamily="18" charset="0"/>
              </a:rPr>
              <a:t> Here operators are preceded by the operand and the value is incremented before assigning.</a:t>
            </a:r>
            <a:endParaRPr lang="en-IN" sz="2200" dirty="0" smtClean="0">
              <a:cs typeface="Times New Roman" pitchFamily="18" charset="0"/>
            </a:endParaRPr>
          </a:p>
          <a:p>
            <a:pPr lvl="1"/>
            <a:r>
              <a:rPr lang="en-US" sz="2200" b="1" dirty="0" smtClean="0">
                <a:cs typeface="Times New Roman" pitchFamily="18" charset="0"/>
              </a:rPr>
              <a:t>Postfix:</a:t>
            </a:r>
            <a:r>
              <a:rPr lang="en-US" sz="2200" dirty="0" smtClean="0">
                <a:cs typeface="Times New Roman" pitchFamily="18" charset="0"/>
              </a:rPr>
              <a:t> Here operator follows the operand and value is assigned first then operand is incremented by one.</a:t>
            </a:r>
          </a:p>
          <a:p>
            <a:pPr lvl="1"/>
            <a:endParaRPr lang="en-US" sz="2200" dirty="0" smtClean="0">
              <a:cs typeface="Times New Roman" pitchFamily="18" charset="0"/>
            </a:endParaRPr>
          </a:p>
          <a:p>
            <a:pPr lvl="1"/>
            <a:endParaRPr lang="en-US" sz="2200" dirty="0" smtClean="0">
              <a:cs typeface="Times New Roman" pitchFamily="18" charset="0"/>
            </a:endParaRPr>
          </a:p>
          <a:p>
            <a:endParaRPr lang="en-US" sz="2200" b="1" dirty="0" smtClean="0">
              <a:cs typeface="Times New Roman" pitchFamily="18" charset="0"/>
            </a:endParaRPr>
          </a:p>
          <a:p>
            <a:r>
              <a:rPr lang="en-US" sz="2200" b="1" dirty="0" smtClean="0">
                <a:cs typeface="Times New Roman" pitchFamily="18" charset="0"/>
              </a:rPr>
              <a:t>Decrement:</a:t>
            </a:r>
            <a:endParaRPr lang="en-IN" sz="2200" dirty="0" smtClean="0">
              <a:cs typeface="Times New Roman" pitchFamily="18" charset="0"/>
            </a:endParaRPr>
          </a:p>
        </p:txBody>
      </p:sp>
      <p:graphicFrame>
        <p:nvGraphicFramePr>
          <p:cNvPr id="6" name="Table 5"/>
          <p:cNvGraphicFramePr>
            <a:graphicFrameLocks noGrp="1"/>
          </p:cNvGraphicFramePr>
          <p:nvPr/>
        </p:nvGraphicFramePr>
        <p:xfrm>
          <a:off x="1500166" y="3591886"/>
          <a:ext cx="3624580" cy="1051560"/>
        </p:xfrm>
        <a:graphic>
          <a:graphicData uri="http://schemas.openxmlformats.org/drawingml/2006/table">
            <a:tbl>
              <a:tblPr/>
              <a:tblGrid>
                <a:gridCol w="1172210"/>
                <a:gridCol w="1226185"/>
                <a:gridCol w="1226185"/>
              </a:tblGrid>
              <a:tr h="0">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err="1">
                          <a:latin typeface="Times New Roman" pitchFamily="18" charset="0"/>
                          <a:ea typeface="Times New Roman"/>
                          <a:cs typeface="Times New Roman" pitchFamily="18" charset="0"/>
                        </a:rPr>
                        <a:t>int</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i</a:t>
                      </a:r>
                      <a:r>
                        <a:rPr lang="en-US" sz="2000" dirty="0">
                          <a:latin typeface="Times New Roman" pitchFamily="18" charset="0"/>
                          <a:ea typeface="Times New Roman"/>
                          <a:cs typeface="Times New Roman" pitchFamily="18" charset="0"/>
                        </a:rPr>
                        <a:t> = 5</a:t>
                      </a:r>
                      <a:endParaRPr lang="en-IN" sz="2000" dirty="0">
                        <a:latin typeface="Times New Roman" pitchFamily="18" charset="0"/>
                        <a:ea typeface="Times New Roman"/>
                        <a:cs typeface="Times New Roman" pitchFamily="18" charset="0"/>
                      </a:endParaRPr>
                    </a:p>
                    <a:p>
                      <a:pPr algn="just">
                        <a:lnSpc>
                          <a:spcPct val="115000"/>
                        </a:lnSpc>
                        <a:spcAft>
                          <a:spcPts val="0"/>
                        </a:spcAft>
                      </a:pPr>
                      <a:r>
                        <a:rPr lang="en-US" sz="2000" dirty="0" err="1">
                          <a:latin typeface="Times New Roman" pitchFamily="18" charset="0"/>
                          <a:ea typeface="Times New Roman"/>
                          <a:cs typeface="Times New Roman" pitchFamily="18" charset="0"/>
                        </a:rPr>
                        <a:t>int</a:t>
                      </a:r>
                      <a:r>
                        <a:rPr lang="en-US" sz="2000" dirty="0">
                          <a:latin typeface="Times New Roman" pitchFamily="18" charset="0"/>
                          <a:ea typeface="Times New Roman"/>
                          <a:cs typeface="Times New Roman" pitchFamily="18" charset="0"/>
                        </a:rPr>
                        <a:t> j = ++</a:t>
                      </a:r>
                      <a:r>
                        <a:rPr lang="en-US" sz="2000" dirty="0" err="1">
                          <a:latin typeface="Times New Roman" pitchFamily="18" charset="0"/>
                          <a:ea typeface="Times New Roman"/>
                          <a:cs typeface="Times New Roman" pitchFamily="18" charset="0"/>
                        </a:rPr>
                        <a:t>i</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int i = 5</a:t>
                      </a:r>
                      <a:endParaRPr lang="en-IN" sz="2000">
                        <a:latin typeface="Times New Roman" pitchFamily="18" charset="0"/>
                        <a:ea typeface="Times New Roman"/>
                        <a:cs typeface="Times New Roman" pitchFamily="18" charset="0"/>
                      </a:endParaRPr>
                    </a:p>
                    <a:p>
                      <a:pPr algn="just">
                        <a:lnSpc>
                          <a:spcPct val="115000"/>
                        </a:lnSpc>
                        <a:spcAft>
                          <a:spcPts val="0"/>
                        </a:spcAft>
                      </a:pPr>
                      <a:r>
                        <a:rPr lang="en-US" sz="2000">
                          <a:latin typeface="Times New Roman" pitchFamily="18" charset="0"/>
                          <a:ea typeface="Times New Roman"/>
                          <a:cs typeface="Times New Roman" pitchFamily="18" charset="0"/>
                        </a:rPr>
                        <a:t>int j = i++</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0"/>
                        </a:spcAft>
                      </a:pPr>
                      <a:r>
                        <a:rPr lang="en-US" sz="2000">
                          <a:latin typeface="Times New Roman" pitchFamily="18" charset="0"/>
                          <a:ea typeface="Times New Roman"/>
                          <a:cs typeface="Times New Roman" pitchFamily="18" charset="0"/>
                        </a:rPr>
                        <a:t>Output:</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i=6,  j=6</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err="1">
                          <a:latin typeface="Times New Roman" pitchFamily="18" charset="0"/>
                          <a:ea typeface="Times New Roman"/>
                          <a:cs typeface="Times New Roman" pitchFamily="18" charset="0"/>
                        </a:rPr>
                        <a:t>i</a:t>
                      </a:r>
                      <a:r>
                        <a:rPr lang="en-US" sz="2000" dirty="0">
                          <a:latin typeface="Times New Roman" pitchFamily="18" charset="0"/>
                          <a:ea typeface="Times New Roman"/>
                          <a:cs typeface="Times New Roman" pitchFamily="18" charset="0"/>
                        </a:rPr>
                        <a:t>=6, j=5</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1500166" y="5286388"/>
          <a:ext cx="3389630" cy="1051560"/>
        </p:xfrm>
        <a:graphic>
          <a:graphicData uri="http://schemas.openxmlformats.org/drawingml/2006/table">
            <a:tbl>
              <a:tblPr/>
              <a:tblGrid>
                <a:gridCol w="1172210"/>
                <a:gridCol w="1108710"/>
                <a:gridCol w="1108710"/>
              </a:tblGrid>
              <a:tr h="0">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err="1">
                          <a:latin typeface="Times New Roman" pitchFamily="18" charset="0"/>
                          <a:ea typeface="Times New Roman"/>
                          <a:cs typeface="Times New Roman" pitchFamily="18" charset="0"/>
                        </a:rPr>
                        <a:t>int</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i</a:t>
                      </a:r>
                      <a:r>
                        <a:rPr lang="en-US" sz="2000" dirty="0">
                          <a:latin typeface="Times New Roman" pitchFamily="18" charset="0"/>
                          <a:ea typeface="Times New Roman"/>
                          <a:cs typeface="Times New Roman" pitchFamily="18" charset="0"/>
                        </a:rPr>
                        <a:t> = 5</a:t>
                      </a:r>
                      <a:endParaRPr lang="en-IN" sz="2000" dirty="0">
                        <a:latin typeface="Times New Roman" pitchFamily="18" charset="0"/>
                        <a:ea typeface="Times New Roman"/>
                        <a:cs typeface="Times New Roman" pitchFamily="18" charset="0"/>
                      </a:endParaRPr>
                    </a:p>
                    <a:p>
                      <a:pPr algn="just">
                        <a:lnSpc>
                          <a:spcPct val="115000"/>
                        </a:lnSpc>
                        <a:spcAft>
                          <a:spcPts val="0"/>
                        </a:spcAft>
                      </a:pPr>
                      <a:r>
                        <a:rPr lang="en-US" sz="2000" dirty="0" err="1">
                          <a:latin typeface="Times New Roman" pitchFamily="18" charset="0"/>
                          <a:ea typeface="Times New Roman"/>
                          <a:cs typeface="Times New Roman" pitchFamily="18" charset="0"/>
                        </a:rPr>
                        <a:t>int</a:t>
                      </a:r>
                      <a:r>
                        <a:rPr lang="en-US" sz="2000" dirty="0">
                          <a:latin typeface="Times New Roman" pitchFamily="18" charset="0"/>
                          <a:ea typeface="Times New Roman"/>
                          <a:cs typeface="Times New Roman" pitchFamily="18" charset="0"/>
                        </a:rPr>
                        <a:t> j = --</a:t>
                      </a:r>
                      <a:r>
                        <a:rPr lang="en-US" sz="2000" dirty="0" err="1">
                          <a:latin typeface="Times New Roman" pitchFamily="18" charset="0"/>
                          <a:ea typeface="Times New Roman"/>
                          <a:cs typeface="Times New Roman" pitchFamily="18" charset="0"/>
                        </a:rPr>
                        <a:t>i</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int i = 5</a:t>
                      </a:r>
                      <a:endParaRPr lang="en-IN" sz="2000">
                        <a:latin typeface="Times New Roman" pitchFamily="18" charset="0"/>
                        <a:ea typeface="Times New Roman"/>
                        <a:cs typeface="Times New Roman" pitchFamily="18" charset="0"/>
                      </a:endParaRPr>
                    </a:p>
                    <a:p>
                      <a:pPr algn="just">
                        <a:lnSpc>
                          <a:spcPct val="115000"/>
                        </a:lnSpc>
                        <a:spcAft>
                          <a:spcPts val="0"/>
                        </a:spcAft>
                      </a:pPr>
                      <a:r>
                        <a:rPr lang="en-US" sz="2000">
                          <a:latin typeface="Times New Roman" pitchFamily="18" charset="0"/>
                          <a:ea typeface="Times New Roman"/>
                          <a:cs typeface="Times New Roman" pitchFamily="18" charset="0"/>
                        </a:rPr>
                        <a:t>int j = i--</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Output:</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i=4,  j=4</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err="1">
                          <a:latin typeface="Times New Roman" pitchFamily="18" charset="0"/>
                          <a:ea typeface="Times New Roman"/>
                          <a:cs typeface="Times New Roman" pitchFamily="18" charset="0"/>
                        </a:rPr>
                        <a:t>i</a:t>
                      </a:r>
                      <a:r>
                        <a:rPr lang="en-US" sz="2000" dirty="0">
                          <a:latin typeface="Times New Roman" pitchFamily="18" charset="0"/>
                          <a:ea typeface="Times New Roman"/>
                          <a:cs typeface="Times New Roman" pitchFamily="18" charset="0"/>
                        </a:rPr>
                        <a:t>=4, j=5</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Relational Operators</a:t>
            </a:r>
          </a:p>
        </p:txBody>
      </p:sp>
      <p:graphicFrame>
        <p:nvGraphicFramePr>
          <p:cNvPr id="4" name="Content Placeholder 3"/>
          <p:cNvGraphicFramePr>
            <a:graphicFrameLocks noGrp="1"/>
          </p:cNvGraphicFramePr>
          <p:nvPr>
            <p:ph sz="quarter" idx="1"/>
          </p:nvPr>
        </p:nvGraphicFramePr>
        <p:xfrm>
          <a:off x="642930" y="1785926"/>
          <a:ext cx="7865844" cy="3714774"/>
        </p:xfrm>
        <a:graphic>
          <a:graphicData uri="http://schemas.openxmlformats.org/drawingml/2006/table">
            <a:tbl>
              <a:tblPr firstRow="1">
                <a:tableStyleId>{284E427A-3D55-4303-BF80-6455036E1DE7}</a:tableStyleId>
              </a:tblPr>
              <a:tblGrid>
                <a:gridCol w="2517070"/>
                <a:gridCol w="5348774"/>
              </a:tblGrid>
              <a:tr h="530682">
                <a:tc>
                  <a:txBody>
                    <a:bodyPr/>
                    <a:lstStyle/>
                    <a:p>
                      <a:pPr algn="ctr">
                        <a:lnSpc>
                          <a:spcPct val="115000"/>
                        </a:lnSpc>
                        <a:spcAft>
                          <a:spcPts val="0"/>
                        </a:spcAft>
                      </a:pPr>
                      <a:r>
                        <a:rPr lang="en-US" sz="3000" dirty="0"/>
                        <a:t>Operator</a:t>
                      </a:r>
                      <a:endParaRPr lang="en-IN" sz="3000" dirty="0">
                        <a:latin typeface="Calibri"/>
                        <a:ea typeface="Times New Roman"/>
                        <a:cs typeface="Times New Roman"/>
                      </a:endParaRPr>
                    </a:p>
                  </a:txBody>
                  <a:tcPr marL="188780" marR="188780" marT="0" marB="0"/>
                </a:tc>
                <a:tc>
                  <a:txBody>
                    <a:bodyPr/>
                    <a:lstStyle/>
                    <a:p>
                      <a:pPr algn="just">
                        <a:lnSpc>
                          <a:spcPct val="115000"/>
                        </a:lnSpc>
                        <a:spcAft>
                          <a:spcPts val="0"/>
                        </a:spcAft>
                      </a:pPr>
                      <a:r>
                        <a:rPr lang="en-US" sz="3000" dirty="0"/>
                        <a:t>Meaning</a:t>
                      </a:r>
                      <a:endParaRPr lang="en-IN" sz="3000" dirty="0">
                        <a:latin typeface="Calibri"/>
                        <a:ea typeface="Times New Roman"/>
                        <a:cs typeface="Times New Roman"/>
                      </a:endParaRPr>
                    </a:p>
                  </a:txBody>
                  <a:tcPr marL="188780" marR="188780" marT="0" marB="0"/>
                </a:tc>
              </a:tr>
              <a:tr h="530682">
                <a:tc>
                  <a:txBody>
                    <a:bodyPr/>
                    <a:lstStyle/>
                    <a:p>
                      <a:pPr algn="ctr">
                        <a:lnSpc>
                          <a:spcPct val="115000"/>
                        </a:lnSpc>
                        <a:spcAft>
                          <a:spcPts val="0"/>
                        </a:spcAft>
                      </a:pPr>
                      <a:r>
                        <a:rPr lang="en-US" sz="3000"/>
                        <a:t>= =</a:t>
                      </a:r>
                      <a:endParaRPr lang="en-IN" sz="3000">
                        <a:latin typeface="Calibri"/>
                        <a:ea typeface="Times New Roman"/>
                        <a:cs typeface="Times New Roman"/>
                      </a:endParaRPr>
                    </a:p>
                  </a:txBody>
                  <a:tcPr marL="188780" marR="188780" marT="0" marB="0"/>
                </a:tc>
                <a:tc>
                  <a:txBody>
                    <a:bodyPr/>
                    <a:lstStyle/>
                    <a:p>
                      <a:pPr algn="just">
                        <a:lnSpc>
                          <a:spcPct val="115000"/>
                        </a:lnSpc>
                        <a:spcAft>
                          <a:spcPts val="0"/>
                        </a:spcAft>
                      </a:pPr>
                      <a:r>
                        <a:rPr lang="en-US" sz="3000" dirty="0"/>
                        <a:t>is equal to</a:t>
                      </a:r>
                      <a:endParaRPr lang="en-IN" sz="3000" dirty="0">
                        <a:latin typeface="Calibri"/>
                        <a:ea typeface="Times New Roman"/>
                        <a:cs typeface="Times New Roman"/>
                      </a:endParaRPr>
                    </a:p>
                  </a:txBody>
                  <a:tcPr marL="188780" marR="188780" marT="0" marB="0"/>
                </a:tc>
              </a:tr>
              <a:tr h="530682">
                <a:tc>
                  <a:txBody>
                    <a:bodyPr/>
                    <a:lstStyle/>
                    <a:p>
                      <a:pPr algn="ctr">
                        <a:lnSpc>
                          <a:spcPct val="115000"/>
                        </a:lnSpc>
                        <a:spcAft>
                          <a:spcPts val="0"/>
                        </a:spcAft>
                      </a:pPr>
                      <a:r>
                        <a:rPr lang="en-US" sz="3000"/>
                        <a:t>! =</a:t>
                      </a:r>
                      <a:endParaRPr lang="en-IN" sz="3000">
                        <a:latin typeface="Calibri"/>
                        <a:ea typeface="Times New Roman"/>
                        <a:cs typeface="Times New Roman"/>
                      </a:endParaRPr>
                    </a:p>
                  </a:txBody>
                  <a:tcPr marL="188780" marR="188780" marT="0" marB="0"/>
                </a:tc>
                <a:tc>
                  <a:txBody>
                    <a:bodyPr/>
                    <a:lstStyle/>
                    <a:p>
                      <a:pPr algn="just">
                        <a:lnSpc>
                          <a:spcPct val="115000"/>
                        </a:lnSpc>
                        <a:spcAft>
                          <a:spcPts val="0"/>
                        </a:spcAft>
                      </a:pPr>
                      <a:r>
                        <a:rPr lang="en-US" sz="3000"/>
                        <a:t>is not equal to</a:t>
                      </a:r>
                      <a:endParaRPr lang="en-IN" sz="3000">
                        <a:latin typeface="Calibri"/>
                        <a:ea typeface="Times New Roman"/>
                        <a:cs typeface="Times New Roman"/>
                      </a:endParaRPr>
                    </a:p>
                  </a:txBody>
                  <a:tcPr marL="188780" marR="188780" marT="0" marB="0"/>
                </a:tc>
              </a:tr>
              <a:tr h="530682">
                <a:tc>
                  <a:txBody>
                    <a:bodyPr/>
                    <a:lstStyle/>
                    <a:p>
                      <a:pPr algn="ctr">
                        <a:lnSpc>
                          <a:spcPct val="115000"/>
                        </a:lnSpc>
                        <a:spcAft>
                          <a:spcPts val="0"/>
                        </a:spcAft>
                      </a:pPr>
                      <a:r>
                        <a:rPr lang="en-US" sz="3000"/>
                        <a:t>&gt;</a:t>
                      </a:r>
                      <a:endParaRPr lang="en-IN" sz="3000">
                        <a:latin typeface="Calibri"/>
                        <a:ea typeface="Times New Roman"/>
                        <a:cs typeface="Times New Roman"/>
                      </a:endParaRPr>
                    </a:p>
                  </a:txBody>
                  <a:tcPr marL="188780" marR="188780" marT="0" marB="0"/>
                </a:tc>
                <a:tc>
                  <a:txBody>
                    <a:bodyPr/>
                    <a:lstStyle/>
                    <a:p>
                      <a:pPr algn="just">
                        <a:lnSpc>
                          <a:spcPct val="115000"/>
                        </a:lnSpc>
                        <a:spcAft>
                          <a:spcPts val="0"/>
                        </a:spcAft>
                      </a:pPr>
                      <a:r>
                        <a:rPr lang="en-US" sz="3000" dirty="0"/>
                        <a:t>is greater than</a:t>
                      </a:r>
                      <a:endParaRPr lang="en-IN" sz="3000" dirty="0">
                        <a:latin typeface="Calibri"/>
                        <a:ea typeface="Times New Roman"/>
                        <a:cs typeface="Times New Roman"/>
                      </a:endParaRPr>
                    </a:p>
                  </a:txBody>
                  <a:tcPr marL="188780" marR="188780" marT="0" marB="0"/>
                </a:tc>
              </a:tr>
              <a:tr h="530682">
                <a:tc>
                  <a:txBody>
                    <a:bodyPr/>
                    <a:lstStyle/>
                    <a:p>
                      <a:pPr algn="ctr">
                        <a:lnSpc>
                          <a:spcPct val="115000"/>
                        </a:lnSpc>
                        <a:spcAft>
                          <a:spcPts val="0"/>
                        </a:spcAft>
                      </a:pPr>
                      <a:r>
                        <a:rPr lang="en-US" sz="3000"/>
                        <a:t>&lt;</a:t>
                      </a:r>
                      <a:endParaRPr lang="en-IN" sz="3000">
                        <a:latin typeface="Calibri"/>
                        <a:ea typeface="Times New Roman"/>
                        <a:cs typeface="Times New Roman"/>
                      </a:endParaRPr>
                    </a:p>
                  </a:txBody>
                  <a:tcPr marL="188780" marR="188780" marT="0" marB="0"/>
                </a:tc>
                <a:tc>
                  <a:txBody>
                    <a:bodyPr/>
                    <a:lstStyle/>
                    <a:p>
                      <a:pPr algn="just">
                        <a:lnSpc>
                          <a:spcPct val="115000"/>
                        </a:lnSpc>
                        <a:spcAft>
                          <a:spcPts val="0"/>
                        </a:spcAft>
                      </a:pPr>
                      <a:r>
                        <a:rPr lang="en-US" sz="3000"/>
                        <a:t>is less than</a:t>
                      </a:r>
                      <a:endParaRPr lang="en-IN" sz="3000">
                        <a:latin typeface="Calibri"/>
                        <a:ea typeface="Times New Roman"/>
                        <a:cs typeface="Times New Roman"/>
                      </a:endParaRPr>
                    </a:p>
                  </a:txBody>
                  <a:tcPr marL="188780" marR="188780" marT="0" marB="0"/>
                </a:tc>
              </a:tr>
              <a:tr h="530682">
                <a:tc>
                  <a:txBody>
                    <a:bodyPr/>
                    <a:lstStyle/>
                    <a:p>
                      <a:pPr algn="ctr">
                        <a:lnSpc>
                          <a:spcPct val="115000"/>
                        </a:lnSpc>
                        <a:spcAft>
                          <a:spcPts val="0"/>
                        </a:spcAft>
                      </a:pPr>
                      <a:r>
                        <a:rPr lang="en-US" sz="3000"/>
                        <a:t>&gt;=</a:t>
                      </a:r>
                      <a:endParaRPr lang="en-IN" sz="3000">
                        <a:latin typeface="Calibri"/>
                        <a:ea typeface="Times New Roman"/>
                        <a:cs typeface="Times New Roman"/>
                      </a:endParaRPr>
                    </a:p>
                  </a:txBody>
                  <a:tcPr marL="188780" marR="188780" marT="0" marB="0"/>
                </a:tc>
                <a:tc>
                  <a:txBody>
                    <a:bodyPr/>
                    <a:lstStyle/>
                    <a:p>
                      <a:pPr algn="just">
                        <a:lnSpc>
                          <a:spcPct val="115000"/>
                        </a:lnSpc>
                        <a:spcAft>
                          <a:spcPts val="0"/>
                        </a:spcAft>
                      </a:pPr>
                      <a:r>
                        <a:rPr lang="en-US" sz="3000"/>
                        <a:t>is greater than equal to</a:t>
                      </a:r>
                      <a:endParaRPr lang="en-IN" sz="3000">
                        <a:latin typeface="Calibri"/>
                        <a:ea typeface="Times New Roman"/>
                        <a:cs typeface="Times New Roman"/>
                      </a:endParaRPr>
                    </a:p>
                  </a:txBody>
                  <a:tcPr marL="188780" marR="188780" marT="0" marB="0"/>
                </a:tc>
              </a:tr>
              <a:tr h="530682">
                <a:tc>
                  <a:txBody>
                    <a:bodyPr/>
                    <a:lstStyle/>
                    <a:p>
                      <a:pPr algn="ctr">
                        <a:lnSpc>
                          <a:spcPct val="115000"/>
                        </a:lnSpc>
                        <a:spcAft>
                          <a:spcPts val="0"/>
                        </a:spcAft>
                      </a:pPr>
                      <a:r>
                        <a:rPr lang="en-US" sz="3000"/>
                        <a:t>&lt;=</a:t>
                      </a:r>
                      <a:endParaRPr lang="en-IN" sz="3000">
                        <a:latin typeface="Calibri"/>
                        <a:ea typeface="Times New Roman"/>
                        <a:cs typeface="Times New Roman"/>
                      </a:endParaRPr>
                    </a:p>
                  </a:txBody>
                  <a:tcPr marL="188780" marR="188780" marT="0" marB="0"/>
                </a:tc>
                <a:tc>
                  <a:txBody>
                    <a:bodyPr/>
                    <a:lstStyle/>
                    <a:p>
                      <a:pPr algn="just">
                        <a:lnSpc>
                          <a:spcPct val="115000"/>
                        </a:lnSpc>
                        <a:spcAft>
                          <a:spcPts val="0"/>
                        </a:spcAft>
                      </a:pPr>
                      <a:r>
                        <a:rPr lang="en-US" sz="3000" dirty="0"/>
                        <a:t>is less than equal to</a:t>
                      </a:r>
                      <a:endParaRPr lang="en-IN" sz="3000" dirty="0">
                        <a:latin typeface="Calibri"/>
                        <a:ea typeface="Times New Roman"/>
                        <a:cs typeface="Times New Roman"/>
                      </a:endParaRPr>
                    </a:p>
                  </a:txBody>
                  <a:tcPr marL="188780" marR="188780" marT="0" marB="0"/>
                </a:tc>
              </a:tr>
            </a:tbl>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Logical Operators</a:t>
            </a:r>
          </a:p>
        </p:txBody>
      </p:sp>
      <p:graphicFrame>
        <p:nvGraphicFramePr>
          <p:cNvPr id="4" name="Content Placeholder 3"/>
          <p:cNvGraphicFramePr>
            <a:graphicFrameLocks noGrp="1"/>
          </p:cNvGraphicFramePr>
          <p:nvPr>
            <p:ph sz="quarter" idx="1"/>
          </p:nvPr>
        </p:nvGraphicFramePr>
        <p:xfrm>
          <a:off x="642930" y="1785926"/>
          <a:ext cx="7865844" cy="3714774"/>
        </p:xfrm>
        <a:graphic>
          <a:graphicData uri="http://schemas.openxmlformats.org/drawingml/2006/table">
            <a:tbl>
              <a:tblPr firstRow="1">
                <a:tableStyleId>{284E427A-3D55-4303-BF80-6455036E1DE7}</a:tableStyleId>
              </a:tblPr>
              <a:tblGrid>
                <a:gridCol w="2517070"/>
                <a:gridCol w="5348774"/>
              </a:tblGrid>
              <a:tr h="530682">
                <a:tc>
                  <a:txBody>
                    <a:bodyPr/>
                    <a:lstStyle/>
                    <a:p>
                      <a:pPr algn="ctr">
                        <a:lnSpc>
                          <a:spcPct val="115000"/>
                        </a:lnSpc>
                        <a:spcAft>
                          <a:spcPts val="0"/>
                        </a:spcAft>
                      </a:pPr>
                      <a:r>
                        <a:rPr lang="en-US" sz="3000" dirty="0">
                          <a:latin typeface="+mn-lt"/>
                        </a:rPr>
                        <a:t>Operator</a:t>
                      </a:r>
                      <a:endParaRPr lang="en-IN" sz="3000" dirty="0">
                        <a:latin typeface="+mn-lt"/>
                        <a:ea typeface="Times New Roman"/>
                        <a:cs typeface="Times New Roman"/>
                      </a:endParaRPr>
                    </a:p>
                  </a:txBody>
                  <a:tcPr marL="188780" marR="188780" marT="0" marB="0"/>
                </a:tc>
                <a:tc>
                  <a:txBody>
                    <a:bodyPr/>
                    <a:lstStyle/>
                    <a:p>
                      <a:pPr algn="just">
                        <a:lnSpc>
                          <a:spcPct val="115000"/>
                        </a:lnSpc>
                        <a:spcAft>
                          <a:spcPts val="0"/>
                        </a:spcAft>
                      </a:pPr>
                      <a:r>
                        <a:rPr lang="en-US" sz="3000" dirty="0">
                          <a:latin typeface="+mn-lt"/>
                        </a:rPr>
                        <a:t>Meaning</a:t>
                      </a:r>
                      <a:endParaRPr lang="en-IN" sz="3000" dirty="0">
                        <a:latin typeface="+mn-lt"/>
                        <a:ea typeface="Times New Roman"/>
                        <a:cs typeface="Times New Roman"/>
                      </a:endParaRPr>
                    </a:p>
                  </a:txBody>
                  <a:tcPr marL="188780" marR="188780" marT="0" marB="0"/>
                </a:tc>
              </a:tr>
              <a:tr h="530682">
                <a:tc>
                  <a:txBody>
                    <a:bodyPr/>
                    <a:lstStyle/>
                    <a:p>
                      <a:pPr algn="ctr">
                        <a:lnSpc>
                          <a:spcPct val="115000"/>
                        </a:lnSpc>
                        <a:spcAft>
                          <a:spcPts val="0"/>
                        </a:spcAft>
                      </a:pPr>
                      <a:r>
                        <a:rPr lang="en-US" sz="3000">
                          <a:latin typeface="+mn-lt"/>
                          <a:ea typeface="Times New Roman"/>
                          <a:cs typeface="Times New Roman"/>
                        </a:rPr>
                        <a:t>&amp;</a:t>
                      </a:r>
                      <a:endParaRPr lang="en-IN" sz="3000">
                        <a:latin typeface="+mn-lt"/>
                        <a:ea typeface="Times New Roman"/>
                        <a:cs typeface="Times New Roman"/>
                      </a:endParaRPr>
                    </a:p>
                  </a:txBody>
                  <a:tcPr marL="68580" marR="68580" marT="0" marB="0"/>
                </a:tc>
                <a:tc>
                  <a:txBody>
                    <a:bodyPr/>
                    <a:lstStyle/>
                    <a:p>
                      <a:pPr algn="just">
                        <a:lnSpc>
                          <a:spcPct val="115000"/>
                        </a:lnSpc>
                        <a:spcAft>
                          <a:spcPts val="0"/>
                        </a:spcAft>
                      </a:pPr>
                      <a:r>
                        <a:rPr lang="en-US" sz="3000" dirty="0">
                          <a:latin typeface="+mn-lt"/>
                          <a:ea typeface="Times New Roman"/>
                          <a:cs typeface="Times New Roman"/>
                        </a:rPr>
                        <a:t>Logical AND</a:t>
                      </a:r>
                      <a:endParaRPr lang="en-IN" sz="3000" dirty="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3000">
                          <a:latin typeface="+mn-lt"/>
                          <a:ea typeface="Times New Roman"/>
                          <a:cs typeface="Times New Roman"/>
                        </a:rPr>
                        <a:t>|</a:t>
                      </a:r>
                      <a:endParaRPr lang="en-IN" sz="3000">
                        <a:latin typeface="+mn-lt"/>
                        <a:ea typeface="Times New Roman"/>
                        <a:cs typeface="Times New Roman"/>
                      </a:endParaRPr>
                    </a:p>
                  </a:txBody>
                  <a:tcPr marL="68580" marR="68580" marT="0" marB="0"/>
                </a:tc>
                <a:tc>
                  <a:txBody>
                    <a:bodyPr/>
                    <a:lstStyle/>
                    <a:p>
                      <a:pPr algn="just">
                        <a:lnSpc>
                          <a:spcPct val="115000"/>
                        </a:lnSpc>
                        <a:spcAft>
                          <a:spcPts val="0"/>
                        </a:spcAft>
                      </a:pPr>
                      <a:r>
                        <a:rPr lang="en-US" sz="3000">
                          <a:latin typeface="+mn-lt"/>
                          <a:ea typeface="Times New Roman"/>
                          <a:cs typeface="Times New Roman"/>
                        </a:rPr>
                        <a:t>Logical OR</a:t>
                      </a:r>
                      <a:endParaRPr lang="en-IN" sz="300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3000">
                          <a:latin typeface="+mn-lt"/>
                          <a:ea typeface="Times New Roman"/>
                          <a:cs typeface="Times New Roman"/>
                        </a:rPr>
                        <a:t>^</a:t>
                      </a:r>
                      <a:endParaRPr lang="en-IN" sz="3000">
                        <a:latin typeface="+mn-lt"/>
                        <a:ea typeface="Times New Roman"/>
                        <a:cs typeface="Times New Roman"/>
                      </a:endParaRPr>
                    </a:p>
                  </a:txBody>
                  <a:tcPr marL="68580" marR="68580" marT="0" marB="0"/>
                </a:tc>
                <a:tc>
                  <a:txBody>
                    <a:bodyPr/>
                    <a:lstStyle/>
                    <a:p>
                      <a:pPr algn="just">
                        <a:lnSpc>
                          <a:spcPct val="115000"/>
                        </a:lnSpc>
                        <a:spcAft>
                          <a:spcPts val="0"/>
                        </a:spcAft>
                      </a:pPr>
                      <a:r>
                        <a:rPr lang="en-US" sz="3000" dirty="0">
                          <a:latin typeface="+mn-lt"/>
                          <a:ea typeface="Times New Roman"/>
                          <a:cs typeface="Times New Roman"/>
                        </a:rPr>
                        <a:t>Logical EX-OR</a:t>
                      </a:r>
                      <a:endParaRPr lang="en-IN" sz="3000" dirty="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3000">
                          <a:latin typeface="+mn-lt"/>
                          <a:ea typeface="Times New Roman"/>
                          <a:cs typeface="Times New Roman"/>
                        </a:rPr>
                        <a:t>!</a:t>
                      </a:r>
                      <a:endParaRPr lang="en-IN" sz="3000">
                        <a:latin typeface="+mn-lt"/>
                        <a:ea typeface="Times New Roman"/>
                        <a:cs typeface="Times New Roman"/>
                      </a:endParaRPr>
                    </a:p>
                  </a:txBody>
                  <a:tcPr marL="68580" marR="68580" marT="0" marB="0"/>
                </a:tc>
                <a:tc>
                  <a:txBody>
                    <a:bodyPr/>
                    <a:lstStyle/>
                    <a:p>
                      <a:pPr algn="just">
                        <a:lnSpc>
                          <a:spcPct val="115000"/>
                        </a:lnSpc>
                        <a:spcAft>
                          <a:spcPts val="0"/>
                        </a:spcAft>
                      </a:pPr>
                      <a:r>
                        <a:rPr lang="en-US" sz="3000" dirty="0">
                          <a:latin typeface="+mn-lt"/>
                          <a:ea typeface="Times New Roman"/>
                          <a:cs typeface="Times New Roman"/>
                        </a:rPr>
                        <a:t>Logical Not</a:t>
                      </a:r>
                      <a:endParaRPr lang="en-IN" sz="3000" dirty="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3000" b="1" dirty="0">
                          <a:latin typeface="+mn-lt"/>
                          <a:ea typeface="Times New Roman"/>
                          <a:cs typeface="Times New Roman"/>
                        </a:rPr>
                        <a:t>&amp;&amp;</a:t>
                      </a:r>
                      <a:endParaRPr lang="en-IN" sz="3000" b="1" dirty="0">
                        <a:latin typeface="+mn-lt"/>
                        <a:ea typeface="Times New Roman"/>
                        <a:cs typeface="Times New Roman"/>
                      </a:endParaRPr>
                    </a:p>
                  </a:txBody>
                  <a:tcPr marL="68580" marR="68580" marT="0" marB="0"/>
                </a:tc>
                <a:tc>
                  <a:txBody>
                    <a:bodyPr/>
                    <a:lstStyle/>
                    <a:p>
                      <a:pPr algn="just">
                        <a:lnSpc>
                          <a:spcPct val="115000"/>
                        </a:lnSpc>
                        <a:spcAft>
                          <a:spcPts val="0"/>
                        </a:spcAft>
                      </a:pPr>
                      <a:r>
                        <a:rPr lang="en-US" sz="3000" b="1" dirty="0">
                          <a:latin typeface="+mn-lt"/>
                          <a:ea typeface="Times New Roman"/>
                          <a:cs typeface="Times New Roman"/>
                        </a:rPr>
                        <a:t>Short Circuit AND</a:t>
                      </a:r>
                      <a:endParaRPr lang="en-IN" sz="3000" b="1" dirty="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3000" b="1">
                          <a:latin typeface="+mn-lt"/>
                          <a:ea typeface="Times New Roman"/>
                          <a:cs typeface="Times New Roman"/>
                        </a:rPr>
                        <a:t>||</a:t>
                      </a:r>
                      <a:endParaRPr lang="en-IN" sz="3000" b="1">
                        <a:latin typeface="+mn-lt"/>
                        <a:ea typeface="Times New Roman"/>
                        <a:cs typeface="Times New Roman"/>
                      </a:endParaRPr>
                    </a:p>
                  </a:txBody>
                  <a:tcPr marL="68580" marR="68580" marT="0" marB="0"/>
                </a:tc>
                <a:tc>
                  <a:txBody>
                    <a:bodyPr/>
                    <a:lstStyle/>
                    <a:p>
                      <a:pPr algn="just">
                        <a:lnSpc>
                          <a:spcPct val="115000"/>
                        </a:lnSpc>
                        <a:spcAft>
                          <a:spcPts val="0"/>
                        </a:spcAft>
                      </a:pPr>
                      <a:r>
                        <a:rPr lang="en-US" sz="3000" b="1" dirty="0">
                          <a:latin typeface="+mn-lt"/>
                          <a:ea typeface="Times New Roman"/>
                          <a:cs typeface="Times New Roman"/>
                        </a:rPr>
                        <a:t>Short Circuit OR</a:t>
                      </a:r>
                      <a:endParaRPr lang="en-IN" sz="3000" b="1" dirty="0">
                        <a:latin typeface="+mn-lt"/>
                        <a:ea typeface="Times New Roman"/>
                        <a:cs typeface="Times New Roman"/>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Logical Operators</a:t>
            </a:r>
          </a:p>
        </p:txBody>
      </p:sp>
      <p:graphicFrame>
        <p:nvGraphicFramePr>
          <p:cNvPr id="4" name="Content Placeholder 3"/>
          <p:cNvGraphicFramePr>
            <a:graphicFrameLocks noGrp="1"/>
          </p:cNvGraphicFramePr>
          <p:nvPr>
            <p:ph sz="quarter" idx="1"/>
          </p:nvPr>
        </p:nvGraphicFramePr>
        <p:xfrm>
          <a:off x="631518" y="1714488"/>
          <a:ext cx="8226762" cy="4556760"/>
        </p:xfrm>
        <a:graphic>
          <a:graphicData uri="http://schemas.openxmlformats.org/drawingml/2006/table">
            <a:tbl>
              <a:tblPr/>
              <a:tblGrid>
                <a:gridCol w="1381944"/>
                <a:gridCol w="6844818"/>
              </a:tblGrid>
              <a:tr h="0">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err="1">
                          <a:latin typeface="Times New Roman" pitchFamily="18" charset="0"/>
                          <a:ea typeface="Times New Roman"/>
                          <a:cs typeface="Times New Roman" pitchFamily="18" charset="0"/>
                        </a:rPr>
                        <a:t>boolean</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helped_mom</a:t>
                      </a:r>
                      <a:r>
                        <a:rPr lang="en-US" sz="2000" dirty="0">
                          <a:latin typeface="Times New Roman" pitchFamily="18" charset="0"/>
                          <a:ea typeface="Times New Roman"/>
                          <a:cs typeface="Times New Roman" pitchFamily="18" charset="0"/>
                        </a:rPr>
                        <a:t> = </a:t>
                      </a:r>
                      <a:r>
                        <a:rPr lang="en-US" sz="2000" dirty="0" err="1">
                          <a:latin typeface="Times New Roman" pitchFamily="18" charset="0"/>
                          <a:ea typeface="Times New Roman"/>
                          <a:cs typeface="Times New Roman" pitchFamily="18" charset="0"/>
                        </a:rPr>
                        <a:t>helpMom</a:t>
                      </a:r>
                      <a:r>
                        <a:rPr lang="en-US" sz="2000" dirty="0">
                          <a:latin typeface="Times New Roman" pitchFamily="18" charset="0"/>
                          <a:ea typeface="Times New Roman"/>
                          <a:cs typeface="Times New Roman" pitchFamily="18" charset="0"/>
                        </a:rPr>
                        <a:t>();  </a:t>
                      </a:r>
                      <a:endParaRPr lang="en-IN" sz="2000" dirty="0">
                        <a:latin typeface="Times New Roman" pitchFamily="18" charset="0"/>
                        <a:ea typeface="Times New Roman"/>
                        <a:cs typeface="Times New Roman" pitchFamily="18" charset="0"/>
                      </a:endParaRPr>
                    </a:p>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err="1">
                          <a:latin typeface="Times New Roman" pitchFamily="18" charset="0"/>
                          <a:ea typeface="Times New Roman"/>
                          <a:cs typeface="Times New Roman" pitchFamily="18" charset="0"/>
                        </a:rPr>
                        <a:t>boolean</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helped_dad</a:t>
                      </a:r>
                      <a:r>
                        <a:rPr lang="en-US" sz="2000" dirty="0">
                          <a:latin typeface="Times New Roman" pitchFamily="18" charset="0"/>
                          <a:ea typeface="Times New Roman"/>
                          <a:cs typeface="Times New Roman" pitchFamily="18" charset="0"/>
                        </a:rPr>
                        <a:t> = </a:t>
                      </a:r>
                      <a:r>
                        <a:rPr lang="en-US" sz="2000" dirty="0" err="1">
                          <a:latin typeface="Times New Roman" pitchFamily="18" charset="0"/>
                          <a:ea typeface="Times New Roman"/>
                          <a:cs typeface="Times New Roman" pitchFamily="18" charset="0"/>
                        </a:rPr>
                        <a:t>helpDad</a:t>
                      </a:r>
                      <a:r>
                        <a:rPr lang="en-US" sz="2000" dirty="0">
                          <a:latin typeface="Times New Roman" pitchFamily="18" charset="0"/>
                          <a:ea typeface="Times New Roman"/>
                          <a:cs typeface="Times New Roman" pitchFamily="18" charset="0"/>
                        </a:rPr>
                        <a:t>();  </a:t>
                      </a:r>
                      <a:endParaRPr lang="en-IN" sz="2000" dirty="0">
                        <a:latin typeface="Times New Roman" pitchFamily="18" charset="0"/>
                        <a:ea typeface="Times New Roman"/>
                        <a:cs typeface="Times New Roman" pitchFamily="18" charset="0"/>
                      </a:endParaRPr>
                    </a:p>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a:latin typeface="Times New Roman" pitchFamily="18" charset="0"/>
                          <a:ea typeface="Times New Roman"/>
                          <a:cs typeface="Times New Roman" pitchFamily="18" charset="0"/>
                        </a:rPr>
                        <a:t>  </a:t>
                      </a:r>
                      <a:endParaRPr lang="en-IN" sz="2000" dirty="0">
                        <a:latin typeface="Times New Roman" pitchFamily="18" charset="0"/>
                        <a:ea typeface="Times New Roman"/>
                        <a:cs typeface="Times New Roman" pitchFamily="18" charset="0"/>
                      </a:endParaRPr>
                    </a:p>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a:latin typeface="Times New Roman" pitchFamily="18" charset="0"/>
                          <a:ea typeface="Times New Roman"/>
                          <a:cs typeface="Times New Roman" pitchFamily="18" charset="0"/>
                        </a:rPr>
                        <a:t>if (</a:t>
                      </a:r>
                      <a:r>
                        <a:rPr lang="en-US" sz="2000" dirty="0" err="1">
                          <a:latin typeface="Times New Roman" pitchFamily="18" charset="0"/>
                          <a:ea typeface="Times New Roman"/>
                          <a:cs typeface="Times New Roman" pitchFamily="18" charset="0"/>
                        </a:rPr>
                        <a:t>helped_mom</a:t>
                      </a:r>
                      <a:r>
                        <a:rPr lang="en-US" sz="2000" dirty="0">
                          <a:latin typeface="Times New Roman" pitchFamily="18" charset="0"/>
                          <a:ea typeface="Times New Roman"/>
                          <a:cs typeface="Times New Roman" pitchFamily="18" charset="0"/>
                        </a:rPr>
                        <a:t> || </a:t>
                      </a:r>
                      <a:r>
                        <a:rPr lang="en-US" sz="2000" dirty="0" err="1">
                          <a:latin typeface="Times New Roman" pitchFamily="18" charset="0"/>
                          <a:ea typeface="Times New Roman"/>
                          <a:cs typeface="Times New Roman" pitchFamily="18" charset="0"/>
                        </a:rPr>
                        <a:t>helped_dad</a:t>
                      </a:r>
                      <a:r>
                        <a:rPr lang="en-US" sz="2000" dirty="0">
                          <a:latin typeface="Times New Roman" pitchFamily="18" charset="0"/>
                          <a:ea typeface="Times New Roman"/>
                          <a:cs typeface="Times New Roman" pitchFamily="18" charset="0"/>
                        </a:rPr>
                        <a:t>) </a:t>
                      </a:r>
                      <a:endParaRPr lang="en-IN" sz="2000" dirty="0">
                        <a:latin typeface="Times New Roman" pitchFamily="18" charset="0"/>
                        <a:ea typeface="Times New Roman"/>
                        <a:cs typeface="Times New Roman" pitchFamily="18" charset="0"/>
                      </a:endParaRPr>
                    </a:p>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a:latin typeface="Times New Roman" pitchFamily="18" charset="0"/>
                          <a:ea typeface="Times New Roman"/>
                          <a:cs typeface="Times New Roman" pitchFamily="18" charset="0"/>
                        </a:rPr>
                        <a:t>{  </a:t>
                      </a:r>
                      <a:endParaRPr lang="en-IN" sz="2000" dirty="0">
                        <a:latin typeface="Times New Roman" pitchFamily="18" charset="0"/>
                        <a:ea typeface="Times New Roman"/>
                        <a:cs typeface="Times New Roman" pitchFamily="18" charset="0"/>
                      </a:endParaRPr>
                    </a:p>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playGames</a:t>
                      </a:r>
                      <a:r>
                        <a:rPr lang="en-US" sz="2000" dirty="0">
                          <a:latin typeface="Times New Roman" pitchFamily="18" charset="0"/>
                          <a:ea typeface="Times New Roman"/>
                          <a:cs typeface="Times New Roman" pitchFamily="18" charset="0"/>
                        </a:rPr>
                        <a:t>();  </a:t>
                      </a:r>
                      <a:endParaRPr lang="en-IN" sz="2000" dirty="0" smtClean="0">
                        <a:latin typeface="Times New Roman" pitchFamily="18" charset="0"/>
                        <a:ea typeface="Times New Roman"/>
                        <a:cs typeface="Times New Roman" pitchFamily="18" charset="0"/>
                      </a:endParaRPr>
                    </a:p>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smtClean="0">
                          <a:latin typeface="Times New Roman" pitchFamily="18" charset="0"/>
                          <a:ea typeface="Times New Roman"/>
                          <a:cs typeface="Times New Roman" pitchFamily="18" charset="0"/>
                        </a:rPr>
                        <a:t>}</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0"/>
                        </a:spcAft>
                      </a:pPr>
                      <a:r>
                        <a:rPr lang="en-US" sz="2000">
                          <a:latin typeface="Times New Roman" pitchFamily="18" charset="0"/>
                          <a:ea typeface="Times New Roman"/>
                          <a:cs typeface="Times New Roman" pitchFamily="18" charset="0"/>
                        </a:rPr>
                        <a:t>Explanation:</a:t>
                      </a:r>
                      <a:endParaRPr lang="en-IN" sz="20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err="1">
                          <a:latin typeface="Times New Roman" pitchFamily="18" charset="0"/>
                          <a:ea typeface="Times New Roman"/>
                          <a:cs typeface="Times New Roman" pitchFamily="18" charset="0"/>
                        </a:rPr>
                        <a:t>helpMom</a:t>
                      </a:r>
                      <a:r>
                        <a:rPr lang="en-US" sz="2000" dirty="0">
                          <a:latin typeface="Times New Roman" pitchFamily="18" charset="0"/>
                          <a:ea typeface="Times New Roman"/>
                          <a:cs typeface="Times New Roman" pitchFamily="18" charset="0"/>
                        </a:rPr>
                        <a:t>() and </a:t>
                      </a:r>
                      <a:r>
                        <a:rPr lang="en-US" sz="2000" dirty="0" err="1">
                          <a:latin typeface="Times New Roman" pitchFamily="18" charset="0"/>
                          <a:ea typeface="Times New Roman"/>
                          <a:cs typeface="Times New Roman" pitchFamily="18" charset="0"/>
                        </a:rPr>
                        <a:t>helpDad</a:t>
                      </a:r>
                      <a:r>
                        <a:rPr lang="en-US" sz="2000" dirty="0">
                          <a:latin typeface="Times New Roman" pitchFamily="18" charset="0"/>
                          <a:ea typeface="Times New Roman"/>
                          <a:cs typeface="Times New Roman" pitchFamily="18" charset="0"/>
                        </a:rPr>
                        <a:t>()  methods checks whether you helped mom or dad and return the </a:t>
                      </a:r>
                      <a:r>
                        <a:rPr lang="en-US" sz="2000" dirty="0" err="1">
                          <a:latin typeface="Times New Roman" pitchFamily="18" charset="0"/>
                          <a:ea typeface="Times New Roman"/>
                          <a:cs typeface="Times New Roman" pitchFamily="18" charset="0"/>
                        </a:rPr>
                        <a:t>boolean</a:t>
                      </a:r>
                      <a:r>
                        <a:rPr lang="en-US" sz="2000" dirty="0">
                          <a:latin typeface="Times New Roman" pitchFamily="18" charset="0"/>
                          <a:ea typeface="Times New Roman"/>
                          <a:cs typeface="Times New Roman" pitchFamily="18" charset="0"/>
                        </a:rPr>
                        <a:t> value (i.e. true or false) which we store in </a:t>
                      </a:r>
                      <a:r>
                        <a:rPr lang="en-US" sz="2000" dirty="0" err="1">
                          <a:latin typeface="Times New Roman" pitchFamily="18" charset="0"/>
                          <a:ea typeface="Times New Roman"/>
                          <a:cs typeface="Times New Roman" pitchFamily="18" charset="0"/>
                        </a:rPr>
                        <a:t>boolean</a:t>
                      </a:r>
                      <a:r>
                        <a:rPr lang="en-US" sz="2000" dirty="0">
                          <a:latin typeface="Times New Roman" pitchFamily="18" charset="0"/>
                          <a:ea typeface="Times New Roman"/>
                          <a:cs typeface="Times New Roman" pitchFamily="18" charset="0"/>
                        </a:rPr>
                        <a:t> variables </a:t>
                      </a:r>
                      <a:r>
                        <a:rPr lang="en-US" sz="2000" dirty="0" err="1">
                          <a:latin typeface="Times New Roman" pitchFamily="18" charset="0"/>
                          <a:ea typeface="Times New Roman"/>
                          <a:cs typeface="Times New Roman" pitchFamily="18" charset="0"/>
                        </a:rPr>
                        <a:t>helped_mon</a:t>
                      </a:r>
                      <a:r>
                        <a:rPr lang="en-US" sz="2000" dirty="0">
                          <a:latin typeface="Times New Roman" pitchFamily="18" charset="0"/>
                          <a:ea typeface="Times New Roman"/>
                          <a:cs typeface="Times New Roman" pitchFamily="18" charset="0"/>
                        </a:rPr>
                        <a:t> and </a:t>
                      </a:r>
                      <a:r>
                        <a:rPr lang="en-US" sz="2000" dirty="0" err="1">
                          <a:latin typeface="Times New Roman" pitchFamily="18" charset="0"/>
                          <a:ea typeface="Times New Roman"/>
                          <a:cs typeface="Times New Roman" pitchFamily="18" charset="0"/>
                        </a:rPr>
                        <a:t>helped_dad</a:t>
                      </a:r>
                      <a:r>
                        <a:rPr lang="en-US" sz="2000" dirty="0">
                          <a:latin typeface="Times New Roman" pitchFamily="18" charset="0"/>
                          <a:ea typeface="Times New Roman"/>
                          <a:cs typeface="Times New Roman" pitchFamily="18" charset="0"/>
                        </a:rPr>
                        <a:t> which then evaluated using Short Circuit OR. </a:t>
                      </a:r>
                      <a:endParaRPr lang="en-US" sz="2000" dirty="0" smtClean="0">
                        <a:latin typeface="Times New Roman" pitchFamily="18" charset="0"/>
                        <a:ea typeface="Times New Roman"/>
                        <a:cs typeface="Times New Roman" pitchFamily="18" charset="0"/>
                      </a:endParaRPr>
                    </a:p>
                    <a:p>
                      <a:pPr algn="just">
                        <a:lnSpc>
                          <a:spcPct val="115000"/>
                        </a:lnSpc>
                        <a:spcAft>
                          <a:spcPts val="0"/>
                        </a:spcAft>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 pos="3200400" algn="l"/>
                          <a:tab pos="3429000" algn="l"/>
                          <a:tab pos="3657600" algn="l"/>
                          <a:tab pos="3886200" algn="l"/>
                          <a:tab pos="4114800" algn="l"/>
                          <a:tab pos="4343400" algn="l"/>
                          <a:tab pos="4572000" algn="l"/>
                          <a:tab pos="4800600" algn="l"/>
                          <a:tab pos="5029200" algn="l"/>
                          <a:tab pos="5257800" algn="l"/>
                          <a:tab pos="5486400" algn="l"/>
                          <a:tab pos="5715000" algn="l"/>
                          <a:tab pos="5943600" algn="l"/>
                          <a:tab pos="6172200" algn="l"/>
                          <a:tab pos="6400800" algn="l"/>
                          <a:tab pos="6629400" algn="l"/>
                          <a:tab pos="6858000" algn="l"/>
                          <a:tab pos="7086600" algn="l"/>
                          <a:tab pos="7315200" algn="l"/>
                        </a:tabLst>
                      </a:pPr>
                      <a:r>
                        <a:rPr lang="en-US" sz="2000" dirty="0" smtClean="0">
                          <a:latin typeface="Times New Roman" pitchFamily="18" charset="0"/>
                          <a:ea typeface="Times New Roman"/>
                          <a:cs typeface="Times New Roman" pitchFamily="18" charset="0"/>
                        </a:rPr>
                        <a:t>Even </a:t>
                      </a:r>
                      <a:r>
                        <a:rPr lang="en-US" sz="2000" dirty="0">
                          <a:latin typeface="Times New Roman" pitchFamily="18" charset="0"/>
                          <a:ea typeface="Times New Roman"/>
                          <a:cs typeface="Times New Roman" pitchFamily="18" charset="0"/>
                        </a:rPr>
                        <a:t>if you helped either mom or dad you are allowed to play game i.e. </a:t>
                      </a:r>
                      <a:r>
                        <a:rPr lang="en-US" sz="2000" dirty="0" err="1">
                          <a:latin typeface="Times New Roman" pitchFamily="18" charset="0"/>
                          <a:ea typeface="Times New Roman"/>
                          <a:cs typeface="Times New Roman" pitchFamily="18" charset="0"/>
                        </a:rPr>
                        <a:t>playGames</a:t>
                      </a:r>
                      <a:r>
                        <a:rPr lang="en-US" sz="2000" dirty="0">
                          <a:latin typeface="Times New Roman" pitchFamily="18" charset="0"/>
                          <a:ea typeface="Times New Roman"/>
                          <a:cs typeface="Times New Roman" pitchFamily="18" charset="0"/>
                        </a:rPr>
                        <a:t>() method executes.</a:t>
                      </a:r>
                      <a:endParaRPr lang="en-IN" sz="20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Bitwise Operators</a:t>
            </a:r>
          </a:p>
        </p:txBody>
      </p:sp>
      <p:graphicFrame>
        <p:nvGraphicFramePr>
          <p:cNvPr id="4" name="Content Placeholder 3"/>
          <p:cNvGraphicFramePr>
            <a:graphicFrameLocks noGrp="1"/>
          </p:cNvGraphicFramePr>
          <p:nvPr>
            <p:ph sz="quarter" idx="1"/>
          </p:nvPr>
        </p:nvGraphicFramePr>
        <p:xfrm>
          <a:off x="642930" y="1785926"/>
          <a:ext cx="7865844" cy="3714774"/>
        </p:xfrm>
        <a:graphic>
          <a:graphicData uri="http://schemas.openxmlformats.org/drawingml/2006/table">
            <a:tbl>
              <a:tblPr firstRow="1">
                <a:tableStyleId>{284E427A-3D55-4303-BF80-6455036E1DE7}</a:tableStyleId>
              </a:tblPr>
              <a:tblGrid>
                <a:gridCol w="2517070"/>
                <a:gridCol w="5348774"/>
              </a:tblGrid>
              <a:tr h="530682">
                <a:tc>
                  <a:txBody>
                    <a:bodyPr/>
                    <a:lstStyle/>
                    <a:p>
                      <a:pPr algn="ctr">
                        <a:lnSpc>
                          <a:spcPct val="115000"/>
                        </a:lnSpc>
                        <a:spcAft>
                          <a:spcPts val="0"/>
                        </a:spcAft>
                      </a:pPr>
                      <a:r>
                        <a:rPr lang="en-US" sz="2800" dirty="0">
                          <a:latin typeface="+mn-lt"/>
                        </a:rPr>
                        <a:t>Operator</a:t>
                      </a:r>
                      <a:endParaRPr lang="en-IN" sz="2800" dirty="0">
                        <a:latin typeface="+mn-lt"/>
                        <a:ea typeface="Times New Roman"/>
                        <a:cs typeface="Times New Roman"/>
                      </a:endParaRPr>
                    </a:p>
                  </a:txBody>
                  <a:tcPr marL="188780" marR="188780" marT="0" marB="0"/>
                </a:tc>
                <a:tc>
                  <a:txBody>
                    <a:bodyPr/>
                    <a:lstStyle/>
                    <a:p>
                      <a:pPr algn="just">
                        <a:lnSpc>
                          <a:spcPct val="115000"/>
                        </a:lnSpc>
                        <a:spcAft>
                          <a:spcPts val="0"/>
                        </a:spcAft>
                      </a:pPr>
                      <a:r>
                        <a:rPr lang="en-US" sz="2800" dirty="0">
                          <a:latin typeface="+mn-lt"/>
                        </a:rPr>
                        <a:t>Meaning</a:t>
                      </a:r>
                      <a:endParaRPr lang="en-IN" sz="2800" dirty="0">
                        <a:latin typeface="+mn-lt"/>
                        <a:ea typeface="Times New Roman"/>
                        <a:cs typeface="Times New Roman"/>
                      </a:endParaRPr>
                    </a:p>
                  </a:txBody>
                  <a:tcPr marL="188780" marR="188780" marT="0" marB="0"/>
                </a:tc>
              </a:tr>
              <a:tr h="530682">
                <a:tc>
                  <a:txBody>
                    <a:bodyPr/>
                    <a:lstStyle/>
                    <a:p>
                      <a:pPr algn="ctr">
                        <a:lnSpc>
                          <a:spcPct val="115000"/>
                        </a:lnSpc>
                        <a:spcAft>
                          <a:spcPts val="0"/>
                        </a:spcAft>
                      </a:pPr>
                      <a:r>
                        <a:rPr lang="en-US" sz="2800">
                          <a:latin typeface="+mn-lt"/>
                          <a:ea typeface="Times New Roman"/>
                          <a:cs typeface="Times New Roman"/>
                        </a:rPr>
                        <a:t>~</a:t>
                      </a:r>
                      <a:endParaRPr lang="en-IN" sz="2800">
                        <a:latin typeface="+mn-lt"/>
                        <a:ea typeface="Times New Roman"/>
                        <a:cs typeface="Times New Roman"/>
                      </a:endParaRPr>
                    </a:p>
                  </a:txBody>
                  <a:tcPr marL="68580" marR="68580" marT="0" marB="0"/>
                </a:tc>
                <a:tc>
                  <a:txBody>
                    <a:bodyPr/>
                    <a:lstStyle/>
                    <a:p>
                      <a:pPr>
                        <a:lnSpc>
                          <a:spcPct val="115000"/>
                        </a:lnSpc>
                        <a:spcAft>
                          <a:spcPts val="0"/>
                        </a:spcAft>
                      </a:pPr>
                      <a:r>
                        <a:rPr lang="en-US" sz="2800" dirty="0">
                          <a:latin typeface="+mn-lt"/>
                          <a:ea typeface="Times New Roman"/>
                          <a:cs typeface="Times New Roman"/>
                        </a:rPr>
                        <a:t>Bitwise Not</a:t>
                      </a:r>
                      <a:endParaRPr lang="en-IN" sz="2800" dirty="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2800">
                          <a:latin typeface="+mn-lt"/>
                          <a:ea typeface="Times New Roman"/>
                          <a:cs typeface="Times New Roman"/>
                        </a:rPr>
                        <a:t>&amp;</a:t>
                      </a:r>
                      <a:endParaRPr lang="en-IN" sz="2800">
                        <a:latin typeface="+mn-lt"/>
                        <a:ea typeface="Times New Roman"/>
                        <a:cs typeface="Times New Roman"/>
                      </a:endParaRPr>
                    </a:p>
                  </a:txBody>
                  <a:tcPr marL="68580" marR="68580" marT="0" marB="0"/>
                </a:tc>
                <a:tc>
                  <a:txBody>
                    <a:bodyPr/>
                    <a:lstStyle/>
                    <a:p>
                      <a:pPr>
                        <a:lnSpc>
                          <a:spcPct val="115000"/>
                        </a:lnSpc>
                        <a:spcAft>
                          <a:spcPts val="0"/>
                        </a:spcAft>
                      </a:pPr>
                      <a:r>
                        <a:rPr lang="en-US" sz="2800">
                          <a:latin typeface="+mn-lt"/>
                          <a:ea typeface="Times New Roman"/>
                          <a:cs typeface="Times New Roman"/>
                        </a:rPr>
                        <a:t>Bitwise AND</a:t>
                      </a:r>
                      <a:endParaRPr lang="en-IN" sz="280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2800">
                          <a:latin typeface="+mn-lt"/>
                          <a:ea typeface="Times New Roman"/>
                          <a:cs typeface="Times New Roman"/>
                        </a:rPr>
                        <a:t>|</a:t>
                      </a:r>
                      <a:endParaRPr lang="en-IN" sz="2800">
                        <a:latin typeface="+mn-lt"/>
                        <a:ea typeface="Times New Roman"/>
                        <a:cs typeface="Times New Roman"/>
                      </a:endParaRPr>
                    </a:p>
                  </a:txBody>
                  <a:tcPr marL="68580" marR="68580" marT="0" marB="0"/>
                </a:tc>
                <a:tc>
                  <a:txBody>
                    <a:bodyPr/>
                    <a:lstStyle/>
                    <a:p>
                      <a:pPr>
                        <a:lnSpc>
                          <a:spcPct val="115000"/>
                        </a:lnSpc>
                        <a:spcAft>
                          <a:spcPts val="0"/>
                        </a:spcAft>
                      </a:pPr>
                      <a:r>
                        <a:rPr lang="en-US" sz="2800">
                          <a:latin typeface="+mn-lt"/>
                          <a:ea typeface="Times New Roman"/>
                          <a:cs typeface="Times New Roman"/>
                        </a:rPr>
                        <a:t>Bitwise OR</a:t>
                      </a:r>
                      <a:endParaRPr lang="en-IN" sz="280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2800">
                          <a:latin typeface="+mn-lt"/>
                          <a:ea typeface="Times New Roman"/>
                          <a:cs typeface="Times New Roman"/>
                        </a:rPr>
                        <a:t>^</a:t>
                      </a:r>
                      <a:endParaRPr lang="en-IN" sz="2800">
                        <a:latin typeface="+mn-lt"/>
                        <a:ea typeface="Times New Roman"/>
                        <a:cs typeface="Times New Roman"/>
                      </a:endParaRPr>
                    </a:p>
                  </a:txBody>
                  <a:tcPr marL="68580" marR="68580" marT="0" marB="0"/>
                </a:tc>
                <a:tc>
                  <a:txBody>
                    <a:bodyPr/>
                    <a:lstStyle/>
                    <a:p>
                      <a:pPr>
                        <a:lnSpc>
                          <a:spcPct val="115000"/>
                        </a:lnSpc>
                        <a:spcAft>
                          <a:spcPts val="0"/>
                        </a:spcAft>
                      </a:pPr>
                      <a:r>
                        <a:rPr lang="en-US" sz="2800">
                          <a:latin typeface="+mn-lt"/>
                          <a:ea typeface="Times New Roman"/>
                          <a:cs typeface="Times New Roman"/>
                        </a:rPr>
                        <a:t>Bitwise EX-OR</a:t>
                      </a:r>
                      <a:endParaRPr lang="en-IN" sz="280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2800">
                          <a:latin typeface="+mn-lt"/>
                          <a:ea typeface="Times New Roman"/>
                          <a:cs typeface="Times New Roman"/>
                        </a:rPr>
                        <a:t>&gt;&gt;</a:t>
                      </a:r>
                      <a:endParaRPr lang="en-IN" sz="2800">
                        <a:latin typeface="+mn-lt"/>
                        <a:ea typeface="Times New Roman"/>
                        <a:cs typeface="Times New Roman"/>
                      </a:endParaRPr>
                    </a:p>
                  </a:txBody>
                  <a:tcPr marL="68580" marR="68580" marT="0" marB="0"/>
                </a:tc>
                <a:tc>
                  <a:txBody>
                    <a:bodyPr/>
                    <a:lstStyle/>
                    <a:p>
                      <a:pPr>
                        <a:lnSpc>
                          <a:spcPct val="115000"/>
                        </a:lnSpc>
                        <a:spcAft>
                          <a:spcPts val="0"/>
                        </a:spcAft>
                      </a:pPr>
                      <a:r>
                        <a:rPr lang="en-US" sz="2800">
                          <a:latin typeface="+mn-lt"/>
                          <a:ea typeface="Times New Roman"/>
                          <a:cs typeface="Times New Roman"/>
                        </a:rPr>
                        <a:t>Shift Right</a:t>
                      </a:r>
                      <a:endParaRPr lang="en-IN" sz="2800">
                        <a:latin typeface="+mn-lt"/>
                        <a:ea typeface="Times New Roman"/>
                        <a:cs typeface="Times New Roman"/>
                      </a:endParaRPr>
                    </a:p>
                  </a:txBody>
                  <a:tcPr marL="68580" marR="68580" marT="0" marB="0"/>
                </a:tc>
              </a:tr>
              <a:tr h="530682">
                <a:tc>
                  <a:txBody>
                    <a:bodyPr/>
                    <a:lstStyle/>
                    <a:p>
                      <a:pPr algn="ctr">
                        <a:lnSpc>
                          <a:spcPct val="115000"/>
                        </a:lnSpc>
                        <a:spcAft>
                          <a:spcPts val="0"/>
                        </a:spcAft>
                      </a:pPr>
                      <a:r>
                        <a:rPr lang="en-US" sz="2800">
                          <a:latin typeface="+mn-lt"/>
                          <a:ea typeface="Times New Roman"/>
                          <a:cs typeface="Times New Roman"/>
                        </a:rPr>
                        <a:t>&lt;&lt;</a:t>
                      </a:r>
                      <a:endParaRPr lang="en-IN" sz="2800">
                        <a:latin typeface="+mn-lt"/>
                        <a:ea typeface="Times New Roman"/>
                        <a:cs typeface="Times New Roman"/>
                      </a:endParaRPr>
                    </a:p>
                  </a:txBody>
                  <a:tcPr marL="68580" marR="68580" marT="0" marB="0"/>
                </a:tc>
                <a:tc>
                  <a:txBody>
                    <a:bodyPr/>
                    <a:lstStyle/>
                    <a:p>
                      <a:pPr>
                        <a:lnSpc>
                          <a:spcPct val="115000"/>
                        </a:lnSpc>
                        <a:spcAft>
                          <a:spcPts val="0"/>
                        </a:spcAft>
                      </a:pPr>
                      <a:r>
                        <a:rPr lang="en-US" sz="2800" dirty="0">
                          <a:latin typeface="+mn-lt"/>
                          <a:ea typeface="Times New Roman"/>
                          <a:cs typeface="Times New Roman"/>
                        </a:rPr>
                        <a:t>Shift Left</a:t>
                      </a:r>
                      <a:endParaRPr lang="en-IN" sz="2800" dirty="0">
                        <a:latin typeface="+mn-lt"/>
                        <a:ea typeface="Times New Roman"/>
                        <a:cs typeface="Times New Roman"/>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Bitwise Operators</a:t>
            </a:r>
          </a:p>
        </p:txBody>
      </p:sp>
      <p:sp>
        <p:nvSpPr>
          <p:cNvPr id="5" name="Content Placeholder 4"/>
          <p:cNvSpPr>
            <a:spLocks noGrp="1"/>
          </p:cNvSpPr>
          <p:nvPr>
            <p:ph sz="quarter" idx="1"/>
          </p:nvPr>
        </p:nvSpPr>
        <p:spPr/>
        <p:txBody>
          <a:bodyPr>
            <a:normAutofit/>
          </a:bodyPr>
          <a:lstStyle/>
          <a:p>
            <a:r>
              <a:rPr lang="en-US" sz="2200" b="1" dirty="0" smtClean="0"/>
              <a:t>Left Shift Operator (&lt;&lt;):</a:t>
            </a:r>
          </a:p>
          <a:p>
            <a:endParaRPr lang="en-US" sz="2200" b="1" dirty="0" smtClean="0"/>
          </a:p>
          <a:p>
            <a:endParaRPr lang="en-US" sz="2200" b="1" dirty="0" smtClean="0"/>
          </a:p>
          <a:p>
            <a:endParaRPr lang="en-US" sz="2200" b="1" dirty="0" smtClean="0"/>
          </a:p>
          <a:p>
            <a:endParaRPr lang="en-US" sz="2200" b="1" dirty="0" smtClean="0"/>
          </a:p>
          <a:p>
            <a:r>
              <a:rPr lang="en-US" sz="2200" b="1" dirty="0" smtClean="0"/>
              <a:t>Right Shift Operator (&gt;&gt;):</a:t>
            </a:r>
            <a:r>
              <a:rPr lang="en-US" sz="2200" dirty="0" smtClean="0"/>
              <a:t> </a:t>
            </a:r>
            <a:endParaRPr lang="en-IN" sz="2200" dirty="0" smtClean="0"/>
          </a:p>
        </p:txBody>
      </p:sp>
      <p:graphicFrame>
        <p:nvGraphicFramePr>
          <p:cNvPr id="6" name="Table 5"/>
          <p:cNvGraphicFramePr>
            <a:graphicFrameLocks noGrp="1"/>
          </p:cNvGraphicFramePr>
          <p:nvPr/>
        </p:nvGraphicFramePr>
        <p:xfrm>
          <a:off x="1071537" y="2214554"/>
          <a:ext cx="7858181" cy="1284709"/>
        </p:xfrm>
        <a:graphic>
          <a:graphicData uri="http://schemas.openxmlformats.org/drawingml/2006/table">
            <a:tbl>
              <a:tblPr/>
              <a:tblGrid>
                <a:gridCol w="1198635"/>
                <a:gridCol w="1415981"/>
                <a:gridCol w="5243565"/>
              </a:tblGrid>
              <a:tr h="934189">
                <a:tc>
                  <a:txBody>
                    <a:bodyPr/>
                    <a:lstStyle/>
                    <a:p>
                      <a:pPr>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txBody>
                  <a:tcPr marL="99696" marR="996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byte i = 3;</a:t>
                      </a:r>
                      <a:endParaRPr lang="en-IN" sz="2000">
                        <a:latin typeface="Times New Roman" pitchFamily="18" charset="0"/>
                        <a:ea typeface="Times New Roman"/>
                        <a:cs typeface="Times New Roman" pitchFamily="18" charset="0"/>
                      </a:endParaRPr>
                    </a:p>
                    <a:p>
                      <a:pPr algn="just">
                        <a:lnSpc>
                          <a:spcPct val="115000"/>
                        </a:lnSpc>
                        <a:spcAft>
                          <a:spcPts val="0"/>
                        </a:spcAft>
                      </a:pPr>
                      <a:r>
                        <a:rPr lang="en-US" sz="2000">
                          <a:latin typeface="Times New Roman" pitchFamily="18" charset="0"/>
                          <a:ea typeface="Times New Roman"/>
                          <a:cs typeface="Times New Roman" pitchFamily="18" charset="0"/>
                        </a:rPr>
                        <a:t>byte j=i&lt;&lt;1</a:t>
                      </a:r>
                      <a:endParaRPr lang="en-IN" sz="2000">
                        <a:latin typeface="Times New Roman" pitchFamily="18" charset="0"/>
                        <a:ea typeface="Times New Roman"/>
                        <a:cs typeface="Times New Roman" pitchFamily="18" charset="0"/>
                      </a:endParaRPr>
                    </a:p>
                  </a:txBody>
                  <a:tcPr marL="99696" marR="996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571500" algn="just">
                        <a:lnSpc>
                          <a:spcPct val="115000"/>
                        </a:lnSpc>
                        <a:spcAft>
                          <a:spcPts val="0"/>
                        </a:spcAft>
                      </a:pPr>
                      <a:endParaRPr lang="en-US" sz="2000" dirty="0">
                        <a:latin typeface="Times New Roman" pitchFamily="18" charset="0"/>
                        <a:ea typeface="Times New Roman"/>
                        <a:cs typeface="Times New Roman" pitchFamily="18" charset="0"/>
                      </a:endParaRPr>
                    </a:p>
                  </a:txBody>
                  <a:tcPr marL="99696" marR="996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257">
                <a:tc>
                  <a:txBody>
                    <a:bodyPr/>
                    <a:lstStyle/>
                    <a:p>
                      <a:pPr algn="just">
                        <a:lnSpc>
                          <a:spcPct val="115000"/>
                        </a:lnSpc>
                        <a:spcAft>
                          <a:spcPts val="0"/>
                        </a:spcAft>
                      </a:pPr>
                      <a:r>
                        <a:rPr lang="en-US" sz="2000">
                          <a:latin typeface="Times New Roman" pitchFamily="18" charset="0"/>
                          <a:ea typeface="Times New Roman"/>
                          <a:cs typeface="Times New Roman" pitchFamily="18" charset="0"/>
                        </a:rPr>
                        <a:t>Output:</a:t>
                      </a:r>
                      <a:endParaRPr lang="en-IN" sz="2000">
                        <a:latin typeface="Times New Roman" pitchFamily="18" charset="0"/>
                        <a:ea typeface="Times New Roman"/>
                        <a:cs typeface="Times New Roman" pitchFamily="18" charset="0"/>
                      </a:endParaRPr>
                    </a:p>
                  </a:txBody>
                  <a:tcPr marL="99696" marR="996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j= 6</a:t>
                      </a:r>
                      <a:endParaRPr lang="en-IN" sz="2000" dirty="0">
                        <a:latin typeface="Times New Roman" pitchFamily="18" charset="0"/>
                        <a:ea typeface="Times New Roman"/>
                        <a:cs typeface="Times New Roman" pitchFamily="18" charset="0"/>
                      </a:endParaRPr>
                    </a:p>
                  </a:txBody>
                  <a:tcPr marL="99696" marR="996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IN"/>
                    </a:p>
                  </a:txBody>
                  <a:tcPr/>
                </a:tc>
              </a:tr>
            </a:tbl>
          </a:graphicData>
        </a:graphic>
      </p:graphicFrame>
      <p:graphicFrame>
        <p:nvGraphicFramePr>
          <p:cNvPr id="76801" name="Object 1"/>
          <p:cNvGraphicFramePr>
            <a:graphicFrameLocks noChangeAspect="1"/>
          </p:cNvGraphicFramePr>
          <p:nvPr/>
        </p:nvGraphicFramePr>
        <p:xfrm>
          <a:off x="4286247" y="2285992"/>
          <a:ext cx="2897129" cy="1143008"/>
        </p:xfrm>
        <a:graphic>
          <a:graphicData uri="http://schemas.openxmlformats.org/presentationml/2006/ole">
            <mc:AlternateContent xmlns:mc="http://schemas.openxmlformats.org/markup-compatibility/2006">
              <mc:Choice xmlns:v="urn:schemas-microsoft-com:vml" Requires="v">
                <p:oleObj spid="_x0000_s76803" name="Bitmap Image" r:id="rId4" imgW="3123810" imgH="1228571" progId="PBrush">
                  <p:embed/>
                </p:oleObj>
              </mc:Choice>
              <mc:Fallback>
                <p:oleObj name="Bitmap Image" r:id="rId4" imgW="3123810" imgH="1228571" progId="PBrush">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6247" y="2285992"/>
                        <a:ext cx="2897129" cy="11430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Table 6"/>
          <p:cNvGraphicFramePr>
            <a:graphicFrameLocks noGrp="1"/>
          </p:cNvGraphicFramePr>
          <p:nvPr/>
        </p:nvGraphicFramePr>
        <p:xfrm>
          <a:off x="1071539" y="4286256"/>
          <a:ext cx="7786742" cy="1263918"/>
        </p:xfrm>
        <a:graphic>
          <a:graphicData uri="http://schemas.openxmlformats.org/drawingml/2006/table">
            <a:tbl>
              <a:tblPr/>
              <a:tblGrid>
                <a:gridCol w="1202648"/>
                <a:gridCol w="1421508"/>
                <a:gridCol w="5162586"/>
              </a:tblGrid>
              <a:tr h="913398">
                <a:tc>
                  <a:txBody>
                    <a:bodyPr/>
                    <a:lstStyle/>
                    <a:p>
                      <a:pPr>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txBody>
                  <a:tcPr marL="97477" marR="974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byte i = 6;</a:t>
                      </a:r>
                      <a:endParaRPr lang="en-IN" sz="2000">
                        <a:latin typeface="Times New Roman" pitchFamily="18" charset="0"/>
                        <a:ea typeface="Times New Roman"/>
                        <a:cs typeface="Times New Roman" pitchFamily="18" charset="0"/>
                      </a:endParaRPr>
                    </a:p>
                    <a:p>
                      <a:pPr algn="just">
                        <a:lnSpc>
                          <a:spcPct val="115000"/>
                        </a:lnSpc>
                        <a:spcAft>
                          <a:spcPts val="0"/>
                        </a:spcAft>
                      </a:pPr>
                      <a:r>
                        <a:rPr lang="en-US" sz="2000">
                          <a:latin typeface="Times New Roman" pitchFamily="18" charset="0"/>
                          <a:ea typeface="Times New Roman"/>
                          <a:cs typeface="Times New Roman" pitchFamily="18" charset="0"/>
                        </a:rPr>
                        <a:t>byte j=i&gt;&gt;1</a:t>
                      </a:r>
                      <a:endParaRPr lang="en-IN" sz="2000">
                        <a:latin typeface="Times New Roman" pitchFamily="18" charset="0"/>
                        <a:ea typeface="Times New Roman"/>
                        <a:cs typeface="Times New Roman" pitchFamily="18" charset="0"/>
                      </a:endParaRPr>
                    </a:p>
                  </a:txBody>
                  <a:tcPr marL="97477" marR="974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571500" algn="just">
                        <a:lnSpc>
                          <a:spcPct val="115000"/>
                        </a:lnSpc>
                        <a:spcAft>
                          <a:spcPts val="0"/>
                        </a:spcAft>
                      </a:pPr>
                      <a:endParaRPr lang="en-US" sz="2000">
                        <a:latin typeface="Times New Roman" pitchFamily="18" charset="0"/>
                        <a:ea typeface="Times New Roman"/>
                        <a:cs typeface="Times New Roman" pitchFamily="18" charset="0"/>
                      </a:endParaRPr>
                    </a:p>
                  </a:txBody>
                  <a:tcPr marL="97477" marR="974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9198">
                <a:tc>
                  <a:txBody>
                    <a:bodyPr/>
                    <a:lstStyle/>
                    <a:p>
                      <a:pPr algn="just">
                        <a:lnSpc>
                          <a:spcPct val="115000"/>
                        </a:lnSpc>
                        <a:spcAft>
                          <a:spcPts val="0"/>
                        </a:spcAft>
                      </a:pPr>
                      <a:r>
                        <a:rPr lang="en-US" sz="2000">
                          <a:latin typeface="Times New Roman" pitchFamily="18" charset="0"/>
                          <a:ea typeface="Times New Roman"/>
                          <a:cs typeface="Times New Roman" pitchFamily="18" charset="0"/>
                        </a:rPr>
                        <a:t>Output:</a:t>
                      </a:r>
                      <a:endParaRPr lang="en-IN" sz="2000">
                        <a:latin typeface="Times New Roman" pitchFamily="18" charset="0"/>
                        <a:ea typeface="Times New Roman"/>
                        <a:cs typeface="Times New Roman" pitchFamily="18" charset="0"/>
                      </a:endParaRPr>
                    </a:p>
                  </a:txBody>
                  <a:tcPr marL="97477" marR="974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j= 3</a:t>
                      </a:r>
                      <a:endParaRPr lang="en-IN" sz="2000" dirty="0">
                        <a:latin typeface="Times New Roman" pitchFamily="18" charset="0"/>
                        <a:ea typeface="Times New Roman"/>
                        <a:cs typeface="Times New Roman" pitchFamily="18" charset="0"/>
                      </a:endParaRPr>
                    </a:p>
                  </a:txBody>
                  <a:tcPr marL="97477" marR="974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IN"/>
                    </a:p>
                  </a:txBody>
                  <a:tcPr/>
                </a:tc>
              </a:tr>
            </a:tbl>
          </a:graphicData>
        </a:graphic>
      </p:graphicFrame>
      <p:graphicFrame>
        <p:nvGraphicFramePr>
          <p:cNvPr id="76802" name="Object 2"/>
          <p:cNvGraphicFramePr>
            <a:graphicFrameLocks noChangeAspect="1"/>
          </p:cNvGraphicFramePr>
          <p:nvPr/>
        </p:nvGraphicFramePr>
        <p:xfrm>
          <a:off x="4286248" y="4429132"/>
          <a:ext cx="3254398" cy="1071570"/>
        </p:xfrm>
        <a:graphic>
          <a:graphicData uri="http://schemas.openxmlformats.org/presentationml/2006/ole">
            <mc:AlternateContent xmlns:mc="http://schemas.openxmlformats.org/markup-compatibility/2006">
              <mc:Choice xmlns:v="urn:schemas-microsoft-com:vml" Requires="v">
                <p:oleObj spid="_x0000_s76804" name="Bitmap Image" r:id="rId6" imgW="2343477" imgH="771429" progId="PBrush">
                  <p:embed/>
                </p:oleObj>
              </mc:Choice>
              <mc:Fallback>
                <p:oleObj name="Bitmap Image" r:id="rId6" imgW="2343477" imgH="771429" progId="PBrush">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6248" y="4429132"/>
                        <a:ext cx="3254398" cy="1071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Conditional Operators</a:t>
            </a:r>
          </a:p>
        </p:txBody>
      </p:sp>
      <p:sp>
        <p:nvSpPr>
          <p:cNvPr id="3" name="Content Placeholder 2"/>
          <p:cNvSpPr>
            <a:spLocks noGrp="1"/>
          </p:cNvSpPr>
          <p:nvPr>
            <p:ph sz="quarter" idx="1"/>
          </p:nvPr>
        </p:nvSpPr>
        <p:spPr/>
        <p:txBody>
          <a:bodyPr>
            <a:normAutofit/>
          </a:bodyPr>
          <a:lstStyle/>
          <a:p>
            <a:r>
              <a:rPr lang="en-US" sz="2200" dirty="0" smtClean="0"/>
              <a:t>The ternary operator [? :] used as conditional operator in Java language.</a:t>
            </a:r>
          </a:p>
          <a:p>
            <a:endParaRPr lang="en-US" sz="2200" dirty="0" smtClean="0"/>
          </a:p>
          <a:p>
            <a:r>
              <a:rPr lang="en-US" sz="2200" b="1" dirty="0" smtClean="0"/>
              <a:t>V= exp1 ? exp2 : exp3</a:t>
            </a:r>
            <a:endParaRPr lang="en-IN" sz="2200" dirty="0"/>
          </a:p>
        </p:txBody>
      </p:sp>
      <p:graphicFrame>
        <p:nvGraphicFramePr>
          <p:cNvPr id="4" name="Table 3"/>
          <p:cNvGraphicFramePr>
            <a:graphicFrameLocks noGrp="1"/>
          </p:cNvGraphicFramePr>
          <p:nvPr/>
        </p:nvGraphicFramePr>
        <p:xfrm>
          <a:off x="1000100" y="3500438"/>
          <a:ext cx="7642642" cy="2000264"/>
        </p:xfrm>
        <a:graphic>
          <a:graphicData uri="http://schemas.openxmlformats.org/drawingml/2006/table">
            <a:tbl>
              <a:tblPr/>
              <a:tblGrid>
                <a:gridCol w="1525893"/>
                <a:gridCol w="2727633"/>
                <a:gridCol w="3389116"/>
              </a:tblGrid>
              <a:tr h="1600211">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txBody>
                  <a:tcPr marL="142311" marR="14231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2000" dirty="0">
                          <a:latin typeface="Times New Roman" pitchFamily="18" charset="0"/>
                          <a:ea typeface="Times New Roman"/>
                          <a:cs typeface="Times New Roman" pitchFamily="18" charset="0"/>
                        </a:rPr>
                        <a:t>a = 5</a:t>
                      </a:r>
                      <a:endParaRPr lang="en-IN" sz="2000" dirty="0">
                        <a:latin typeface="Times New Roman" pitchFamily="18" charset="0"/>
                        <a:ea typeface="Times New Roman"/>
                        <a:cs typeface="Times New Roman" pitchFamily="18" charset="0"/>
                      </a:endParaRPr>
                    </a:p>
                    <a:p>
                      <a:pPr marL="457200" algn="just">
                        <a:lnSpc>
                          <a:spcPct val="115000"/>
                        </a:lnSpc>
                        <a:spcAft>
                          <a:spcPts val="0"/>
                        </a:spcAft>
                      </a:pPr>
                      <a:r>
                        <a:rPr lang="en-US" sz="2000" dirty="0">
                          <a:latin typeface="Times New Roman" pitchFamily="18" charset="0"/>
                          <a:ea typeface="Times New Roman"/>
                          <a:cs typeface="Times New Roman" pitchFamily="18" charset="0"/>
                        </a:rPr>
                        <a:t>b = 10</a:t>
                      </a:r>
                      <a:endParaRPr lang="en-IN" sz="2000" dirty="0">
                        <a:latin typeface="Times New Roman" pitchFamily="18" charset="0"/>
                        <a:ea typeface="Times New Roman"/>
                        <a:cs typeface="Times New Roman" pitchFamily="18" charset="0"/>
                      </a:endParaRPr>
                    </a:p>
                    <a:p>
                      <a:pPr marL="457200" algn="just">
                        <a:lnSpc>
                          <a:spcPct val="115000"/>
                        </a:lnSpc>
                        <a:spcAft>
                          <a:spcPts val="0"/>
                        </a:spcAft>
                      </a:pPr>
                      <a:r>
                        <a:rPr lang="en-US" sz="2000" dirty="0">
                          <a:latin typeface="Times New Roman" pitchFamily="18" charset="0"/>
                          <a:ea typeface="Times New Roman"/>
                          <a:cs typeface="Times New Roman" pitchFamily="18" charset="0"/>
                        </a:rPr>
                        <a:t>x= (a&gt;b) ? a : b</a:t>
                      </a:r>
                      <a:endParaRPr lang="en-IN" sz="2000" dirty="0">
                        <a:latin typeface="Times New Roman" pitchFamily="18" charset="0"/>
                        <a:ea typeface="Times New Roman"/>
                        <a:cs typeface="Times New Roman" pitchFamily="18" charset="0"/>
                      </a:endParaRPr>
                    </a:p>
                  </a:txBody>
                  <a:tcPr marL="142311" marR="14231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2000">
                          <a:latin typeface="Times New Roman" pitchFamily="18" charset="0"/>
                          <a:ea typeface="Times New Roman"/>
                          <a:cs typeface="Times New Roman" pitchFamily="18" charset="0"/>
                        </a:rPr>
                        <a:t>if (a&gt;b)</a:t>
                      </a:r>
                      <a:endParaRPr lang="en-IN" sz="2000">
                        <a:latin typeface="Times New Roman" pitchFamily="18" charset="0"/>
                        <a:ea typeface="Times New Roman"/>
                        <a:cs typeface="Times New Roman" pitchFamily="18" charset="0"/>
                      </a:endParaRPr>
                    </a:p>
                    <a:p>
                      <a:pPr marL="457200" algn="just">
                        <a:lnSpc>
                          <a:spcPct val="115000"/>
                        </a:lnSpc>
                        <a:spcAft>
                          <a:spcPts val="0"/>
                        </a:spcAft>
                      </a:pPr>
                      <a:r>
                        <a:rPr lang="en-US" sz="2000">
                          <a:latin typeface="Times New Roman" pitchFamily="18" charset="0"/>
                          <a:ea typeface="Times New Roman"/>
                          <a:cs typeface="Times New Roman" pitchFamily="18" charset="0"/>
                        </a:rPr>
                        <a:t>      x=a;</a:t>
                      </a:r>
                      <a:endParaRPr lang="en-IN" sz="2000">
                        <a:latin typeface="Times New Roman" pitchFamily="18" charset="0"/>
                        <a:ea typeface="Times New Roman"/>
                        <a:cs typeface="Times New Roman" pitchFamily="18" charset="0"/>
                      </a:endParaRPr>
                    </a:p>
                    <a:p>
                      <a:pPr marL="457200" algn="just">
                        <a:lnSpc>
                          <a:spcPct val="115000"/>
                        </a:lnSpc>
                        <a:spcAft>
                          <a:spcPts val="0"/>
                        </a:spcAft>
                      </a:pPr>
                      <a:r>
                        <a:rPr lang="en-US" sz="2000">
                          <a:latin typeface="Times New Roman" pitchFamily="18" charset="0"/>
                          <a:ea typeface="Times New Roman"/>
                          <a:cs typeface="Times New Roman" pitchFamily="18" charset="0"/>
                        </a:rPr>
                        <a:t>else</a:t>
                      </a:r>
                      <a:endParaRPr lang="en-IN" sz="2000">
                        <a:latin typeface="Times New Roman" pitchFamily="18" charset="0"/>
                        <a:ea typeface="Times New Roman"/>
                        <a:cs typeface="Times New Roman" pitchFamily="18" charset="0"/>
                      </a:endParaRPr>
                    </a:p>
                    <a:p>
                      <a:pPr marL="457200" algn="just">
                        <a:lnSpc>
                          <a:spcPct val="115000"/>
                        </a:lnSpc>
                        <a:spcAft>
                          <a:spcPts val="0"/>
                        </a:spcAft>
                      </a:pPr>
                      <a:r>
                        <a:rPr lang="en-US" sz="2000">
                          <a:latin typeface="Times New Roman" pitchFamily="18" charset="0"/>
                          <a:ea typeface="Times New Roman"/>
                          <a:cs typeface="Times New Roman" pitchFamily="18" charset="0"/>
                        </a:rPr>
                        <a:t>      x=b;</a:t>
                      </a:r>
                      <a:endParaRPr lang="en-IN" sz="2000">
                        <a:latin typeface="Times New Roman" pitchFamily="18" charset="0"/>
                        <a:ea typeface="Times New Roman"/>
                        <a:cs typeface="Times New Roman" pitchFamily="18" charset="0"/>
                      </a:endParaRPr>
                    </a:p>
                  </a:txBody>
                  <a:tcPr marL="142311" marR="14231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053">
                <a:tc>
                  <a:txBody>
                    <a:bodyPr/>
                    <a:lstStyle/>
                    <a:p>
                      <a:pPr>
                        <a:lnSpc>
                          <a:spcPct val="115000"/>
                        </a:lnSpc>
                        <a:spcAft>
                          <a:spcPts val="0"/>
                        </a:spcAft>
                      </a:pPr>
                      <a:r>
                        <a:rPr lang="en-US" sz="2000">
                          <a:latin typeface="Times New Roman" pitchFamily="18" charset="0"/>
                          <a:ea typeface="Times New Roman"/>
                          <a:cs typeface="Times New Roman" pitchFamily="18" charset="0"/>
                        </a:rPr>
                        <a:t>Output:</a:t>
                      </a:r>
                      <a:endParaRPr lang="en-IN" sz="2000">
                        <a:latin typeface="Times New Roman" pitchFamily="18" charset="0"/>
                        <a:ea typeface="Times New Roman"/>
                        <a:cs typeface="Times New Roman" pitchFamily="18" charset="0"/>
                      </a:endParaRPr>
                    </a:p>
                  </a:txBody>
                  <a:tcPr marL="142311" marR="14231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000">
                          <a:latin typeface="Times New Roman" pitchFamily="18" charset="0"/>
                          <a:ea typeface="Times New Roman"/>
                          <a:cs typeface="Times New Roman" pitchFamily="18" charset="0"/>
                        </a:rPr>
                        <a:t>x=10</a:t>
                      </a:r>
                      <a:endParaRPr lang="en-IN" sz="2000">
                        <a:latin typeface="Times New Roman" pitchFamily="18" charset="0"/>
                        <a:ea typeface="Times New Roman"/>
                        <a:cs typeface="Times New Roman" pitchFamily="18" charset="0"/>
                      </a:endParaRPr>
                    </a:p>
                  </a:txBody>
                  <a:tcPr marL="142311" marR="14231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000" dirty="0">
                          <a:latin typeface="Times New Roman" pitchFamily="18" charset="0"/>
                          <a:ea typeface="Times New Roman"/>
                          <a:cs typeface="Times New Roman" pitchFamily="18" charset="0"/>
                        </a:rPr>
                        <a:t>x=10</a:t>
                      </a:r>
                      <a:endParaRPr lang="en-IN" sz="2000" dirty="0">
                        <a:latin typeface="Times New Roman" pitchFamily="18" charset="0"/>
                        <a:ea typeface="Times New Roman"/>
                        <a:cs typeface="Times New Roman" pitchFamily="18" charset="0"/>
                      </a:endParaRPr>
                    </a:p>
                  </a:txBody>
                  <a:tcPr marL="142311" marR="14231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Special Operators</a:t>
            </a:r>
          </a:p>
        </p:txBody>
      </p:sp>
      <p:sp>
        <p:nvSpPr>
          <p:cNvPr id="3" name="Content Placeholder 2"/>
          <p:cNvSpPr>
            <a:spLocks noGrp="1"/>
          </p:cNvSpPr>
          <p:nvPr>
            <p:ph sz="quarter" idx="1"/>
          </p:nvPr>
        </p:nvSpPr>
        <p:spPr/>
        <p:txBody>
          <a:bodyPr>
            <a:normAutofit/>
          </a:bodyPr>
          <a:lstStyle/>
          <a:p>
            <a:r>
              <a:rPr lang="en-US" sz="2200" b="1" dirty="0" err="1" smtClean="0"/>
              <a:t>Instanceof</a:t>
            </a:r>
            <a:endParaRPr lang="en-US" sz="2200" b="1" dirty="0" smtClean="0"/>
          </a:p>
          <a:p>
            <a:endParaRPr lang="en-US" sz="2200" b="1" dirty="0" smtClean="0"/>
          </a:p>
          <a:p>
            <a:endParaRPr lang="en-US" sz="2200" b="1" dirty="0" smtClean="0"/>
          </a:p>
          <a:p>
            <a:pPr>
              <a:buNone/>
            </a:pPr>
            <a:endParaRPr lang="en-US" sz="2200" b="1" dirty="0" smtClean="0"/>
          </a:p>
          <a:p>
            <a:pPr>
              <a:buNone/>
            </a:pPr>
            <a:endParaRPr lang="en-US" sz="2200" b="1" dirty="0" smtClean="0"/>
          </a:p>
          <a:p>
            <a:endParaRPr lang="en-US" sz="2200" b="1" dirty="0" smtClean="0"/>
          </a:p>
          <a:p>
            <a:r>
              <a:rPr lang="en-US" sz="2200" b="1" dirty="0" smtClean="0"/>
              <a:t>Dot Operator</a:t>
            </a:r>
          </a:p>
          <a:p>
            <a:endParaRPr lang="en-US" sz="2200" b="1" dirty="0" smtClean="0"/>
          </a:p>
        </p:txBody>
      </p:sp>
      <p:graphicFrame>
        <p:nvGraphicFramePr>
          <p:cNvPr id="4" name="Table 3"/>
          <p:cNvGraphicFramePr>
            <a:graphicFrameLocks noGrp="1"/>
          </p:cNvGraphicFramePr>
          <p:nvPr/>
        </p:nvGraphicFramePr>
        <p:xfrm>
          <a:off x="1000098" y="2071678"/>
          <a:ext cx="7500991" cy="1752600"/>
        </p:xfrm>
        <a:graphic>
          <a:graphicData uri="http://schemas.openxmlformats.org/drawingml/2006/table">
            <a:tbl>
              <a:tblPr/>
              <a:tblGrid>
                <a:gridCol w="1314673"/>
                <a:gridCol w="6186318"/>
              </a:tblGrid>
              <a:tr h="1143008">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lnSpc>
                          <a:spcPct val="115000"/>
                        </a:lnSpc>
                        <a:spcAft>
                          <a:spcPts val="0"/>
                        </a:spcAft>
                      </a:pPr>
                      <a:r>
                        <a:rPr lang="en-US" sz="2000" dirty="0">
                          <a:latin typeface="Times New Roman" pitchFamily="18" charset="0"/>
                          <a:ea typeface="Times New Roman"/>
                          <a:cs typeface="Times New Roman" pitchFamily="18" charset="0"/>
                        </a:rPr>
                        <a:t>Student s= new Student();</a:t>
                      </a:r>
                      <a:endParaRPr lang="en-IN" sz="2000" dirty="0">
                        <a:latin typeface="Times New Roman" pitchFamily="18" charset="0"/>
                        <a:ea typeface="Times New Roman"/>
                        <a:cs typeface="Times New Roman" pitchFamily="18" charset="0"/>
                      </a:endParaRPr>
                    </a:p>
                    <a:p>
                      <a:pPr marL="0" indent="0" algn="just">
                        <a:lnSpc>
                          <a:spcPct val="115000"/>
                        </a:lnSpc>
                        <a:spcAft>
                          <a:spcPts val="0"/>
                        </a:spcAft>
                      </a:pPr>
                      <a:r>
                        <a:rPr lang="en-US" sz="2000" dirty="0">
                          <a:latin typeface="Times New Roman" pitchFamily="18" charset="0"/>
                          <a:ea typeface="Times New Roman"/>
                          <a:cs typeface="Times New Roman" pitchFamily="18" charset="0"/>
                        </a:rPr>
                        <a:t>s.sid=10;</a:t>
                      </a:r>
                      <a:endParaRPr lang="en-IN" sz="2000" dirty="0">
                        <a:latin typeface="Times New Roman" pitchFamily="18" charset="0"/>
                        <a:ea typeface="Times New Roman"/>
                        <a:cs typeface="Times New Roman" pitchFamily="18" charset="0"/>
                      </a:endParaRPr>
                    </a:p>
                    <a:p>
                      <a:pPr marL="0" indent="0" algn="just">
                        <a:lnSpc>
                          <a:spcPct val="115000"/>
                        </a:lnSpc>
                        <a:spcAft>
                          <a:spcPts val="0"/>
                        </a:spcAft>
                      </a:pPr>
                      <a:r>
                        <a:rPr lang="en-US" sz="2000" dirty="0" err="1">
                          <a:latin typeface="Times New Roman" pitchFamily="18" charset="0"/>
                          <a:ea typeface="Times New Roman"/>
                          <a:cs typeface="Times New Roman" pitchFamily="18" charset="0"/>
                        </a:rPr>
                        <a:t>s.result</a:t>
                      </a:r>
                      <a:r>
                        <a:rPr lang="en-US" sz="2000" dirty="0">
                          <a:latin typeface="Times New Roman" pitchFamily="18" charset="0"/>
                          <a:ea typeface="Times New Roman"/>
                          <a:cs typeface="Times New Roman" pitchFamily="18" charset="0"/>
                        </a:rPr>
                        <a:t>();</a:t>
                      </a:r>
                      <a:endParaRPr lang="en-IN" sz="2000" dirty="0">
                        <a:latin typeface="Times New Roman" pitchFamily="18" charset="0"/>
                        <a:ea typeface="Times New Roman"/>
                        <a:cs typeface="Times New Roman" pitchFamily="18" charset="0"/>
                      </a:endParaRPr>
                    </a:p>
                    <a:p>
                      <a:pPr marL="0" indent="0" algn="just">
                        <a:lnSpc>
                          <a:spcPct val="115000"/>
                        </a:lnSpc>
                        <a:spcAft>
                          <a:spcPts val="0"/>
                        </a:spcAft>
                      </a:pPr>
                      <a:r>
                        <a:rPr lang="en-US" sz="2000" dirty="0">
                          <a:latin typeface="Times New Roman" pitchFamily="18" charset="0"/>
                          <a:ea typeface="Times New Roman"/>
                          <a:cs typeface="Times New Roman" pitchFamily="18" charset="0"/>
                        </a:rPr>
                        <a:t>String test = </a:t>
                      </a:r>
                      <a:r>
                        <a:rPr lang="en-US" sz="2000" b="1" dirty="0">
                          <a:solidFill>
                            <a:srgbClr val="FF0000"/>
                          </a:solidFill>
                          <a:latin typeface="Times New Roman" pitchFamily="18" charset="0"/>
                          <a:ea typeface="Times New Roman"/>
                          <a:cs typeface="Times New Roman" pitchFamily="18" charset="0"/>
                        </a:rPr>
                        <a:t>s </a:t>
                      </a:r>
                      <a:r>
                        <a:rPr lang="en-US" sz="2000" b="1" dirty="0" err="1">
                          <a:solidFill>
                            <a:srgbClr val="FF0000"/>
                          </a:solidFill>
                          <a:latin typeface="Times New Roman" pitchFamily="18" charset="0"/>
                          <a:ea typeface="Times New Roman"/>
                          <a:cs typeface="Times New Roman" pitchFamily="18" charset="0"/>
                        </a:rPr>
                        <a:t>instanceof</a:t>
                      </a:r>
                      <a:r>
                        <a:rPr lang="en-US" sz="2000" b="1" dirty="0">
                          <a:solidFill>
                            <a:srgbClr val="FF0000"/>
                          </a:solidFill>
                          <a:latin typeface="Times New Roman" pitchFamily="18" charset="0"/>
                          <a:ea typeface="Times New Roman"/>
                          <a:cs typeface="Times New Roman" pitchFamily="18" charset="0"/>
                        </a:rPr>
                        <a:t> Student </a:t>
                      </a:r>
                      <a:r>
                        <a:rPr lang="en-US" sz="2000" dirty="0">
                          <a:latin typeface="Times New Roman" pitchFamily="18" charset="0"/>
                          <a:ea typeface="Times New Roman"/>
                          <a:cs typeface="Times New Roman" pitchFamily="18" charset="0"/>
                        </a:rPr>
                        <a:t>? “Right” : “Wrong”;</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Output:</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Right</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1000100" y="4643446"/>
          <a:ext cx="7500990" cy="1402080"/>
        </p:xfrm>
        <a:graphic>
          <a:graphicData uri="http://schemas.openxmlformats.org/drawingml/2006/table">
            <a:tbl>
              <a:tblPr/>
              <a:tblGrid>
                <a:gridCol w="1525898"/>
                <a:gridCol w="5975092"/>
              </a:tblGrid>
              <a:tr h="938899">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txBody>
                  <a:tcPr marL="83499" marR="834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9375" indent="0" algn="just">
                        <a:lnSpc>
                          <a:spcPct val="115000"/>
                        </a:lnSpc>
                        <a:spcAft>
                          <a:spcPts val="0"/>
                        </a:spcAft>
                      </a:pPr>
                      <a:r>
                        <a:rPr lang="en-US" sz="2000" dirty="0">
                          <a:latin typeface="Times New Roman" pitchFamily="18" charset="0"/>
                          <a:ea typeface="Times New Roman"/>
                          <a:cs typeface="Times New Roman" pitchFamily="18" charset="0"/>
                        </a:rPr>
                        <a:t>Student s= new Student();</a:t>
                      </a:r>
                      <a:endParaRPr lang="en-IN" sz="2000" dirty="0">
                        <a:latin typeface="Times New Roman" pitchFamily="18" charset="0"/>
                        <a:ea typeface="Times New Roman"/>
                        <a:cs typeface="Times New Roman" pitchFamily="18" charset="0"/>
                      </a:endParaRPr>
                    </a:p>
                    <a:p>
                      <a:pPr marL="79375" indent="0" algn="just">
                        <a:lnSpc>
                          <a:spcPct val="115000"/>
                        </a:lnSpc>
                        <a:spcAft>
                          <a:spcPts val="0"/>
                        </a:spcAft>
                      </a:pPr>
                      <a:r>
                        <a:rPr lang="en-US" sz="2000" b="1" dirty="0">
                          <a:solidFill>
                            <a:srgbClr val="FF0000"/>
                          </a:solidFill>
                          <a:latin typeface="Times New Roman" pitchFamily="18" charset="0"/>
                          <a:ea typeface="Times New Roman"/>
                          <a:cs typeface="Times New Roman" pitchFamily="18" charset="0"/>
                        </a:rPr>
                        <a:t>s.sid=10;</a:t>
                      </a:r>
                      <a:r>
                        <a:rPr lang="en-US" sz="2000" dirty="0">
                          <a:latin typeface="Times New Roman" pitchFamily="18" charset="0"/>
                          <a:ea typeface="Times New Roman"/>
                          <a:cs typeface="Times New Roman" pitchFamily="18" charset="0"/>
                        </a:rPr>
                        <a:t>	// reference to instance variable </a:t>
                      </a:r>
                      <a:r>
                        <a:rPr lang="en-US" sz="2000" dirty="0" err="1">
                          <a:latin typeface="Times New Roman" pitchFamily="18" charset="0"/>
                          <a:ea typeface="Times New Roman"/>
                          <a:cs typeface="Times New Roman" pitchFamily="18" charset="0"/>
                        </a:rPr>
                        <a:t>sid</a:t>
                      </a:r>
                      <a:endParaRPr lang="en-IN" sz="2000" dirty="0">
                        <a:latin typeface="Times New Roman" pitchFamily="18" charset="0"/>
                        <a:ea typeface="Times New Roman"/>
                        <a:cs typeface="Times New Roman" pitchFamily="18" charset="0"/>
                      </a:endParaRPr>
                    </a:p>
                    <a:p>
                      <a:pPr marL="79375" indent="0" algn="just">
                        <a:lnSpc>
                          <a:spcPct val="115000"/>
                        </a:lnSpc>
                        <a:spcAft>
                          <a:spcPts val="0"/>
                        </a:spcAft>
                      </a:pPr>
                      <a:r>
                        <a:rPr lang="en-US" sz="2000" b="1" dirty="0" err="1">
                          <a:solidFill>
                            <a:srgbClr val="FF0000"/>
                          </a:solidFill>
                          <a:latin typeface="Times New Roman" pitchFamily="18" charset="0"/>
                          <a:ea typeface="Times New Roman"/>
                          <a:cs typeface="Times New Roman" pitchFamily="18" charset="0"/>
                        </a:rPr>
                        <a:t>s.result</a:t>
                      </a:r>
                      <a:r>
                        <a:rPr lang="en-US" sz="2000" b="1" dirty="0">
                          <a:solidFill>
                            <a:srgbClr val="FF0000"/>
                          </a:solidFill>
                          <a:latin typeface="Times New Roman" pitchFamily="18" charset="0"/>
                          <a:ea typeface="Times New Roman"/>
                          <a:cs typeface="Times New Roman" pitchFamily="18" charset="0"/>
                        </a:rPr>
                        <a:t>();</a:t>
                      </a:r>
                      <a:r>
                        <a:rPr lang="en-US" sz="2000" dirty="0">
                          <a:latin typeface="Times New Roman" pitchFamily="18" charset="0"/>
                          <a:ea typeface="Times New Roman"/>
                          <a:cs typeface="Times New Roman" pitchFamily="18" charset="0"/>
                        </a:rPr>
                        <a:t>	// reference to method result()</a:t>
                      </a:r>
                      <a:endParaRPr lang="en-IN" sz="2000" dirty="0">
                        <a:latin typeface="Times New Roman" pitchFamily="18" charset="0"/>
                        <a:ea typeface="Times New Roman"/>
                        <a:cs typeface="Times New Roman" pitchFamily="18" charset="0"/>
                      </a:endParaRPr>
                    </a:p>
                    <a:p>
                      <a:pPr marL="79375" indent="0" algn="just">
                        <a:lnSpc>
                          <a:spcPct val="115000"/>
                        </a:lnSpc>
                        <a:spcAft>
                          <a:spcPts val="0"/>
                        </a:spcAft>
                      </a:pPr>
                      <a:r>
                        <a:rPr lang="en-US" sz="2000" dirty="0">
                          <a:latin typeface="Times New Roman" pitchFamily="18" charset="0"/>
                          <a:ea typeface="Times New Roman"/>
                          <a:cs typeface="Times New Roman" pitchFamily="18" charset="0"/>
                        </a:rPr>
                        <a:t>String test = s </a:t>
                      </a:r>
                      <a:r>
                        <a:rPr lang="en-US" sz="2000" dirty="0" err="1">
                          <a:latin typeface="Times New Roman" pitchFamily="18" charset="0"/>
                          <a:ea typeface="Times New Roman"/>
                          <a:cs typeface="Times New Roman" pitchFamily="18" charset="0"/>
                        </a:rPr>
                        <a:t>instanceof</a:t>
                      </a:r>
                      <a:r>
                        <a:rPr lang="en-US" sz="2000" dirty="0">
                          <a:latin typeface="Times New Roman" pitchFamily="18" charset="0"/>
                          <a:ea typeface="Times New Roman"/>
                          <a:cs typeface="Times New Roman" pitchFamily="18" charset="0"/>
                        </a:rPr>
                        <a:t> Student ? “Right” : “Wrong”;</a:t>
                      </a:r>
                      <a:endParaRPr lang="en-IN" sz="2000" dirty="0">
                        <a:latin typeface="Times New Roman" pitchFamily="18" charset="0"/>
                        <a:ea typeface="Times New Roman"/>
                        <a:cs typeface="Times New Roman" pitchFamily="18" charset="0"/>
                      </a:endParaRPr>
                    </a:p>
                  </a:txBody>
                  <a:tcPr marL="83499" marR="834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Assignment Operators</a:t>
            </a:r>
          </a:p>
        </p:txBody>
      </p:sp>
      <p:sp>
        <p:nvSpPr>
          <p:cNvPr id="3" name="Content Placeholder 2"/>
          <p:cNvSpPr>
            <a:spLocks noGrp="1"/>
          </p:cNvSpPr>
          <p:nvPr>
            <p:ph sz="quarter" idx="1"/>
          </p:nvPr>
        </p:nvSpPr>
        <p:spPr/>
        <p:txBody>
          <a:bodyPr>
            <a:normAutofit/>
          </a:bodyPr>
          <a:lstStyle/>
          <a:p>
            <a:r>
              <a:rPr lang="en-US" sz="2200" b="1" dirty="0" smtClean="0"/>
              <a:t>Variable Operator = Expression;</a:t>
            </a:r>
            <a:endParaRPr lang="en-IN" sz="2200" b="1" dirty="0" smtClean="0"/>
          </a:p>
          <a:p>
            <a:endParaRPr lang="en-IN" sz="2200" dirty="0" smtClean="0"/>
          </a:p>
          <a:p>
            <a:endParaRPr lang="en-IN" sz="2200" dirty="0"/>
          </a:p>
        </p:txBody>
      </p:sp>
      <p:graphicFrame>
        <p:nvGraphicFramePr>
          <p:cNvPr id="4" name="Table 3"/>
          <p:cNvGraphicFramePr>
            <a:graphicFrameLocks noGrp="1"/>
          </p:cNvGraphicFramePr>
          <p:nvPr/>
        </p:nvGraphicFramePr>
        <p:xfrm>
          <a:off x="1071538" y="2098358"/>
          <a:ext cx="6034318" cy="1973584"/>
        </p:xfrm>
        <a:graphic>
          <a:graphicData uri="http://schemas.openxmlformats.org/drawingml/2006/table">
            <a:tbl>
              <a:tblPr/>
              <a:tblGrid>
                <a:gridCol w="1238352"/>
                <a:gridCol w="1187170"/>
                <a:gridCol w="1071665"/>
                <a:gridCol w="733527"/>
                <a:gridCol w="831952"/>
                <a:gridCol w="971652"/>
              </a:tblGrid>
              <a:tr h="285752">
                <a:tc rowSpan="5">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Example:</a:t>
                      </a:r>
                      <a:endParaRPr lang="en-IN" sz="2000" dirty="0">
                        <a:latin typeface="Times New Roman" pitchFamily="18" charset="0"/>
                        <a:ea typeface="Times New Roman"/>
                        <a:cs typeface="Times New Roman" pitchFamily="18" charset="0"/>
                      </a:endParaRPr>
                    </a:p>
                    <a:p>
                      <a:pPr algn="just">
                        <a:lnSpc>
                          <a:spcPct val="115000"/>
                        </a:lnSpc>
                        <a:spcAft>
                          <a:spcPts val="0"/>
                        </a:spcAft>
                      </a:pPr>
                      <a:r>
                        <a:rPr lang="en-US" sz="2000" dirty="0">
                          <a:latin typeface="Times New Roman" pitchFamily="18" charset="0"/>
                          <a:ea typeface="Times New Roman"/>
                          <a:cs typeface="Times New Roman" pitchFamily="18" charset="0"/>
                        </a:rPr>
                        <a:t>a=10;</a:t>
                      </a:r>
                      <a:endParaRPr lang="en-IN" sz="2000" dirty="0">
                        <a:latin typeface="Times New Roman" pitchFamily="18" charset="0"/>
                        <a:ea typeface="Times New Roman"/>
                        <a:cs typeface="Times New Roman" pitchFamily="18" charset="0"/>
                      </a:endParaRPr>
                    </a:p>
                    <a:p>
                      <a:pPr algn="just">
                        <a:lnSpc>
                          <a:spcPct val="115000"/>
                        </a:lnSpc>
                        <a:spcAft>
                          <a:spcPts val="0"/>
                        </a:spcAft>
                      </a:pPr>
                      <a:r>
                        <a:rPr lang="en-US" sz="2000" dirty="0">
                          <a:latin typeface="Times New Roman" pitchFamily="18" charset="0"/>
                          <a:ea typeface="Times New Roman"/>
                          <a:cs typeface="Times New Roman" pitchFamily="18" charset="0"/>
                        </a:rPr>
                        <a:t>b=20;</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pPr>
                      <a:r>
                        <a:rPr lang="en-US" sz="2000">
                          <a:latin typeface="Times New Roman" pitchFamily="18" charset="0"/>
                          <a:ea typeface="Times New Roman"/>
                          <a:cs typeface="Times New Roman" pitchFamily="18" charset="0"/>
                        </a:rPr>
                        <a:t>Simple Operator</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gridSpan="2">
                  <a:txBody>
                    <a:bodyPr/>
                    <a:lstStyle/>
                    <a:p>
                      <a:pPr algn="ctr">
                        <a:lnSpc>
                          <a:spcPct val="115000"/>
                        </a:lnSpc>
                        <a:spcAft>
                          <a:spcPts val="0"/>
                        </a:spcAft>
                      </a:pPr>
                      <a:r>
                        <a:rPr lang="en-US" sz="2000">
                          <a:latin typeface="Times New Roman" pitchFamily="18" charset="0"/>
                          <a:ea typeface="Times New Roman"/>
                          <a:cs typeface="Times New Roman" pitchFamily="18" charset="0"/>
                        </a:rPr>
                        <a:t>Short hand</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a:txBody>
                    <a:bodyPr/>
                    <a:lstStyle/>
                    <a:p>
                      <a:pPr algn="ctr">
                        <a:lnSpc>
                          <a:spcPct val="115000"/>
                        </a:lnSpc>
                        <a:spcAft>
                          <a:spcPts val="0"/>
                        </a:spcAft>
                      </a:pPr>
                      <a:r>
                        <a:rPr lang="en-US" sz="2000">
                          <a:latin typeface="Times New Roman" pitchFamily="18" charset="0"/>
                          <a:ea typeface="Times New Roman"/>
                          <a:cs typeface="Times New Roman" pitchFamily="18" charset="0"/>
                        </a:rPr>
                        <a:t>Output</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vMerge="1">
                  <a:txBody>
                    <a:bodyPr/>
                    <a:lstStyle/>
                    <a:p>
                      <a:endParaRPr lang="en-IN"/>
                    </a:p>
                  </a:txBody>
                  <a:tcPr/>
                </a:tc>
                <a:tc>
                  <a:txBody>
                    <a:bodyPr/>
                    <a:lstStyle/>
                    <a:p>
                      <a:pPr algn="r">
                        <a:lnSpc>
                          <a:spcPct val="115000"/>
                        </a:lnSpc>
                        <a:spcAft>
                          <a:spcPts val="0"/>
                        </a:spcAft>
                      </a:pPr>
                      <a:r>
                        <a:rPr lang="en-US" sz="2000" dirty="0">
                          <a:latin typeface="Times New Roman" pitchFamily="18" charset="0"/>
                          <a:ea typeface="Times New Roman"/>
                          <a:cs typeface="Times New Roman" pitchFamily="18" charset="0"/>
                        </a:rPr>
                        <a:t>a=</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a+1</a:t>
                      </a:r>
                      <a:endParaRPr lang="en-IN" sz="2000" dirty="0">
                        <a:latin typeface="Times New Roman" pitchFamily="18" charset="0"/>
                        <a:ea typeface="Times New Roman"/>
                        <a:cs typeface="Times New Roman" pitchFamily="18" charset="0"/>
                      </a:endParaRPr>
                    </a:p>
                  </a:txBody>
                  <a:tcPr marL="101651" marR="101651"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n-US" sz="2000">
                          <a:latin typeface="Times New Roman" pitchFamily="18" charset="0"/>
                          <a:ea typeface="Times New Roman"/>
                          <a:cs typeface="Times New Roman" pitchFamily="18" charset="0"/>
                        </a:rPr>
                        <a:t>a+=</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1</a:t>
                      </a:r>
                      <a:endParaRPr lang="en-IN" sz="2000">
                        <a:latin typeface="Times New Roman" pitchFamily="18" charset="0"/>
                        <a:ea typeface="Times New Roman"/>
                        <a:cs typeface="Times New Roman" pitchFamily="18" charset="0"/>
                      </a:endParaRPr>
                    </a:p>
                  </a:txBody>
                  <a:tcPr marL="101651" marR="101651"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11</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vMerge="1">
                  <a:txBody>
                    <a:bodyPr/>
                    <a:lstStyle/>
                    <a:p>
                      <a:endParaRPr lang="en-IN"/>
                    </a:p>
                  </a:txBody>
                  <a:tcPr/>
                </a:tc>
                <a:tc>
                  <a:txBody>
                    <a:bodyPr/>
                    <a:lstStyle/>
                    <a:p>
                      <a:pPr algn="r">
                        <a:lnSpc>
                          <a:spcPct val="115000"/>
                        </a:lnSpc>
                        <a:spcAft>
                          <a:spcPts val="0"/>
                        </a:spcAft>
                      </a:pPr>
                      <a:r>
                        <a:rPr lang="en-US" sz="2000" dirty="0">
                          <a:latin typeface="Times New Roman" pitchFamily="18" charset="0"/>
                          <a:ea typeface="Times New Roman"/>
                          <a:cs typeface="Times New Roman" pitchFamily="18" charset="0"/>
                        </a:rPr>
                        <a:t>a=</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a*4</a:t>
                      </a:r>
                      <a:endParaRPr lang="en-IN" sz="2000" dirty="0">
                        <a:latin typeface="Times New Roman" pitchFamily="18" charset="0"/>
                        <a:ea typeface="Times New Roman"/>
                        <a:cs typeface="Times New Roman" pitchFamily="18" charset="0"/>
                      </a:endParaRPr>
                    </a:p>
                  </a:txBody>
                  <a:tcPr marL="101651" marR="101651"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n-US" sz="2000" dirty="0">
                          <a:latin typeface="Times New Roman" pitchFamily="18" charset="0"/>
                          <a:ea typeface="Times New Roman"/>
                          <a:cs typeface="Times New Roman" pitchFamily="18" charset="0"/>
                        </a:rPr>
                        <a:t>a*=</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4</a:t>
                      </a:r>
                      <a:endParaRPr lang="en-IN" sz="2000">
                        <a:latin typeface="Times New Roman" pitchFamily="18" charset="0"/>
                        <a:ea typeface="Times New Roman"/>
                        <a:cs typeface="Times New Roman" pitchFamily="18" charset="0"/>
                      </a:endParaRPr>
                    </a:p>
                  </a:txBody>
                  <a:tcPr marL="101651" marR="101651"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40</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vMerge="1">
                  <a:txBody>
                    <a:bodyPr/>
                    <a:lstStyle/>
                    <a:p>
                      <a:endParaRPr lang="en-IN"/>
                    </a:p>
                  </a:txBody>
                  <a:tcPr/>
                </a:tc>
                <a:tc>
                  <a:txBody>
                    <a:bodyPr/>
                    <a:lstStyle/>
                    <a:p>
                      <a:pPr algn="r">
                        <a:lnSpc>
                          <a:spcPct val="115000"/>
                        </a:lnSpc>
                        <a:spcAft>
                          <a:spcPts val="0"/>
                        </a:spcAft>
                      </a:pPr>
                      <a:r>
                        <a:rPr lang="en-US" sz="2000">
                          <a:latin typeface="Times New Roman" pitchFamily="18" charset="0"/>
                          <a:ea typeface="Times New Roman"/>
                          <a:cs typeface="Times New Roman" pitchFamily="18" charset="0"/>
                        </a:rPr>
                        <a:t>a=</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a%7</a:t>
                      </a:r>
                      <a:endParaRPr lang="en-IN" sz="2000">
                        <a:latin typeface="Times New Roman" pitchFamily="18" charset="0"/>
                        <a:ea typeface="Times New Roman"/>
                        <a:cs typeface="Times New Roman" pitchFamily="18" charset="0"/>
                      </a:endParaRPr>
                    </a:p>
                  </a:txBody>
                  <a:tcPr marL="101651" marR="101651"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n-US" sz="2000" dirty="0">
                          <a:latin typeface="Times New Roman" pitchFamily="18" charset="0"/>
                          <a:ea typeface="Times New Roman"/>
                          <a:cs typeface="Times New Roman" pitchFamily="18" charset="0"/>
                        </a:rPr>
                        <a:t>a%=</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7</a:t>
                      </a:r>
                      <a:endParaRPr lang="en-IN" sz="2000" dirty="0">
                        <a:latin typeface="Times New Roman" pitchFamily="18" charset="0"/>
                        <a:ea typeface="Times New Roman"/>
                        <a:cs typeface="Times New Roman" pitchFamily="18" charset="0"/>
                      </a:endParaRPr>
                    </a:p>
                  </a:txBody>
                  <a:tcPr marL="101651" marR="101651"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3</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vMerge="1">
                  <a:txBody>
                    <a:bodyPr/>
                    <a:lstStyle/>
                    <a:p>
                      <a:endParaRPr lang="en-IN"/>
                    </a:p>
                  </a:txBody>
                  <a:tcPr/>
                </a:tc>
                <a:tc>
                  <a:txBody>
                    <a:bodyPr/>
                    <a:lstStyle/>
                    <a:p>
                      <a:pPr algn="r">
                        <a:lnSpc>
                          <a:spcPct val="115000"/>
                        </a:lnSpc>
                        <a:spcAft>
                          <a:spcPts val="0"/>
                        </a:spcAft>
                      </a:pPr>
                      <a:r>
                        <a:rPr lang="en-US" sz="2000" dirty="0">
                          <a:latin typeface="Times New Roman" pitchFamily="18" charset="0"/>
                          <a:ea typeface="Times New Roman"/>
                          <a:cs typeface="Times New Roman" pitchFamily="18" charset="0"/>
                        </a:rPr>
                        <a:t>a=</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Times New Roman" pitchFamily="18" charset="0"/>
                          <a:ea typeface="Times New Roman"/>
                          <a:cs typeface="Times New Roman" pitchFamily="18" charset="0"/>
                        </a:rPr>
                        <a:t>a*(b+1)</a:t>
                      </a:r>
                      <a:endParaRPr lang="en-IN" sz="2000">
                        <a:latin typeface="Times New Roman" pitchFamily="18" charset="0"/>
                        <a:ea typeface="Times New Roman"/>
                        <a:cs typeface="Times New Roman" pitchFamily="18" charset="0"/>
                      </a:endParaRPr>
                    </a:p>
                  </a:txBody>
                  <a:tcPr marL="101651" marR="101651"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n-US" sz="2000">
                          <a:latin typeface="Times New Roman" pitchFamily="18" charset="0"/>
                          <a:ea typeface="Times New Roman"/>
                          <a:cs typeface="Times New Roman" pitchFamily="18" charset="0"/>
                        </a:rPr>
                        <a:t>a*=</a:t>
                      </a:r>
                      <a:endParaRPr lang="en-IN" sz="200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(b+1)</a:t>
                      </a:r>
                      <a:endParaRPr lang="en-IN" sz="2000" dirty="0">
                        <a:latin typeface="Times New Roman" pitchFamily="18" charset="0"/>
                        <a:ea typeface="Times New Roman"/>
                        <a:cs typeface="Times New Roman" pitchFamily="18" charset="0"/>
                      </a:endParaRPr>
                    </a:p>
                  </a:txBody>
                  <a:tcPr marL="101651" marR="101651"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pitchFamily="18" charset="0"/>
                          <a:ea typeface="Times New Roman"/>
                          <a:cs typeface="Times New Roman" pitchFamily="18" charset="0"/>
                        </a:rPr>
                        <a:t>210</a:t>
                      </a:r>
                      <a:endParaRPr lang="en-IN" sz="2000" dirty="0">
                        <a:latin typeface="Times New Roman" pitchFamily="18" charset="0"/>
                        <a:ea typeface="Times New Roman"/>
                        <a:cs typeface="Times New Roman" pitchFamily="18" charset="0"/>
                      </a:endParaRPr>
                    </a:p>
                  </a:txBody>
                  <a:tcPr marL="101651" marR="1016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Priority of Operators</a:t>
            </a:r>
            <a:endParaRPr lang="en-IN" dirty="0"/>
          </a:p>
        </p:txBody>
      </p:sp>
      <p:sp>
        <p:nvSpPr>
          <p:cNvPr id="5" name="Content Placeholder 4"/>
          <p:cNvSpPr>
            <a:spLocks noGrp="1"/>
          </p:cNvSpPr>
          <p:nvPr>
            <p:ph sz="quarter" idx="1"/>
          </p:nvPr>
        </p:nvSpPr>
        <p:spPr/>
        <p:txBody>
          <a:bodyPr/>
          <a:lstStyle/>
          <a:p>
            <a:pPr>
              <a:buNone/>
            </a:pPr>
            <a:r>
              <a:rPr lang="en-IN" dirty="0" smtClean="0">
                <a:hlinkClick r:id="rId3" action="ppaction://hlinkfile"/>
              </a:rPr>
              <a:t>.</a:t>
            </a:r>
            <a:endParaRPr lang="en-IN"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 of Operators in JAVA</a:t>
            </a:r>
            <a:endParaRPr lang="en-IN" dirty="0"/>
          </a:p>
        </p:txBody>
      </p:sp>
      <p:sp>
        <p:nvSpPr>
          <p:cNvPr id="3" name="Content Placeholder 2"/>
          <p:cNvSpPr>
            <a:spLocks noGrp="1"/>
          </p:cNvSpPr>
          <p:nvPr>
            <p:ph sz="quarter" idx="1"/>
          </p:nvPr>
        </p:nvSpPr>
        <p:spPr/>
        <p:txBody>
          <a:bodyPr>
            <a:noAutofit/>
          </a:bodyPr>
          <a:lstStyle/>
          <a:p>
            <a:pPr marL="357188" indent="-357188">
              <a:buSzPct val="100000"/>
              <a:buBlip>
                <a:blip r:embed="rId3"/>
              </a:buBlip>
            </a:pPr>
            <a:r>
              <a:rPr lang="en-IN" sz="3200" dirty="0" smtClean="0"/>
              <a:t>Arithmetic Operators</a:t>
            </a:r>
          </a:p>
          <a:p>
            <a:pPr marL="357188" indent="-357188">
              <a:buSzPct val="100000"/>
              <a:buBlip>
                <a:blip r:embed="rId3"/>
              </a:buBlip>
            </a:pPr>
            <a:r>
              <a:rPr lang="en-IN" sz="3200" dirty="0" smtClean="0"/>
              <a:t>Relational Operators</a:t>
            </a:r>
          </a:p>
          <a:p>
            <a:pPr marL="357188" indent="-357188">
              <a:buSzPct val="100000"/>
              <a:buBlip>
                <a:blip r:embed="rId3"/>
              </a:buBlip>
            </a:pPr>
            <a:r>
              <a:rPr lang="en-IN" sz="3200" dirty="0" smtClean="0"/>
              <a:t>Logical Operators</a:t>
            </a:r>
          </a:p>
          <a:p>
            <a:pPr marL="357188" indent="-357188">
              <a:buSzPct val="100000"/>
              <a:buBlip>
                <a:blip r:embed="rId3"/>
              </a:buBlip>
            </a:pPr>
            <a:r>
              <a:rPr lang="en-IN" sz="3200" dirty="0" smtClean="0"/>
              <a:t>Bitwise Operators</a:t>
            </a:r>
          </a:p>
          <a:p>
            <a:pPr marL="357188" indent="-357188">
              <a:buSzPct val="100000"/>
              <a:buBlip>
                <a:blip r:embed="rId3"/>
              </a:buBlip>
            </a:pPr>
            <a:r>
              <a:rPr lang="en-IN" sz="3200" dirty="0" smtClean="0"/>
              <a:t>Conditional Operators</a:t>
            </a:r>
          </a:p>
          <a:p>
            <a:pPr marL="357188" indent="-357188">
              <a:buSzPct val="100000"/>
              <a:buBlip>
                <a:blip r:embed="rId3"/>
              </a:buBlip>
            </a:pPr>
            <a:r>
              <a:rPr lang="en-IN" sz="3200" dirty="0" smtClean="0"/>
              <a:t>Special Operators</a:t>
            </a:r>
          </a:p>
          <a:p>
            <a:pPr marL="357188" indent="-357188">
              <a:buSzPct val="100000"/>
              <a:buBlip>
                <a:blip r:embed="rId3"/>
              </a:buBlip>
            </a:pPr>
            <a:r>
              <a:rPr lang="en-IN" sz="3200" dirty="0" smtClean="0"/>
              <a:t>Assignment Operators</a:t>
            </a:r>
          </a:p>
          <a:p>
            <a:pPr marL="357188" indent="-357188">
              <a:buSzPct val="100000"/>
              <a:buBlip>
                <a:blip r:embed="rId3"/>
              </a:buBlip>
            </a:pPr>
            <a:r>
              <a:rPr lang="en-IN" sz="3200" dirty="0" smtClean="0"/>
              <a:t>Priority of Operators</a:t>
            </a:r>
            <a:endParaRPr lang="en-IN" sz="32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Branching Statements</a:t>
            </a:r>
            <a:endParaRPr lang="en-IN" dirty="0"/>
          </a:p>
        </p:txBody>
      </p:sp>
      <p:sp>
        <p:nvSpPr>
          <p:cNvPr id="5" name="Content Placeholder 4"/>
          <p:cNvSpPr>
            <a:spLocks noGrp="1"/>
          </p:cNvSpPr>
          <p:nvPr>
            <p:ph sz="quarter" idx="1"/>
          </p:nvPr>
        </p:nvSpPr>
        <p:spPr/>
        <p:txBody>
          <a:bodyPr>
            <a:normAutofit/>
          </a:bodyPr>
          <a:lstStyle/>
          <a:p>
            <a:pPr lvl="0"/>
            <a:r>
              <a:rPr lang="en-US" sz="3200" dirty="0" smtClean="0">
                <a:hlinkClick r:id="rId3" action="ppaction://hlinkfile"/>
              </a:rPr>
              <a:t>Selection Statements</a:t>
            </a:r>
            <a:r>
              <a:rPr lang="en-US" sz="3200" dirty="0" smtClean="0"/>
              <a:t>/ Conditional Statements</a:t>
            </a:r>
            <a:endParaRPr lang="en-IN" sz="3200" dirty="0" smtClean="0"/>
          </a:p>
          <a:p>
            <a:pPr lvl="0"/>
            <a:r>
              <a:rPr lang="en-US" sz="3200" dirty="0" smtClean="0">
                <a:hlinkClick r:id="rId4" action="ppaction://hlinkfile"/>
              </a:rPr>
              <a:t>Iteration Statements</a:t>
            </a:r>
            <a:endParaRPr lang="en-IN" sz="3200" dirty="0" smtClean="0"/>
          </a:p>
          <a:p>
            <a:pPr lvl="0"/>
            <a:r>
              <a:rPr lang="en-US" sz="3200" dirty="0" smtClean="0">
                <a:hlinkClick r:id="rId5" action="ppaction://hlinkfile"/>
              </a:rPr>
              <a:t>Jump Statements</a:t>
            </a:r>
            <a:endParaRPr lang="en-IN" sz="3200" dirty="0"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Autofit/>
          </a:bodyPr>
          <a:lstStyle/>
          <a:p>
            <a:pPr marL="514350" indent="-514350">
              <a:buSzPct val="100000"/>
              <a:buAutoNum type="arabicPeriod"/>
            </a:pPr>
            <a:r>
              <a:rPr lang="en-IN" sz="3200" dirty="0" smtClean="0"/>
              <a:t>Introducing Classes</a:t>
            </a:r>
          </a:p>
          <a:p>
            <a:pPr marL="514350" indent="-514350">
              <a:buSzPct val="100000"/>
              <a:buAutoNum type="arabicPeriod"/>
            </a:pPr>
            <a:r>
              <a:rPr lang="en-IN" sz="3200" dirty="0" smtClean="0"/>
              <a:t>Arrays, String and Vectors</a:t>
            </a:r>
          </a:p>
        </p:txBody>
      </p:sp>
      <p:sp>
        <p:nvSpPr>
          <p:cNvPr id="3" name="Title 2"/>
          <p:cNvSpPr>
            <a:spLocks noGrp="1"/>
          </p:cNvSpPr>
          <p:nvPr>
            <p:ph type="title"/>
          </p:nvPr>
        </p:nvSpPr>
        <p:spPr/>
        <p:txBody>
          <a:bodyPr/>
          <a:lstStyle/>
          <a:p>
            <a:r>
              <a:rPr lang="en-IN" dirty="0" smtClean="0"/>
              <a:t>Chapter 2</a:t>
            </a:r>
            <a:endParaRPr lang="en-IN"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Introducing Classes</a:t>
            </a:r>
            <a:endParaRPr lang="en-IN" dirty="0"/>
          </a:p>
        </p:txBody>
      </p:sp>
      <p:sp>
        <p:nvSpPr>
          <p:cNvPr id="3" name="Content Placeholder 2"/>
          <p:cNvSpPr>
            <a:spLocks noGrp="1"/>
          </p:cNvSpPr>
          <p:nvPr>
            <p:ph sz="quarter" idx="1"/>
          </p:nvPr>
        </p:nvSpPr>
        <p:spPr/>
        <p:txBody>
          <a:bodyPr>
            <a:normAutofit/>
          </a:bodyPr>
          <a:lstStyle/>
          <a:p>
            <a:r>
              <a:rPr lang="en-IN" sz="3200" dirty="0" smtClean="0"/>
              <a:t>Fundamentals of </a:t>
            </a:r>
            <a:r>
              <a:rPr lang="en-US" sz="3200" dirty="0" smtClean="0"/>
              <a:t>classes and Objects</a:t>
            </a:r>
            <a:endParaRPr lang="en-IN" sz="3200" dirty="0" smtClean="0"/>
          </a:p>
          <a:p>
            <a:pPr lvl="0"/>
            <a:r>
              <a:rPr lang="en-US" sz="3200" dirty="0" smtClean="0"/>
              <a:t>Constructor</a:t>
            </a:r>
          </a:p>
          <a:p>
            <a:pPr lvl="0"/>
            <a:r>
              <a:rPr lang="en-US" sz="3200" dirty="0" smtClean="0"/>
              <a:t>Method Overloading</a:t>
            </a:r>
            <a:endParaRPr lang="en-IN" sz="3200" dirty="0" smtClean="0"/>
          </a:p>
          <a:p>
            <a:r>
              <a:rPr lang="en-IN" sz="3200" dirty="0" smtClean="0"/>
              <a:t>Nested and Inner Class</a:t>
            </a:r>
          </a:p>
          <a:p>
            <a:r>
              <a:rPr lang="en-US" sz="3200" dirty="0" smtClean="0"/>
              <a:t>Garbage Collection</a:t>
            </a:r>
          </a:p>
          <a:p>
            <a:r>
              <a:rPr lang="en-US" sz="3200" dirty="0" smtClean="0"/>
              <a:t>Static Members</a:t>
            </a:r>
          </a:p>
          <a:p>
            <a:r>
              <a:rPr lang="en-US" sz="3200" dirty="0" smtClean="0"/>
              <a:t>Access Control</a:t>
            </a:r>
            <a:endParaRPr lang="en-IN" sz="3200" dirty="0" smtClean="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Fundamentals of </a:t>
            </a:r>
            <a:r>
              <a:rPr lang="en-US" dirty="0" smtClean="0"/>
              <a:t>classes &amp; Objects</a:t>
            </a:r>
            <a:endParaRPr lang="en-IN" dirty="0"/>
          </a:p>
        </p:txBody>
      </p:sp>
      <p:sp>
        <p:nvSpPr>
          <p:cNvPr id="3" name="Content Placeholder 2"/>
          <p:cNvSpPr>
            <a:spLocks noGrp="1"/>
          </p:cNvSpPr>
          <p:nvPr>
            <p:ph sz="quarter" idx="1"/>
          </p:nvPr>
        </p:nvSpPr>
        <p:spPr/>
        <p:txBody>
          <a:bodyPr>
            <a:normAutofit/>
          </a:bodyPr>
          <a:lstStyle/>
          <a:p>
            <a:r>
              <a:rPr lang="en-US" sz="2200" b="1" dirty="0" smtClean="0"/>
              <a:t>Class is a template for an object; an object is an instance of a class.</a:t>
            </a:r>
          </a:p>
          <a:p>
            <a:endParaRPr lang="en-IN" sz="2200" dirty="0" smtClean="0"/>
          </a:p>
        </p:txBody>
      </p:sp>
      <p:graphicFrame>
        <p:nvGraphicFramePr>
          <p:cNvPr id="4" name="Table 3"/>
          <p:cNvGraphicFramePr>
            <a:graphicFrameLocks noGrp="1"/>
          </p:cNvGraphicFramePr>
          <p:nvPr/>
        </p:nvGraphicFramePr>
        <p:xfrm>
          <a:off x="1000100" y="2571744"/>
          <a:ext cx="7873522" cy="3855720"/>
        </p:xfrm>
        <a:graphic>
          <a:graphicData uri="http://schemas.openxmlformats.org/drawingml/2006/table">
            <a:tbl>
              <a:tblPr/>
              <a:tblGrid>
                <a:gridCol w="4047137"/>
                <a:gridCol w="3826385"/>
              </a:tblGrid>
              <a:tr h="272763">
                <a:tc>
                  <a:txBody>
                    <a:bodyPr/>
                    <a:lstStyle/>
                    <a:p>
                      <a:pPr algn="just">
                        <a:lnSpc>
                          <a:spcPct val="115000"/>
                        </a:lnSpc>
                        <a:spcAft>
                          <a:spcPts val="0"/>
                        </a:spcAft>
                      </a:pPr>
                      <a:r>
                        <a:rPr lang="en-US" sz="2000" dirty="0">
                          <a:latin typeface="+mn-lt"/>
                          <a:ea typeface="Times New Roman"/>
                          <a:cs typeface="Times New Roman"/>
                        </a:rPr>
                        <a:t>Syntax:</a:t>
                      </a:r>
                      <a:endParaRPr lang="en-IN" sz="2000" dirty="0">
                        <a:latin typeface="+mn-lt"/>
                        <a:ea typeface="Times New Roman"/>
                        <a:cs typeface="Times New Roman"/>
                      </a:endParaRPr>
                    </a:p>
                  </a:txBody>
                  <a:tcPr marL="88301" marR="883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a:latin typeface="+mn-lt"/>
                          <a:ea typeface="Times New Roman"/>
                          <a:cs typeface="Times New Roman"/>
                        </a:rPr>
                        <a:t>Example:</a:t>
                      </a:r>
                      <a:endParaRPr lang="en-IN" sz="2000">
                        <a:latin typeface="+mn-lt"/>
                        <a:ea typeface="Times New Roman"/>
                        <a:cs typeface="Times New Roman"/>
                      </a:endParaRPr>
                    </a:p>
                  </a:txBody>
                  <a:tcPr marL="88301" marR="883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27633">
                <a:tc>
                  <a:txBody>
                    <a:bodyPr/>
                    <a:lstStyle/>
                    <a:p>
                      <a:pPr algn="just">
                        <a:lnSpc>
                          <a:spcPct val="115000"/>
                        </a:lnSpc>
                        <a:spcAft>
                          <a:spcPts val="0"/>
                        </a:spcAft>
                      </a:pPr>
                      <a:r>
                        <a:rPr lang="en-US" sz="2000" dirty="0">
                          <a:latin typeface="+mn-lt"/>
                          <a:ea typeface="Times New Roman"/>
                          <a:cs typeface="Times New Roman"/>
                        </a:rPr>
                        <a:t>class Name</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type instance x;</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type instance y;</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type method one (parameter);</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type method two ();</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a:t>
                      </a:r>
                      <a:endParaRPr lang="en-IN" sz="2000" dirty="0">
                        <a:latin typeface="+mn-lt"/>
                        <a:ea typeface="Times New Roman"/>
                        <a:cs typeface="Times New Roman"/>
                      </a:endParaRPr>
                    </a:p>
                  </a:txBody>
                  <a:tcPr marL="88301" marR="883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mn-lt"/>
                          <a:ea typeface="Times New Roman"/>
                          <a:cs typeface="Times New Roman"/>
                        </a:rPr>
                        <a:t>class Diploma</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a:t>
                      </a:r>
                      <a:endParaRPr lang="en-IN" sz="2000" dirty="0">
                        <a:latin typeface="+mn-lt"/>
                        <a:ea typeface="Times New Roman"/>
                        <a:cs typeface="Times New Roman"/>
                      </a:endParaRPr>
                    </a:p>
                    <a:p>
                      <a:pPr algn="just">
                        <a:lnSpc>
                          <a:spcPct val="115000"/>
                        </a:lnSpc>
                        <a:spcAft>
                          <a:spcPts val="0"/>
                        </a:spcAft>
                      </a:pPr>
                      <a:r>
                        <a:rPr lang="en-US" sz="2000" dirty="0">
                          <a:latin typeface="+mn-lt"/>
                          <a:cs typeface="Times New Roman"/>
                        </a:rPr>
                        <a:t>  </a:t>
                      </a:r>
                      <a:r>
                        <a:rPr lang="en-US" sz="2000" dirty="0" err="1">
                          <a:latin typeface="+mn-lt"/>
                          <a:cs typeface="Times New Roman"/>
                        </a:rPr>
                        <a:t>int</a:t>
                      </a:r>
                      <a:r>
                        <a:rPr lang="en-US" sz="2000" dirty="0">
                          <a:latin typeface="+mn-lt"/>
                          <a:cs typeface="Times New Roman"/>
                        </a:rPr>
                        <a:t> a;</a:t>
                      </a:r>
                      <a:r>
                        <a:rPr lang="en-IN" sz="2000" dirty="0">
                          <a:latin typeface="+mn-lt"/>
                          <a:cs typeface="Times New Roman"/>
                        </a:rPr>
                        <a:t> </a:t>
                      </a:r>
                      <a:r>
                        <a:rPr lang="en-US" sz="2000" dirty="0">
                          <a:latin typeface="+mn-lt"/>
                          <a:ea typeface="Times New Roman"/>
                          <a:cs typeface="Times New Roman"/>
                        </a:rPr>
                        <a:t>  </a:t>
                      </a:r>
                      <a:endParaRPr lang="en-US" sz="2000" dirty="0" smtClean="0">
                        <a:latin typeface="+mn-lt"/>
                        <a:ea typeface="Times New Roman"/>
                        <a:cs typeface="Times New Roman"/>
                      </a:endParaRPr>
                    </a:p>
                    <a:p>
                      <a:pPr algn="just">
                        <a:lnSpc>
                          <a:spcPct val="115000"/>
                        </a:lnSpc>
                        <a:spcAft>
                          <a:spcPts val="0"/>
                        </a:spcAft>
                      </a:pPr>
                      <a:r>
                        <a:rPr lang="en-US" sz="2000" dirty="0" smtClean="0">
                          <a:latin typeface="+mn-lt"/>
                          <a:ea typeface="Times New Roman"/>
                          <a:cs typeface="Times New Roman"/>
                        </a:rPr>
                        <a:t>  </a:t>
                      </a:r>
                      <a:r>
                        <a:rPr lang="en-US" sz="2000" dirty="0" err="1" smtClean="0">
                          <a:latin typeface="+mn-lt"/>
                          <a:ea typeface="Times New Roman"/>
                          <a:cs typeface="Times New Roman"/>
                        </a:rPr>
                        <a:t>int</a:t>
                      </a:r>
                      <a:r>
                        <a:rPr lang="en-US" sz="2000" dirty="0" smtClean="0">
                          <a:latin typeface="+mn-lt"/>
                          <a:ea typeface="Times New Roman"/>
                          <a:cs typeface="Times New Roman"/>
                        </a:rPr>
                        <a:t> </a:t>
                      </a:r>
                      <a:r>
                        <a:rPr lang="en-US" sz="2000" dirty="0">
                          <a:latin typeface="+mn-lt"/>
                          <a:ea typeface="Times New Roman"/>
                          <a:cs typeface="Times New Roman"/>
                        </a:rPr>
                        <a:t>b;</a:t>
                      </a:r>
                      <a:endParaRPr lang="en-IN" sz="2000" dirty="0">
                        <a:latin typeface="+mn-lt"/>
                        <a:ea typeface="Times New Roman"/>
                        <a:cs typeface="Times New Roman"/>
                      </a:endParaRPr>
                    </a:p>
                    <a:p>
                      <a:pPr algn="just">
                        <a:lnSpc>
                          <a:spcPct val="115000"/>
                        </a:lnSpc>
                        <a:spcAft>
                          <a:spcPts val="0"/>
                        </a:spcAft>
                      </a:pPr>
                      <a:r>
                        <a:rPr lang="en-US" sz="2000" dirty="0">
                          <a:latin typeface="+mn-lt"/>
                          <a:cs typeface="Times New Roman"/>
                        </a:rPr>
                        <a:t>     :</a:t>
                      </a:r>
                      <a:r>
                        <a:rPr lang="en-IN" sz="2000" dirty="0">
                          <a:latin typeface="+mn-lt"/>
                          <a:cs typeface="Times New Roman"/>
                        </a:rPr>
                        <a:t> </a:t>
                      </a:r>
                      <a:r>
                        <a:rPr lang="en-US" sz="2000" dirty="0">
                          <a:latin typeface="+mn-lt"/>
                          <a:ea typeface="Times New Roman"/>
                          <a:cs typeface="Times New Roman"/>
                        </a:rPr>
                        <a:t>  </a:t>
                      </a:r>
                      <a:endParaRPr lang="en-US" sz="2000" dirty="0" smtClean="0">
                        <a:latin typeface="+mn-lt"/>
                        <a:ea typeface="Times New Roman"/>
                        <a:cs typeface="Times New Roman"/>
                      </a:endParaRPr>
                    </a:p>
                    <a:p>
                      <a:pPr algn="just">
                        <a:lnSpc>
                          <a:spcPct val="115000"/>
                        </a:lnSpc>
                        <a:spcAft>
                          <a:spcPts val="0"/>
                        </a:spcAft>
                      </a:pPr>
                      <a:r>
                        <a:rPr lang="en-US" sz="2000" baseline="0" dirty="0" smtClean="0">
                          <a:latin typeface="+mn-lt"/>
                          <a:ea typeface="Times New Roman"/>
                          <a:cs typeface="Times New Roman"/>
                        </a:rPr>
                        <a:t>  </a:t>
                      </a:r>
                      <a:r>
                        <a:rPr lang="en-US" sz="2000" dirty="0" smtClean="0">
                          <a:latin typeface="+mn-lt"/>
                          <a:ea typeface="Times New Roman"/>
                          <a:cs typeface="Times New Roman"/>
                        </a:rPr>
                        <a:t>Void  </a:t>
                      </a:r>
                      <a:r>
                        <a:rPr lang="en-US" sz="2000" dirty="0">
                          <a:latin typeface="+mn-lt"/>
                          <a:ea typeface="Times New Roman"/>
                          <a:cs typeface="Times New Roman"/>
                        </a:rPr>
                        <a:t>add</a:t>
                      </a:r>
                      <a:r>
                        <a:rPr lang="en-US" sz="2000" dirty="0" smtClean="0">
                          <a:latin typeface="+mn-lt"/>
                          <a:ea typeface="Times New Roman"/>
                          <a:cs typeface="Times New Roman"/>
                        </a:rPr>
                        <a:t>()</a:t>
                      </a:r>
                      <a:endParaRPr lang="en-IN" sz="2000" dirty="0">
                        <a:latin typeface="+mn-lt"/>
                        <a:ea typeface="Times New Roman"/>
                        <a:cs typeface="Times New Roman"/>
                      </a:endParaRPr>
                    </a:p>
                    <a:p>
                      <a:pPr algn="just">
                        <a:lnSpc>
                          <a:spcPct val="115000"/>
                        </a:lnSpc>
                        <a:spcAft>
                          <a:spcPts val="0"/>
                        </a:spcAft>
                      </a:pPr>
                      <a:r>
                        <a:rPr lang="en-US" sz="2000" dirty="0" smtClean="0">
                          <a:latin typeface="+mn-lt"/>
                          <a:cs typeface="Times New Roman"/>
                        </a:rPr>
                        <a:t>  {</a:t>
                      </a:r>
                      <a:r>
                        <a:rPr lang="en-IN" sz="2000" dirty="0" smtClean="0">
                          <a:latin typeface="+mn-lt"/>
                          <a:cs typeface="Times New Roman"/>
                        </a:rPr>
                        <a:t> </a:t>
                      </a:r>
                      <a:r>
                        <a:rPr lang="en-US" sz="2000" dirty="0" smtClean="0">
                          <a:latin typeface="+mn-lt"/>
                          <a:ea typeface="Times New Roman"/>
                          <a:cs typeface="Times New Roman"/>
                        </a:rPr>
                        <a:t>    </a:t>
                      </a:r>
                      <a:r>
                        <a:rPr lang="en-US" sz="2000" dirty="0" err="1">
                          <a:latin typeface="+mn-lt"/>
                          <a:ea typeface="Times New Roman"/>
                          <a:cs typeface="Times New Roman"/>
                        </a:rPr>
                        <a:t>int</a:t>
                      </a:r>
                      <a:r>
                        <a:rPr lang="en-US" sz="2000" dirty="0">
                          <a:latin typeface="+mn-lt"/>
                          <a:ea typeface="Times New Roman"/>
                          <a:cs typeface="Times New Roman"/>
                        </a:rPr>
                        <a:t> x;</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a:t>
                      </a:r>
                      <a:r>
                        <a:rPr lang="en-US" sz="2000" dirty="0" smtClean="0">
                          <a:latin typeface="+mn-lt"/>
                          <a:ea typeface="Times New Roman"/>
                          <a:cs typeface="Times New Roman"/>
                        </a:rPr>
                        <a:t>    x=</a:t>
                      </a:r>
                      <a:r>
                        <a:rPr lang="en-US" sz="2000" dirty="0" err="1" smtClean="0">
                          <a:latin typeface="+mn-lt"/>
                          <a:ea typeface="Times New Roman"/>
                          <a:cs typeface="Times New Roman"/>
                        </a:rPr>
                        <a:t>a+b</a:t>
                      </a:r>
                      <a:r>
                        <a:rPr lang="en-US" sz="2000" dirty="0">
                          <a:latin typeface="+mn-lt"/>
                          <a:ea typeface="Times New Roman"/>
                          <a:cs typeface="Times New Roman"/>
                        </a:rPr>
                        <a:t>;</a:t>
                      </a:r>
                      <a:endParaRPr lang="en-IN" sz="2000" dirty="0">
                        <a:latin typeface="+mn-lt"/>
                        <a:ea typeface="Times New Roman"/>
                        <a:cs typeface="Times New Roman"/>
                      </a:endParaRPr>
                    </a:p>
                    <a:p>
                      <a:pPr algn="just">
                        <a:lnSpc>
                          <a:spcPct val="115000"/>
                        </a:lnSpc>
                        <a:spcAft>
                          <a:spcPts val="0"/>
                        </a:spcAft>
                      </a:pPr>
                      <a:r>
                        <a:rPr lang="en-US" sz="2000" dirty="0" smtClean="0">
                          <a:latin typeface="+mn-lt"/>
                          <a:ea typeface="Times New Roman"/>
                          <a:cs typeface="Times New Roman"/>
                        </a:rPr>
                        <a:t>  }</a:t>
                      </a:r>
                    </a:p>
                    <a:p>
                      <a:pPr algn="just">
                        <a:lnSpc>
                          <a:spcPct val="115000"/>
                        </a:lnSpc>
                        <a:spcAft>
                          <a:spcPts val="0"/>
                        </a:spcAft>
                      </a:pPr>
                      <a:r>
                        <a:rPr lang="en-US" sz="2000" dirty="0" smtClean="0">
                          <a:latin typeface="+mn-lt"/>
                          <a:ea typeface="Times New Roman"/>
                          <a:cs typeface="Times New Roman"/>
                        </a:rPr>
                        <a:t>}</a:t>
                      </a:r>
                      <a:endParaRPr lang="en-IN" sz="2000" dirty="0">
                        <a:latin typeface="+mn-lt"/>
                        <a:ea typeface="Times New Roman"/>
                        <a:cs typeface="Times New Roman"/>
                      </a:endParaRPr>
                    </a:p>
                  </a:txBody>
                  <a:tcPr marL="88301" marR="883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0123" name="Text Box 11"/>
          <p:cNvSpPr txBox="1">
            <a:spLocks noChangeArrowheads="1"/>
          </p:cNvSpPr>
          <p:nvPr/>
        </p:nvSpPr>
        <p:spPr bwMode="auto">
          <a:xfrm>
            <a:off x="7053274" y="3857628"/>
            <a:ext cx="1352550" cy="29527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smtClean="0">
                <a:ln>
                  <a:noFill/>
                </a:ln>
                <a:solidFill>
                  <a:schemeClr val="tx1"/>
                </a:solidFill>
                <a:effectLst/>
                <a:latin typeface="Times New Roman" pitchFamily="18" charset="0"/>
                <a:cs typeface="Arial" pitchFamily="34" charset="0"/>
              </a:rPr>
              <a:t>Instance Variables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90124" name="Text Box 12"/>
          <p:cNvSpPr txBox="1">
            <a:spLocks noChangeArrowheads="1"/>
          </p:cNvSpPr>
          <p:nvPr/>
        </p:nvSpPr>
        <p:spPr bwMode="auto">
          <a:xfrm>
            <a:off x="7434293" y="4733939"/>
            <a:ext cx="1352550" cy="29527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smtClean="0">
                <a:ln>
                  <a:noFill/>
                </a:ln>
                <a:solidFill>
                  <a:schemeClr val="tx1"/>
                </a:solidFill>
                <a:effectLst/>
                <a:latin typeface="Times New Roman" pitchFamily="18" charset="0"/>
                <a:cs typeface="Arial" pitchFamily="34" charset="0"/>
              </a:rPr>
              <a:t>Instance Method</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90125" name="Text Box 13"/>
          <p:cNvSpPr txBox="1">
            <a:spLocks noChangeArrowheads="1"/>
          </p:cNvSpPr>
          <p:nvPr/>
        </p:nvSpPr>
        <p:spPr bwMode="auto">
          <a:xfrm>
            <a:off x="7434293" y="5133989"/>
            <a:ext cx="1352550" cy="29527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smtClean="0">
                <a:ln>
                  <a:noFill/>
                </a:ln>
                <a:solidFill>
                  <a:schemeClr val="tx1"/>
                </a:solidFill>
                <a:effectLst/>
                <a:latin typeface="Times New Roman" pitchFamily="18" charset="0"/>
                <a:cs typeface="Arial" pitchFamily="34" charset="0"/>
              </a:rPr>
              <a:t>Local Variable</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90126" name="AutoShape 14"/>
          <p:cNvCxnSpPr>
            <a:cxnSpLocks noChangeShapeType="1"/>
          </p:cNvCxnSpPr>
          <p:nvPr/>
        </p:nvCxnSpPr>
        <p:spPr bwMode="auto">
          <a:xfrm>
            <a:off x="6000761" y="3857628"/>
            <a:ext cx="1052513" cy="123825"/>
          </a:xfrm>
          <a:prstGeom prst="straightConnector1">
            <a:avLst/>
          </a:prstGeom>
          <a:noFill/>
          <a:ln w="9525">
            <a:solidFill>
              <a:srgbClr val="000000"/>
            </a:solidFill>
            <a:round/>
            <a:headEnd/>
            <a:tailEnd type="triangle" w="med" len="med"/>
          </a:ln>
        </p:spPr>
      </p:cxnSp>
      <p:cxnSp>
        <p:nvCxnSpPr>
          <p:cNvPr id="90127" name="AutoShape 15"/>
          <p:cNvCxnSpPr>
            <a:cxnSpLocks noChangeShapeType="1"/>
          </p:cNvCxnSpPr>
          <p:nvPr/>
        </p:nvCxnSpPr>
        <p:spPr bwMode="auto">
          <a:xfrm flipV="1">
            <a:off x="5857885" y="4086229"/>
            <a:ext cx="1195389" cy="57151"/>
          </a:xfrm>
          <a:prstGeom prst="straightConnector1">
            <a:avLst/>
          </a:prstGeom>
          <a:noFill/>
          <a:ln w="9525">
            <a:solidFill>
              <a:srgbClr val="000000"/>
            </a:solidFill>
            <a:round/>
            <a:headEnd/>
            <a:tailEnd type="triangle" w="med" len="med"/>
          </a:ln>
        </p:spPr>
      </p:cxnSp>
      <p:cxnSp>
        <p:nvCxnSpPr>
          <p:cNvPr id="90128" name="AutoShape 16"/>
          <p:cNvCxnSpPr>
            <a:cxnSpLocks noChangeShapeType="1"/>
          </p:cNvCxnSpPr>
          <p:nvPr/>
        </p:nvCxnSpPr>
        <p:spPr bwMode="auto">
          <a:xfrm>
            <a:off x="6500827" y="4929198"/>
            <a:ext cx="933466" cy="23816"/>
          </a:xfrm>
          <a:prstGeom prst="straightConnector1">
            <a:avLst/>
          </a:prstGeom>
          <a:noFill/>
          <a:ln w="9525">
            <a:solidFill>
              <a:srgbClr val="000000"/>
            </a:solidFill>
            <a:round/>
            <a:headEnd/>
            <a:tailEnd type="triangle" w="med" len="med"/>
          </a:ln>
        </p:spPr>
      </p:cxnSp>
      <p:cxnSp>
        <p:nvCxnSpPr>
          <p:cNvPr id="90129" name="AutoShape 17"/>
          <p:cNvCxnSpPr>
            <a:cxnSpLocks noChangeShapeType="1"/>
          </p:cNvCxnSpPr>
          <p:nvPr/>
        </p:nvCxnSpPr>
        <p:spPr bwMode="auto">
          <a:xfrm>
            <a:off x="6286513" y="5286388"/>
            <a:ext cx="1147780" cy="1"/>
          </a:xfrm>
          <a:prstGeom prst="straightConnector1">
            <a:avLst/>
          </a:prstGeom>
          <a:noFill/>
          <a:ln w="9525">
            <a:solidFill>
              <a:srgbClr val="000000"/>
            </a:solidFill>
            <a:round/>
            <a:headEnd/>
            <a:tailEnd type="triangle" w="med" len="med"/>
          </a:ln>
        </p:spPr>
      </p:cxn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Fundamentals of </a:t>
            </a:r>
            <a:r>
              <a:rPr lang="en-US" dirty="0" smtClean="0"/>
              <a:t>classes &amp; Objects</a:t>
            </a:r>
            <a:endParaRPr lang="en-IN" dirty="0"/>
          </a:p>
        </p:txBody>
      </p:sp>
      <p:sp>
        <p:nvSpPr>
          <p:cNvPr id="3" name="Content Placeholder 2"/>
          <p:cNvSpPr>
            <a:spLocks noGrp="1"/>
          </p:cNvSpPr>
          <p:nvPr>
            <p:ph sz="quarter" idx="1"/>
          </p:nvPr>
        </p:nvSpPr>
        <p:spPr/>
        <p:txBody>
          <a:bodyPr>
            <a:noAutofit/>
          </a:bodyPr>
          <a:lstStyle/>
          <a:p>
            <a:r>
              <a:rPr lang="en-US" sz="2200" b="1" dirty="0" smtClean="0"/>
              <a:t>Simple class</a:t>
            </a:r>
          </a:p>
          <a:p>
            <a:pPr lvl="1"/>
            <a:r>
              <a:rPr lang="en-US" sz="2200" dirty="0" smtClean="0"/>
              <a:t>Class us user defined data type with the template that serves to define its properties. </a:t>
            </a:r>
          </a:p>
          <a:p>
            <a:pPr lvl="1"/>
            <a:r>
              <a:rPr lang="en-US" sz="2200" dirty="0" smtClean="0"/>
              <a:t>Once a class type has been defined, we can create any number of objects belonging to that class. Remember, in class these variables only declared therefore no storage space has been created in the memory.</a:t>
            </a:r>
            <a:endParaRPr lang="en-IN" sz="2200" dirty="0" smtClean="0"/>
          </a:p>
          <a:p>
            <a:pPr>
              <a:buNone/>
            </a:pPr>
            <a:endParaRPr lang="en-IN" sz="2200" dirty="0" smtClean="0"/>
          </a:p>
          <a:p>
            <a:pPr lvl="1"/>
            <a:r>
              <a:rPr lang="en-US" sz="2200" dirty="0" smtClean="0"/>
              <a:t>“A class name is declared by the use of “class” keyword. </a:t>
            </a:r>
            <a:endParaRPr lang="en-IN" sz="2200" dirty="0" smtClean="0"/>
          </a:p>
          <a:p>
            <a:pPr lvl="1"/>
            <a:r>
              <a:rPr lang="en-US" sz="2200" dirty="0" smtClean="0"/>
              <a:t>The data variable defined within the class are called “instance variable”</a:t>
            </a:r>
            <a:endParaRPr lang="en-IN" sz="2200" dirty="0" smtClean="0"/>
          </a:p>
          <a:p>
            <a:pPr lvl="1"/>
            <a:r>
              <a:rPr lang="en-US" sz="2200" dirty="0" smtClean="0"/>
              <a:t>The code is containing the function collectively called “methods”</a:t>
            </a:r>
            <a:endParaRPr lang="en-US" sz="2200" b="1" dirty="0" smtClean="0"/>
          </a:p>
          <a:p>
            <a:endParaRPr lang="en-IN" sz="2200" dirty="0" smtClean="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Fundamentals of </a:t>
            </a:r>
            <a:r>
              <a:rPr lang="en-US" dirty="0" smtClean="0"/>
              <a:t>classes &amp; Objects</a:t>
            </a:r>
            <a:endParaRPr lang="en-IN" dirty="0"/>
          </a:p>
        </p:txBody>
      </p:sp>
      <p:sp>
        <p:nvSpPr>
          <p:cNvPr id="3" name="Content Placeholder 2"/>
          <p:cNvSpPr>
            <a:spLocks noGrp="1"/>
          </p:cNvSpPr>
          <p:nvPr>
            <p:ph sz="quarter" idx="1"/>
          </p:nvPr>
        </p:nvSpPr>
        <p:spPr/>
        <p:txBody>
          <a:bodyPr>
            <a:noAutofit/>
          </a:bodyPr>
          <a:lstStyle/>
          <a:p>
            <a:r>
              <a:rPr lang="en-US" sz="2200" b="1" dirty="0" smtClean="0"/>
              <a:t>Simple class</a:t>
            </a:r>
          </a:p>
          <a:p>
            <a:endParaRPr lang="en-IN" sz="2200" dirty="0" smtClean="0"/>
          </a:p>
        </p:txBody>
      </p:sp>
      <p:graphicFrame>
        <p:nvGraphicFramePr>
          <p:cNvPr id="19" name="Table 18"/>
          <p:cNvGraphicFramePr>
            <a:graphicFrameLocks noGrp="1"/>
          </p:cNvGraphicFramePr>
          <p:nvPr/>
        </p:nvGraphicFramePr>
        <p:xfrm>
          <a:off x="992162" y="2189806"/>
          <a:ext cx="7575598" cy="2453640"/>
        </p:xfrm>
        <a:graphic>
          <a:graphicData uri="http://schemas.openxmlformats.org/drawingml/2006/table">
            <a:tbl>
              <a:tblPr/>
              <a:tblGrid>
                <a:gridCol w="7575598"/>
              </a:tblGrid>
              <a:tr h="547691">
                <a:tc>
                  <a:txBody>
                    <a:bodyPr/>
                    <a:lstStyle/>
                    <a:p>
                      <a:pPr algn="just">
                        <a:lnSpc>
                          <a:spcPct val="115000"/>
                        </a:lnSpc>
                        <a:spcAft>
                          <a:spcPts val="0"/>
                        </a:spcAft>
                      </a:pPr>
                      <a:r>
                        <a:rPr lang="en-US" sz="2000" dirty="0">
                          <a:latin typeface="+mn-lt"/>
                          <a:ea typeface="Times New Roman"/>
                          <a:cs typeface="Times New Roman"/>
                        </a:rPr>
                        <a:t>Example: </a:t>
                      </a:r>
                      <a:endParaRPr lang="en-US" sz="2000" dirty="0" smtClean="0">
                        <a:latin typeface="+mn-lt"/>
                        <a:ea typeface="Times New Roman"/>
                        <a:cs typeface="Times New Roman"/>
                      </a:endParaRPr>
                    </a:p>
                    <a:p>
                      <a:pPr algn="just">
                        <a:lnSpc>
                          <a:spcPct val="115000"/>
                        </a:lnSpc>
                        <a:spcAft>
                          <a:spcPts val="0"/>
                        </a:spcAft>
                      </a:pPr>
                      <a:r>
                        <a:rPr lang="en-US" sz="2000" dirty="0" smtClean="0">
                          <a:latin typeface="+mn-lt"/>
                          <a:ea typeface="Times New Roman"/>
                          <a:cs typeface="Times New Roman"/>
                        </a:rPr>
                        <a:t>A </a:t>
                      </a:r>
                      <a:r>
                        <a:rPr lang="en-US" sz="2000" dirty="0">
                          <a:latin typeface="+mn-lt"/>
                          <a:ea typeface="Times New Roman"/>
                          <a:cs typeface="Times New Roman"/>
                        </a:rPr>
                        <a:t>class “Box” defines </a:t>
                      </a:r>
                      <a:r>
                        <a:rPr lang="en-US" sz="2000" b="1" dirty="0">
                          <a:latin typeface="+mn-lt"/>
                          <a:ea typeface="Times New Roman"/>
                          <a:cs typeface="Times New Roman"/>
                        </a:rPr>
                        <a:t>three instance variable width, height and depth</a:t>
                      </a:r>
                      <a:r>
                        <a:rPr lang="en-US" sz="2000" dirty="0">
                          <a:latin typeface="+mn-lt"/>
                          <a:ea typeface="Times New Roman"/>
                          <a:cs typeface="Times New Roman"/>
                        </a:rPr>
                        <a:t>. </a:t>
                      </a:r>
                      <a:endParaRPr lang="en-US" sz="2000" dirty="0" smtClean="0">
                        <a:latin typeface="+mn-lt"/>
                        <a:ea typeface="Times New Roman"/>
                        <a:cs typeface="Times New Roman"/>
                      </a:endParaRPr>
                    </a:p>
                    <a:p>
                      <a:pPr algn="just">
                        <a:lnSpc>
                          <a:spcPct val="115000"/>
                        </a:lnSpc>
                        <a:spcAft>
                          <a:spcPts val="0"/>
                        </a:spcAft>
                      </a:pPr>
                      <a:r>
                        <a:rPr lang="en-US" sz="2000" dirty="0" smtClean="0">
                          <a:latin typeface="+mn-lt"/>
                          <a:ea typeface="Times New Roman"/>
                          <a:cs typeface="Times New Roman"/>
                        </a:rPr>
                        <a:t>In </a:t>
                      </a:r>
                      <a:r>
                        <a:rPr lang="en-US" sz="2000" dirty="0">
                          <a:latin typeface="+mn-lt"/>
                          <a:ea typeface="Times New Roman"/>
                          <a:cs typeface="Times New Roman"/>
                        </a:rPr>
                        <a:t>this case the class is define as</a:t>
                      </a:r>
                      <a:endParaRPr lang="en-IN" sz="2000" dirty="0">
                        <a:latin typeface="+mn-lt"/>
                        <a:ea typeface="Times New Roman"/>
                        <a:cs typeface="Times New Roman"/>
                      </a:endParaRPr>
                    </a:p>
                  </a:txBody>
                  <a:tcPr marL="89019" marR="890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95383">
                <a:tc>
                  <a:txBody>
                    <a:bodyPr/>
                    <a:lstStyle/>
                    <a:p>
                      <a:pPr algn="just">
                        <a:lnSpc>
                          <a:spcPct val="115000"/>
                        </a:lnSpc>
                        <a:spcAft>
                          <a:spcPts val="0"/>
                        </a:spcAft>
                      </a:pPr>
                      <a:r>
                        <a:rPr lang="en-US" sz="2000" dirty="0">
                          <a:latin typeface="+mn-lt"/>
                          <a:ea typeface="Times New Roman"/>
                          <a:cs typeface="Times New Roman"/>
                        </a:rPr>
                        <a:t>class Box</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  </a:t>
                      </a:r>
                      <a:r>
                        <a:rPr lang="en-US" sz="2000" dirty="0" err="1">
                          <a:latin typeface="+mn-lt"/>
                          <a:ea typeface="Times New Roman"/>
                          <a:cs typeface="Times New Roman"/>
                        </a:rPr>
                        <a:t>int</a:t>
                      </a:r>
                      <a:r>
                        <a:rPr lang="en-US" sz="2000" dirty="0">
                          <a:latin typeface="+mn-lt"/>
                          <a:ea typeface="Times New Roman"/>
                          <a:cs typeface="Times New Roman"/>
                        </a:rPr>
                        <a:t> width, height, depth;</a:t>
                      </a:r>
                      <a:endParaRPr lang="en-IN" sz="2000" dirty="0">
                        <a:latin typeface="+mn-lt"/>
                        <a:ea typeface="Times New Roman"/>
                        <a:cs typeface="Times New Roman"/>
                      </a:endParaRPr>
                    </a:p>
                    <a:p>
                      <a:pPr algn="just">
                        <a:lnSpc>
                          <a:spcPct val="115000"/>
                        </a:lnSpc>
                        <a:spcAft>
                          <a:spcPts val="0"/>
                        </a:spcAft>
                      </a:pPr>
                      <a:r>
                        <a:rPr lang="en-US" sz="2000" dirty="0">
                          <a:latin typeface="+mn-lt"/>
                          <a:ea typeface="Times New Roman"/>
                          <a:cs typeface="Times New Roman"/>
                        </a:rPr>
                        <a:t>}</a:t>
                      </a:r>
                      <a:endParaRPr lang="en-IN" sz="2000" dirty="0">
                        <a:latin typeface="+mn-lt"/>
                        <a:ea typeface="Times New Roman"/>
                        <a:cs typeface="Times New Roman"/>
                      </a:endParaRPr>
                    </a:p>
                  </a:txBody>
                  <a:tcPr marL="89019" marR="890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Fundamentals of </a:t>
            </a:r>
            <a:r>
              <a:rPr lang="en-US" dirty="0" smtClean="0"/>
              <a:t>classes &amp; Objects</a:t>
            </a:r>
            <a:endParaRPr lang="en-IN" dirty="0"/>
          </a:p>
        </p:txBody>
      </p:sp>
      <p:sp>
        <p:nvSpPr>
          <p:cNvPr id="3" name="Content Placeholder 2"/>
          <p:cNvSpPr>
            <a:spLocks noGrp="1"/>
          </p:cNvSpPr>
          <p:nvPr>
            <p:ph sz="quarter" idx="1"/>
          </p:nvPr>
        </p:nvSpPr>
        <p:spPr/>
        <p:txBody>
          <a:bodyPr>
            <a:noAutofit/>
          </a:bodyPr>
          <a:lstStyle/>
          <a:p>
            <a:r>
              <a:rPr lang="en-US" sz="2200" b="1" dirty="0" smtClean="0"/>
              <a:t>Declaring a object</a:t>
            </a:r>
          </a:p>
          <a:p>
            <a:pPr lvl="2"/>
            <a:r>
              <a:rPr lang="en-US" sz="2200" b="1" dirty="0" smtClean="0"/>
              <a:t>Step 1:</a:t>
            </a:r>
            <a:r>
              <a:rPr lang="en-US" sz="2200" dirty="0" smtClean="0"/>
              <a:t> </a:t>
            </a:r>
            <a:r>
              <a:rPr lang="en-US" sz="2200" u="sng" dirty="0" smtClean="0"/>
              <a:t>declare the variable of class type:</a:t>
            </a:r>
            <a:r>
              <a:rPr lang="en-US" sz="2200" dirty="0" smtClean="0"/>
              <a:t> The declaration of a variable does not define an object instead it simply refers to an object and it contains null value.</a:t>
            </a:r>
            <a:endParaRPr lang="en-IN" sz="2200" dirty="0" smtClean="0"/>
          </a:p>
          <a:p>
            <a:pPr lvl="2"/>
            <a:r>
              <a:rPr lang="en-US" sz="2200" b="1" dirty="0" smtClean="0"/>
              <a:t>Step 2:</a:t>
            </a:r>
            <a:r>
              <a:rPr lang="en-US" sz="2200" dirty="0" smtClean="0"/>
              <a:t> </a:t>
            </a:r>
            <a:r>
              <a:rPr lang="en-US" sz="2200" u="sng" dirty="0" smtClean="0"/>
              <a:t>Acquire a physical copy of an object:</a:t>
            </a:r>
            <a:r>
              <a:rPr lang="en-US" sz="2200" dirty="0" smtClean="0"/>
              <a:t> Allocates the actual objects and assign it to that variable using “new” operator. The “new” operator dynamically allocates the memory for an object. </a:t>
            </a:r>
            <a:endParaRPr lang="en-IN" sz="2200" dirty="0" smtClean="0"/>
          </a:p>
          <a:p>
            <a:pPr lvl="1"/>
            <a:r>
              <a:rPr lang="en-US" sz="2200" dirty="0" smtClean="0"/>
              <a:t>Consider the following statement</a:t>
            </a:r>
          </a:p>
          <a:p>
            <a:pPr lvl="2">
              <a:buNone/>
            </a:pPr>
            <a:r>
              <a:rPr lang="en-US" sz="2200" b="1" dirty="0" smtClean="0"/>
              <a:t>	Box b;</a:t>
            </a:r>
          </a:p>
          <a:p>
            <a:pPr lvl="2">
              <a:buNone/>
            </a:pPr>
            <a:r>
              <a:rPr lang="en-US" sz="2200" b="1" dirty="0" smtClean="0"/>
              <a:t>	b = new Box();</a:t>
            </a:r>
          </a:p>
          <a:p>
            <a:pPr lvl="1"/>
            <a:r>
              <a:rPr lang="en-US" sz="2200" dirty="0" smtClean="0"/>
              <a:t>The above two statement jointly written in following format</a:t>
            </a:r>
          </a:p>
          <a:p>
            <a:pPr lvl="2">
              <a:buNone/>
            </a:pPr>
            <a:r>
              <a:rPr lang="en-US" sz="2200" b="1" dirty="0" smtClean="0"/>
              <a:t>	</a:t>
            </a:r>
            <a:r>
              <a:rPr lang="en-US" sz="2200" b="1" dirty="0" smtClean="0">
                <a:hlinkClick r:id="rId2" action="ppaction://hlinkfile"/>
              </a:rPr>
              <a:t>Box b = new Box ();</a:t>
            </a:r>
            <a:endParaRPr lang="en-IN" sz="2200" b="1" dirty="0" smtClean="0"/>
          </a:p>
        </p:txBody>
      </p:sp>
      <p:cxnSp>
        <p:nvCxnSpPr>
          <p:cNvPr id="94210" name="AutoShape 2"/>
          <p:cNvCxnSpPr>
            <a:cxnSpLocks noChangeShapeType="1"/>
          </p:cNvCxnSpPr>
          <p:nvPr/>
        </p:nvCxnSpPr>
        <p:spPr bwMode="auto">
          <a:xfrm flipV="1">
            <a:off x="3428992" y="5357826"/>
            <a:ext cx="2500330" cy="142876"/>
          </a:xfrm>
          <a:prstGeom prst="straightConnector1">
            <a:avLst/>
          </a:prstGeom>
          <a:noFill/>
          <a:ln w="9525">
            <a:solidFill>
              <a:srgbClr val="000000"/>
            </a:solidFill>
            <a:round/>
            <a:headEnd/>
            <a:tailEnd type="triangle" w="med" len="med"/>
          </a:ln>
        </p:spPr>
      </p:cxnSp>
      <p:cxnSp>
        <p:nvCxnSpPr>
          <p:cNvPr id="94211" name="AutoShape 3"/>
          <p:cNvCxnSpPr>
            <a:cxnSpLocks noChangeShapeType="1"/>
          </p:cNvCxnSpPr>
          <p:nvPr/>
        </p:nvCxnSpPr>
        <p:spPr bwMode="auto">
          <a:xfrm>
            <a:off x="2500298" y="5072074"/>
            <a:ext cx="1214446" cy="1588"/>
          </a:xfrm>
          <a:prstGeom prst="straightConnector1">
            <a:avLst/>
          </a:prstGeom>
          <a:noFill/>
          <a:ln w="9525">
            <a:solidFill>
              <a:srgbClr val="000000"/>
            </a:solidFill>
            <a:round/>
            <a:headEnd/>
            <a:tailEnd type="triangle" w="med" len="med"/>
          </a:ln>
        </p:spPr>
      </p:cxnSp>
      <p:sp>
        <p:nvSpPr>
          <p:cNvPr id="94212" name="Rectangle 4"/>
          <p:cNvSpPr>
            <a:spLocks noChangeArrowheads="1"/>
          </p:cNvSpPr>
          <p:nvPr/>
        </p:nvSpPr>
        <p:spPr bwMode="auto">
          <a:xfrm>
            <a:off x="3786182" y="4929198"/>
            <a:ext cx="714380" cy="30003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b="0" i="0" u="none" strike="noStrike" cap="none" normalizeH="0" baseline="0" dirty="0" smtClean="0">
                <a:ln>
                  <a:noFill/>
                </a:ln>
                <a:solidFill>
                  <a:schemeClr val="tx1"/>
                </a:solidFill>
                <a:effectLst/>
                <a:cs typeface="Arial" pitchFamily="34" charset="0"/>
              </a:rPr>
              <a:t>NULL</a:t>
            </a:r>
            <a:endParaRPr kumimoji="0" lang="en-US" b="0" i="0" u="none" strike="noStrike" cap="none" normalizeH="0" baseline="0" dirty="0" smtClean="0">
              <a:ln>
                <a:noFill/>
              </a:ln>
              <a:solidFill>
                <a:schemeClr val="tx1"/>
              </a:solidFill>
              <a:effectLst/>
              <a:cs typeface="Arial" pitchFamily="34" charset="0"/>
            </a:endParaRPr>
          </a:p>
        </p:txBody>
      </p:sp>
      <p:sp>
        <p:nvSpPr>
          <p:cNvPr id="94213" name="Rectangle 5"/>
          <p:cNvSpPr>
            <a:spLocks noChangeArrowheads="1"/>
          </p:cNvSpPr>
          <p:nvPr/>
        </p:nvSpPr>
        <p:spPr bwMode="auto">
          <a:xfrm>
            <a:off x="6072198" y="4714884"/>
            <a:ext cx="862014" cy="9525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b="0" i="0" u="none" strike="noStrike" cap="none" normalizeH="0" baseline="0" dirty="0" err="1" smtClean="0">
                <a:ln>
                  <a:noFill/>
                </a:ln>
                <a:solidFill>
                  <a:schemeClr val="tx1"/>
                </a:solidFill>
                <a:effectLst/>
                <a:cs typeface="Arial" pitchFamily="34" charset="0"/>
              </a:rPr>
              <a:t>heightwidth</a:t>
            </a:r>
            <a:r>
              <a:rPr kumimoji="0" lang="en-IN" b="0" i="0" u="none" strike="noStrike" cap="none" normalizeH="0" baseline="0" dirty="0" smtClean="0">
                <a:ln>
                  <a:noFill/>
                </a:ln>
                <a:solidFill>
                  <a:schemeClr val="tx1"/>
                </a:solidFill>
                <a:effectLst/>
                <a:cs typeface="Arial" pitchFamily="34" charset="0"/>
              </a:rPr>
              <a:t> length</a:t>
            </a:r>
            <a:endParaRPr kumimoji="0" lang="en-US" b="0" i="0" u="none" strike="noStrike" cap="none" normalizeH="0" baseline="0" dirty="0" smtClean="0">
              <a:ln>
                <a:noFill/>
              </a:ln>
              <a:solidFill>
                <a:schemeClr val="tx1"/>
              </a:solidFill>
              <a:effectLst/>
              <a:cs typeface="Arial" pitchFamily="34"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Fundamentals of </a:t>
            </a:r>
            <a:r>
              <a:rPr lang="en-US" dirty="0" smtClean="0"/>
              <a:t>classes &amp; Objects</a:t>
            </a:r>
            <a:endParaRPr lang="en-IN" dirty="0"/>
          </a:p>
        </p:txBody>
      </p:sp>
      <p:sp>
        <p:nvSpPr>
          <p:cNvPr id="3" name="Content Placeholder 2"/>
          <p:cNvSpPr>
            <a:spLocks noGrp="1"/>
          </p:cNvSpPr>
          <p:nvPr>
            <p:ph sz="quarter" idx="1"/>
          </p:nvPr>
        </p:nvSpPr>
        <p:spPr/>
        <p:txBody>
          <a:bodyPr>
            <a:noAutofit/>
          </a:bodyPr>
          <a:lstStyle/>
          <a:p>
            <a:r>
              <a:rPr lang="en-US" sz="2200" b="1" dirty="0" smtClean="0">
                <a:hlinkClick r:id="rId2" action="ppaction://hlinkfile"/>
              </a:rPr>
              <a:t>Method declaration</a:t>
            </a:r>
            <a:endParaRPr lang="en-US" sz="2200" b="1" dirty="0" smtClean="0"/>
          </a:p>
          <a:p>
            <a:r>
              <a:rPr lang="en-US" sz="2200" b="1" dirty="0" smtClean="0">
                <a:hlinkClick r:id="rId3" action="ppaction://hlinkfile"/>
              </a:rPr>
              <a:t>Adding a Method with Parameter </a:t>
            </a:r>
            <a:endParaRPr lang="en-US" sz="2200" b="1" dirty="0" smtClean="0"/>
          </a:p>
          <a:p>
            <a:r>
              <a:rPr lang="en-US" sz="2200" b="1" dirty="0" smtClean="0">
                <a:hlinkClick r:id="rId4" action="ppaction://hlinkfile"/>
              </a:rPr>
              <a:t>Returning a Value</a:t>
            </a:r>
            <a:endParaRPr lang="en-IN" sz="2200" b="1" dirty="0" smtClean="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Constructor</a:t>
            </a:r>
            <a:endParaRPr lang="en-IN" dirty="0"/>
          </a:p>
        </p:txBody>
      </p:sp>
      <p:sp>
        <p:nvSpPr>
          <p:cNvPr id="3" name="Content Placeholder 2"/>
          <p:cNvSpPr>
            <a:spLocks noGrp="1"/>
          </p:cNvSpPr>
          <p:nvPr>
            <p:ph sz="quarter" idx="1"/>
          </p:nvPr>
        </p:nvSpPr>
        <p:spPr/>
        <p:txBody>
          <a:bodyPr>
            <a:normAutofit/>
          </a:bodyPr>
          <a:lstStyle/>
          <a:p>
            <a:r>
              <a:rPr lang="en-US" sz="2200" dirty="0" smtClean="0"/>
              <a:t>Constructor looks bit stranger because it syntactically similar to method, but </a:t>
            </a:r>
            <a:r>
              <a:rPr lang="en-US" sz="2200" u="sng" dirty="0" smtClean="0"/>
              <a:t>it do not contain any return type not even void</a:t>
            </a:r>
            <a:r>
              <a:rPr lang="en-US" sz="2200" dirty="0" smtClean="0"/>
              <a:t>. </a:t>
            </a:r>
          </a:p>
          <a:p>
            <a:r>
              <a:rPr lang="en-US" sz="2200" u="sng" dirty="0" smtClean="0"/>
              <a:t>A constructor initializes the object immediately after the creation</a:t>
            </a:r>
            <a:r>
              <a:rPr lang="en-US" sz="2200" dirty="0" smtClean="0"/>
              <a:t>. </a:t>
            </a:r>
          </a:p>
          <a:p>
            <a:r>
              <a:rPr lang="en-US" sz="2200" dirty="0" smtClean="0"/>
              <a:t>By convention it represented by same name as class name in which it resides.</a:t>
            </a:r>
          </a:p>
          <a:p>
            <a:pPr>
              <a:buNone/>
            </a:pPr>
            <a:r>
              <a:rPr lang="en-IN" sz="2200" b="1" dirty="0" smtClean="0"/>
              <a:t>				</a:t>
            </a:r>
            <a:r>
              <a:rPr lang="en-US" sz="2200" b="1" dirty="0" smtClean="0"/>
              <a:t>Box b = new </a:t>
            </a:r>
            <a:r>
              <a:rPr lang="en-US" sz="2200" b="1" dirty="0" smtClean="0">
                <a:hlinkClick r:id="rId2" action="ppaction://hlinkfile"/>
              </a:rPr>
              <a:t>Box()</a:t>
            </a:r>
            <a:r>
              <a:rPr lang="en-US" sz="2200" b="1" dirty="0" smtClean="0"/>
              <a:t>;</a:t>
            </a:r>
          </a:p>
          <a:p>
            <a:pPr>
              <a:buNone/>
            </a:pPr>
            <a:endParaRPr lang="en-US" sz="2200" b="1" dirty="0" smtClean="0"/>
          </a:p>
          <a:p>
            <a:r>
              <a:rPr lang="en-US" sz="2200" b="1" dirty="0" smtClean="0"/>
              <a:t>There are two types of constructors</a:t>
            </a:r>
          </a:p>
          <a:p>
            <a:pPr lvl="1"/>
            <a:r>
              <a:rPr lang="en-US" sz="1900" b="1" dirty="0" smtClean="0"/>
              <a:t>Default Constructor</a:t>
            </a:r>
          </a:p>
          <a:p>
            <a:pPr lvl="1"/>
            <a:r>
              <a:rPr lang="en-US" sz="1900" b="1" dirty="0" smtClean="0">
                <a:hlinkClick r:id="rId3" action="ppaction://hlinkfile"/>
              </a:rPr>
              <a:t>Parameterized Constructor</a:t>
            </a:r>
            <a:endParaRPr lang="en-IN" sz="1900" dirty="0" smtClean="0"/>
          </a:p>
          <a:p>
            <a:endParaRPr lang="en-IN" sz="22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Instance Variable Hiding</a:t>
            </a:r>
            <a:endParaRPr lang="en-IN" dirty="0"/>
          </a:p>
        </p:txBody>
      </p:sp>
      <p:sp>
        <p:nvSpPr>
          <p:cNvPr id="3" name="Content Placeholder 2"/>
          <p:cNvSpPr>
            <a:spLocks noGrp="1"/>
          </p:cNvSpPr>
          <p:nvPr>
            <p:ph sz="quarter" idx="1"/>
          </p:nvPr>
        </p:nvSpPr>
        <p:spPr/>
        <p:txBody>
          <a:bodyPr>
            <a:normAutofit/>
          </a:bodyPr>
          <a:lstStyle/>
          <a:p>
            <a:r>
              <a:rPr lang="en-US" sz="2400" dirty="0" smtClean="0"/>
              <a:t>It is illegal in java to declare two variables with same name inside the same scope. </a:t>
            </a:r>
          </a:p>
          <a:p>
            <a:r>
              <a:rPr lang="en-US" sz="2400" dirty="0" smtClean="0"/>
              <a:t>But when a local variable has a same name as that of the instance variable, the local variable </a:t>
            </a:r>
            <a:r>
              <a:rPr lang="en-US" sz="2400" dirty="0" smtClean="0">
                <a:hlinkClick r:id="rId2" action="ppaction://hlinkfile"/>
              </a:rPr>
              <a:t>hides the instance variable. </a:t>
            </a:r>
            <a:endParaRPr lang="en-IN" sz="2200"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‘this’ keyword</a:t>
            </a:r>
            <a:endParaRPr lang="en-IN" dirty="0"/>
          </a:p>
        </p:txBody>
      </p:sp>
      <p:sp>
        <p:nvSpPr>
          <p:cNvPr id="3" name="Content Placeholder 2"/>
          <p:cNvSpPr>
            <a:spLocks noGrp="1"/>
          </p:cNvSpPr>
          <p:nvPr>
            <p:ph sz="quarter" idx="1"/>
          </p:nvPr>
        </p:nvSpPr>
        <p:spPr/>
        <p:txBody>
          <a:bodyPr>
            <a:normAutofit/>
          </a:bodyPr>
          <a:lstStyle/>
          <a:p>
            <a:r>
              <a:rPr lang="en-US" sz="2400" dirty="0" smtClean="0"/>
              <a:t>‘this’ keyword can be used inside any method to reference current object, it always referring to an object by which method was invoked. </a:t>
            </a:r>
          </a:p>
          <a:p>
            <a:r>
              <a:rPr lang="en-US" sz="2400" dirty="0" smtClean="0"/>
              <a:t>We can use ‘this’ keyword anywhere in the program reference to an object of current class.</a:t>
            </a:r>
          </a:p>
          <a:p>
            <a:r>
              <a:rPr lang="en-US" sz="2400" u="sng" dirty="0" smtClean="0"/>
              <a:t>To overcome the problem of variable hiding </a:t>
            </a:r>
            <a:r>
              <a:rPr lang="en-US" sz="2400" u="sng" dirty="0" smtClean="0">
                <a:hlinkClick r:id="rId2" action="ppaction://hlinkfile"/>
              </a:rPr>
              <a:t>‘this’ keyword </a:t>
            </a:r>
            <a:r>
              <a:rPr lang="en-US" sz="2400" u="sng" dirty="0" smtClean="0"/>
              <a:t>is used.</a:t>
            </a:r>
            <a:r>
              <a:rPr lang="en-US" sz="2400" dirty="0" smtClean="0"/>
              <a:t> </a:t>
            </a:r>
          </a:p>
          <a:p>
            <a:r>
              <a:rPr lang="en-US" sz="2400" dirty="0" smtClean="0"/>
              <a:t>It can be resolve any name collision that can occur between instance variable and local variable.</a:t>
            </a:r>
            <a:endParaRPr lang="en-IN" sz="24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4300" dirty="0" smtClean="0"/>
              <a:t>Method Overloading (</a:t>
            </a:r>
            <a:r>
              <a:rPr lang="en-US" sz="4300" dirty="0" smtClean="0">
                <a:hlinkClick r:id="rId2" action="ppaction://hlinkfile"/>
              </a:rPr>
              <a:t>Polymorphism</a:t>
            </a:r>
            <a:r>
              <a:rPr lang="en-US" sz="4300" dirty="0" smtClean="0"/>
              <a:t>)</a:t>
            </a:r>
            <a:endParaRPr lang="en-IN" sz="4300" dirty="0"/>
          </a:p>
        </p:txBody>
      </p:sp>
      <p:sp>
        <p:nvSpPr>
          <p:cNvPr id="3" name="Content Placeholder 2"/>
          <p:cNvSpPr>
            <a:spLocks noGrp="1"/>
          </p:cNvSpPr>
          <p:nvPr>
            <p:ph sz="quarter" idx="1"/>
          </p:nvPr>
        </p:nvSpPr>
        <p:spPr/>
        <p:txBody>
          <a:bodyPr>
            <a:normAutofit fontScale="92500" lnSpcReduction="20000"/>
          </a:bodyPr>
          <a:lstStyle/>
          <a:p>
            <a:r>
              <a:rPr lang="en-US" sz="2400" u="sng" dirty="0" smtClean="0"/>
              <a:t>In java, It is possible to define two or more methods within the class that shares the same name as long as their parameters declaration are different. This process is known as “</a:t>
            </a:r>
            <a:r>
              <a:rPr lang="en-US" sz="2400" b="1" u="sng" dirty="0" smtClean="0"/>
              <a:t>Method Overloading</a:t>
            </a:r>
            <a:r>
              <a:rPr lang="en-US" sz="2400" u="sng" dirty="0" smtClean="0"/>
              <a:t>”.</a:t>
            </a:r>
          </a:p>
          <a:p>
            <a:r>
              <a:rPr lang="en-US" sz="2400" dirty="0" smtClean="0"/>
              <a:t>When an overloaded method invokes, java uses “type and/or argument” to determine which version of overloaded method to be called.</a:t>
            </a:r>
          </a:p>
          <a:p>
            <a:r>
              <a:rPr lang="en-US" sz="2400" dirty="0" smtClean="0"/>
              <a:t>Java compiler will employ automatic type conversion only if no exact match is found.</a:t>
            </a:r>
          </a:p>
          <a:p>
            <a:endParaRPr lang="en-US" sz="2400" dirty="0" smtClean="0"/>
          </a:p>
          <a:p>
            <a:endParaRPr lang="en-US" sz="2400" b="1" dirty="0" smtClean="0"/>
          </a:p>
          <a:p>
            <a:r>
              <a:rPr lang="en-US" sz="2400" b="1" dirty="0" smtClean="0">
                <a:hlinkClick r:id="rId3" action="ppaction://hlinkfile"/>
              </a:rPr>
              <a:t>Overloaded Constructor</a:t>
            </a:r>
            <a:r>
              <a:rPr lang="en-US" sz="2400" b="1" dirty="0" smtClean="0"/>
              <a:t>: </a:t>
            </a:r>
            <a:r>
              <a:rPr lang="en-US" sz="2400" dirty="0" smtClean="0"/>
              <a:t>In addition to overloading normal method, we can also overload constructor. When we overload a constructor, each version of that constructor can perform an activity we desired to construct.</a:t>
            </a:r>
            <a:endParaRPr lang="en-IN" sz="2400" dirty="0" smtClean="0"/>
          </a:p>
          <a:p>
            <a:endParaRPr lang="en-IN" sz="2400" dirty="0" smtClean="0"/>
          </a:p>
          <a:p>
            <a:endParaRPr lang="en-IN" sz="2400"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Nested and Inner class</a:t>
            </a:r>
            <a:endParaRPr lang="en-IN" dirty="0"/>
          </a:p>
        </p:txBody>
      </p:sp>
      <p:sp>
        <p:nvSpPr>
          <p:cNvPr id="3" name="Content Placeholder 2"/>
          <p:cNvSpPr>
            <a:spLocks noGrp="1"/>
          </p:cNvSpPr>
          <p:nvPr>
            <p:ph sz="quarter" idx="1"/>
          </p:nvPr>
        </p:nvSpPr>
        <p:spPr/>
        <p:txBody>
          <a:bodyPr>
            <a:normAutofit/>
          </a:bodyPr>
          <a:lstStyle/>
          <a:p>
            <a:r>
              <a:rPr lang="en-US" sz="2200" dirty="0" smtClean="0"/>
              <a:t>It is possible to define a class within another class such classes known as nested class. The scope of nested class is bounded by the scope of enclosing brackets ({}). </a:t>
            </a:r>
            <a:endParaRPr lang="en-IN" sz="2200" dirty="0" smtClean="0"/>
          </a:p>
          <a:p>
            <a:pPr lvl="1"/>
            <a:r>
              <a:rPr lang="en-US" sz="2200" dirty="0" smtClean="0"/>
              <a:t>Example: If class ‘B’ is define within class ‘A’ then ‘B’ is known only to ‘A’ but not outside ‘A’</a:t>
            </a:r>
          </a:p>
          <a:p>
            <a:r>
              <a:rPr lang="en-US" sz="2800" dirty="0" smtClean="0">
                <a:hlinkClick r:id="rId2" action="ppaction://hlinkfile"/>
              </a:rPr>
              <a:t>Inner class </a:t>
            </a:r>
            <a:r>
              <a:rPr lang="en-US" sz="2800" dirty="0" smtClean="0"/>
              <a:t>can access all variables and method of its outer class and may reference to them directly.</a:t>
            </a:r>
            <a:endParaRPr lang="en-IN" sz="2500" dirty="0" smtClean="0"/>
          </a:p>
          <a:p>
            <a:endParaRPr lang="en-IN" sz="2200"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Garbage Collection</a:t>
            </a:r>
            <a:endParaRPr lang="en-IN" dirty="0"/>
          </a:p>
        </p:txBody>
      </p:sp>
      <p:sp>
        <p:nvSpPr>
          <p:cNvPr id="3" name="Content Placeholder 2"/>
          <p:cNvSpPr>
            <a:spLocks noGrp="1"/>
          </p:cNvSpPr>
          <p:nvPr>
            <p:ph sz="quarter" idx="1"/>
          </p:nvPr>
        </p:nvSpPr>
        <p:spPr/>
        <p:txBody>
          <a:bodyPr>
            <a:noAutofit/>
          </a:bodyPr>
          <a:lstStyle/>
          <a:p>
            <a:r>
              <a:rPr lang="en-US" sz="2200" dirty="0" smtClean="0"/>
              <a:t>In Java when no reference to an object exist then that object is assume to be no longer needed and the memory occupied by the object can be released.</a:t>
            </a:r>
          </a:p>
          <a:p>
            <a:r>
              <a:rPr lang="en-US" sz="2200" u="sng" dirty="0" smtClean="0"/>
              <a:t>From where Garbage is collected:</a:t>
            </a:r>
            <a:endParaRPr lang="en-IN" sz="2200" dirty="0" smtClean="0"/>
          </a:p>
          <a:p>
            <a:pPr lvl="1"/>
            <a:r>
              <a:rPr lang="en-US" sz="2200" dirty="0" smtClean="0"/>
              <a:t>The heap is that part of memory where Java objects live and it’s only part of memory involved in the </a:t>
            </a:r>
            <a:r>
              <a:rPr lang="en-US" sz="2200" dirty="0" smtClean="0">
                <a:hlinkClick r:id="rId2" action="ppaction://hlinkfile"/>
              </a:rPr>
              <a:t>garbage collection </a:t>
            </a:r>
            <a:r>
              <a:rPr lang="en-US" sz="2200" dirty="0" smtClean="0"/>
              <a:t>process.</a:t>
            </a:r>
          </a:p>
          <a:p>
            <a:r>
              <a:rPr lang="en-US" sz="2200" u="sng" dirty="0" smtClean="0"/>
              <a:t>When does the garbage collector run:</a:t>
            </a:r>
            <a:endParaRPr lang="en-IN" sz="2200" dirty="0" smtClean="0"/>
          </a:p>
          <a:p>
            <a:pPr lvl="1"/>
            <a:r>
              <a:rPr lang="en-US" sz="2200" dirty="0" smtClean="0"/>
              <a:t>The garbage collector is under the control of the JVM therefore JVM decides when to run the garbage collector.</a:t>
            </a:r>
            <a:endParaRPr lang="en-IN" sz="2200" dirty="0" smtClean="0"/>
          </a:p>
          <a:p>
            <a:pPr lvl="1"/>
            <a:r>
              <a:rPr lang="en-US" sz="2200" dirty="0" smtClean="0"/>
              <a:t>JVM typically runs the garbage collector when it senses that memory is running low.</a:t>
            </a:r>
            <a:endParaRPr lang="en-IN" sz="2200" dirty="0" smtClean="0"/>
          </a:p>
          <a:p>
            <a:pPr lvl="1"/>
            <a:r>
              <a:rPr lang="en-US" sz="2200" dirty="0" smtClean="0"/>
              <a:t>Within your program you can ask the JVM to run the garbage collector using </a:t>
            </a:r>
            <a:r>
              <a:rPr lang="en-US" sz="2200" b="1" dirty="0" err="1" smtClean="0"/>
              <a:t>System.gc</a:t>
            </a:r>
            <a:r>
              <a:rPr lang="en-US" sz="2200" b="1" dirty="0" smtClean="0"/>
              <a:t>()</a:t>
            </a:r>
            <a:r>
              <a:rPr lang="en-US" sz="2200" dirty="0" smtClean="0"/>
              <a:t>, but there is no guarantee under any circumstances that the JVM will comply.</a:t>
            </a:r>
            <a:endParaRPr lang="en-IN" sz="2200" dirty="0"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Garbage Collection</a:t>
            </a:r>
            <a:endParaRPr lang="en-IN" dirty="0"/>
          </a:p>
        </p:txBody>
      </p:sp>
      <p:sp>
        <p:nvSpPr>
          <p:cNvPr id="3" name="Content Placeholder 2"/>
          <p:cNvSpPr>
            <a:spLocks noGrp="1"/>
          </p:cNvSpPr>
          <p:nvPr>
            <p:ph sz="quarter" idx="1"/>
          </p:nvPr>
        </p:nvSpPr>
        <p:spPr/>
        <p:txBody>
          <a:bodyPr>
            <a:noAutofit/>
          </a:bodyPr>
          <a:lstStyle/>
          <a:p>
            <a:pPr lvl="0"/>
            <a:r>
              <a:rPr lang="en-US" sz="2400" b="1" dirty="0" smtClean="0"/>
              <a:t>‘finalize()’ Method:</a:t>
            </a:r>
            <a:endParaRPr lang="en-IN" sz="2400" dirty="0" smtClean="0"/>
          </a:p>
          <a:p>
            <a:pPr lvl="1"/>
            <a:r>
              <a:rPr lang="en-US" sz="2100" dirty="0" smtClean="0"/>
              <a:t>Java provides mechanism to run some code just before object is deleted by garbage collector that code is located in a method name ‘</a:t>
            </a:r>
            <a:r>
              <a:rPr lang="en-US" sz="2100" b="1" dirty="0" smtClean="0"/>
              <a:t>finalize()</a:t>
            </a:r>
            <a:r>
              <a:rPr lang="en-US" sz="2100" dirty="0" smtClean="0"/>
              <a:t>’.</a:t>
            </a:r>
            <a:endParaRPr lang="en-IN" sz="2100" dirty="0" smtClean="0"/>
          </a:p>
          <a:p>
            <a:pPr lvl="1"/>
            <a:r>
              <a:rPr lang="en-US" sz="2100" dirty="0" smtClean="0"/>
              <a:t>As we know there is no guarantee when the garbage collector will run so we can’t predict when finalize() method will run therefore don’t put any essential code into your finalize() method.</a:t>
            </a:r>
            <a:endParaRPr lang="en-IN" sz="2100" dirty="0"/>
          </a:p>
        </p:txBody>
      </p:sp>
      <p:graphicFrame>
        <p:nvGraphicFramePr>
          <p:cNvPr id="4" name="Table 3"/>
          <p:cNvGraphicFramePr>
            <a:graphicFrameLocks noGrp="1"/>
          </p:cNvGraphicFramePr>
          <p:nvPr/>
        </p:nvGraphicFramePr>
        <p:xfrm>
          <a:off x="357158" y="4286256"/>
          <a:ext cx="8429684" cy="2453640"/>
        </p:xfrm>
        <a:graphic>
          <a:graphicData uri="http://schemas.openxmlformats.org/drawingml/2006/table">
            <a:tbl>
              <a:tblPr/>
              <a:tblGrid>
                <a:gridCol w="8429684"/>
              </a:tblGrid>
              <a:tr h="1339463">
                <a:tc>
                  <a:txBody>
                    <a:bodyPr/>
                    <a:lstStyle/>
                    <a:p>
                      <a:pPr marL="0" indent="0" algn="just">
                        <a:lnSpc>
                          <a:spcPct val="115000"/>
                        </a:lnSpc>
                        <a:spcAft>
                          <a:spcPts val="0"/>
                        </a:spcAft>
                        <a:tabLst>
                          <a:tab pos="285750" algn="l"/>
                        </a:tabLst>
                      </a:pPr>
                      <a:r>
                        <a:rPr lang="en-US" sz="2000" dirty="0">
                          <a:latin typeface="+mn-lt"/>
                          <a:ea typeface="Times New Roman"/>
                          <a:cs typeface="Times New Roman"/>
                        </a:rPr>
                        <a:t>protected void finalize()</a:t>
                      </a:r>
                      <a:endParaRPr lang="en-IN" sz="2000" dirty="0">
                        <a:latin typeface="+mn-lt"/>
                        <a:ea typeface="Times New Roman"/>
                        <a:cs typeface="Times New Roman"/>
                      </a:endParaRPr>
                    </a:p>
                    <a:p>
                      <a:pPr marL="0" indent="0" algn="just">
                        <a:lnSpc>
                          <a:spcPct val="115000"/>
                        </a:lnSpc>
                        <a:spcAft>
                          <a:spcPts val="0"/>
                        </a:spcAft>
                        <a:tabLst>
                          <a:tab pos="285750" algn="l"/>
                        </a:tabLst>
                      </a:pPr>
                      <a:r>
                        <a:rPr lang="en-US" sz="2000" dirty="0">
                          <a:latin typeface="+mn-lt"/>
                          <a:ea typeface="Times New Roman"/>
                          <a:cs typeface="Times New Roman"/>
                        </a:rPr>
                        <a:t>	</a:t>
                      </a:r>
                      <a:r>
                        <a:rPr lang="en-US" sz="2000" dirty="0" smtClean="0">
                          <a:latin typeface="+mn-lt"/>
                          <a:ea typeface="Times New Roman"/>
                          <a:cs typeface="Times New Roman"/>
                        </a:rPr>
                        <a:t>{</a:t>
                      </a:r>
                      <a:endParaRPr lang="en-IN" sz="2000" dirty="0">
                        <a:latin typeface="+mn-lt"/>
                        <a:ea typeface="Times New Roman"/>
                        <a:cs typeface="Times New Roman"/>
                      </a:endParaRPr>
                    </a:p>
                    <a:p>
                      <a:pPr marL="0" indent="0" algn="just">
                        <a:lnSpc>
                          <a:spcPct val="115000"/>
                        </a:lnSpc>
                        <a:spcAft>
                          <a:spcPts val="0"/>
                        </a:spcAft>
                        <a:tabLst>
                          <a:tab pos="285750" algn="l"/>
                        </a:tabLst>
                      </a:pPr>
                      <a:r>
                        <a:rPr lang="en-US" sz="2000" dirty="0">
                          <a:latin typeface="+mn-lt"/>
                          <a:ea typeface="Times New Roman"/>
                          <a:cs typeface="Times New Roman"/>
                        </a:rPr>
                        <a:t>		Code…...</a:t>
                      </a:r>
                      <a:endParaRPr lang="en-IN" sz="2000" dirty="0">
                        <a:latin typeface="+mn-lt"/>
                        <a:ea typeface="Times New Roman"/>
                        <a:cs typeface="Times New Roman"/>
                      </a:endParaRPr>
                    </a:p>
                    <a:p>
                      <a:pPr marL="0" indent="0" algn="just">
                        <a:lnSpc>
                          <a:spcPct val="115000"/>
                        </a:lnSpc>
                        <a:spcAft>
                          <a:spcPts val="0"/>
                        </a:spcAft>
                        <a:tabLst>
                          <a:tab pos="285750" algn="l"/>
                        </a:tabLst>
                      </a:pPr>
                      <a:r>
                        <a:rPr lang="en-US" sz="2000" dirty="0">
                          <a:latin typeface="+mn-lt"/>
                          <a:ea typeface="Times New Roman"/>
                          <a:cs typeface="Times New Roman"/>
                        </a:rPr>
                        <a:t>		…………</a:t>
                      </a:r>
                      <a:endParaRPr lang="en-IN" sz="2000" dirty="0">
                        <a:latin typeface="+mn-lt"/>
                        <a:ea typeface="Times New Roman"/>
                        <a:cs typeface="Times New Roman"/>
                      </a:endParaRPr>
                    </a:p>
                    <a:p>
                      <a:pPr marL="0" indent="0" algn="just">
                        <a:lnSpc>
                          <a:spcPct val="115000"/>
                        </a:lnSpc>
                        <a:spcAft>
                          <a:spcPts val="0"/>
                        </a:spcAft>
                        <a:tabLst>
                          <a:tab pos="285750" algn="l"/>
                        </a:tabLst>
                      </a:pPr>
                      <a:r>
                        <a:rPr lang="en-US" sz="2000" dirty="0">
                          <a:latin typeface="+mn-lt"/>
                          <a:ea typeface="Times New Roman"/>
                          <a:cs typeface="Times New Roman"/>
                        </a:rPr>
                        <a:t>	}</a:t>
                      </a:r>
                      <a:endParaRPr lang="en-IN" sz="2000" dirty="0">
                        <a:latin typeface="+mn-lt"/>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6488">
                <a:tc>
                  <a:txBody>
                    <a:bodyPr/>
                    <a:lstStyle/>
                    <a:p>
                      <a:pPr marL="0" indent="0" algn="just">
                        <a:lnSpc>
                          <a:spcPct val="115000"/>
                        </a:lnSpc>
                        <a:spcAft>
                          <a:spcPts val="0"/>
                        </a:spcAft>
                        <a:tabLst>
                          <a:tab pos="285750" algn="l"/>
                        </a:tabLst>
                      </a:pPr>
                      <a:r>
                        <a:rPr lang="en-US" sz="2000" dirty="0">
                          <a:latin typeface="+mn-lt"/>
                          <a:ea typeface="Times New Roman"/>
                          <a:cs typeface="Times New Roman"/>
                        </a:rPr>
                        <a:t>The keyword ‘</a:t>
                      </a:r>
                      <a:r>
                        <a:rPr lang="en-US" sz="2000" b="1" dirty="0">
                          <a:latin typeface="+mn-lt"/>
                          <a:ea typeface="Times New Roman"/>
                          <a:cs typeface="Times New Roman"/>
                        </a:rPr>
                        <a:t>protected</a:t>
                      </a:r>
                      <a:r>
                        <a:rPr lang="en-US" sz="2000" dirty="0">
                          <a:latin typeface="+mn-lt"/>
                          <a:ea typeface="Times New Roman"/>
                          <a:cs typeface="Times New Roman"/>
                        </a:rPr>
                        <a:t>’ is a </a:t>
                      </a:r>
                      <a:r>
                        <a:rPr lang="en-US" sz="2000" dirty="0" err="1">
                          <a:latin typeface="+mn-lt"/>
                          <a:ea typeface="Times New Roman"/>
                          <a:cs typeface="Times New Roman"/>
                        </a:rPr>
                        <a:t>specifier</a:t>
                      </a:r>
                      <a:r>
                        <a:rPr lang="en-US" sz="2000" dirty="0">
                          <a:latin typeface="+mn-lt"/>
                          <a:ea typeface="Times New Roman"/>
                          <a:cs typeface="Times New Roman"/>
                        </a:rPr>
                        <a:t> that prevents access to ‘</a:t>
                      </a:r>
                      <a:r>
                        <a:rPr lang="en-US" sz="2000" b="1" dirty="0">
                          <a:latin typeface="+mn-lt"/>
                          <a:ea typeface="Times New Roman"/>
                          <a:cs typeface="Times New Roman"/>
                        </a:rPr>
                        <a:t>finalize</a:t>
                      </a:r>
                      <a:r>
                        <a:rPr lang="en-US" sz="2000" dirty="0">
                          <a:latin typeface="+mn-lt"/>
                          <a:ea typeface="Times New Roman"/>
                          <a:cs typeface="Times New Roman"/>
                        </a:rPr>
                        <a:t>’ by code that define outside its class. This method is called just prior to garbage collection.</a:t>
                      </a:r>
                      <a:endParaRPr lang="en-IN" sz="2000" dirty="0">
                        <a:latin typeface="+mn-lt"/>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Static Members</a:t>
            </a:r>
            <a:endParaRPr lang="en-IN" dirty="0"/>
          </a:p>
        </p:txBody>
      </p:sp>
      <p:sp>
        <p:nvSpPr>
          <p:cNvPr id="3" name="Content Placeholder 2"/>
          <p:cNvSpPr>
            <a:spLocks noGrp="1"/>
          </p:cNvSpPr>
          <p:nvPr>
            <p:ph sz="quarter" idx="1"/>
          </p:nvPr>
        </p:nvSpPr>
        <p:spPr/>
        <p:txBody>
          <a:bodyPr>
            <a:noAutofit/>
          </a:bodyPr>
          <a:lstStyle/>
          <a:p>
            <a:r>
              <a:rPr lang="en-US" sz="2200" dirty="0" smtClean="0"/>
              <a:t>Sometimes we want to define a member a member that is common to all the objects and accessed without using particular objects. Such members defined as follows;</a:t>
            </a:r>
            <a:endParaRPr lang="en-IN" sz="2200" dirty="0" smtClean="0"/>
          </a:p>
          <a:p>
            <a:pPr algn="ctr">
              <a:buNone/>
            </a:pPr>
            <a:r>
              <a:rPr lang="en-US" sz="2200" b="1" dirty="0" smtClean="0"/>
              <a:t>static </a:t>
            </a:r>
            <a:r>
              <a:rPr lang="en-US" sz="2200" b="1" dirty="0" err="1" smtClean="0"/>
              <a:t>int</a:t>
            </a:r>
            <a:r>
              <a:rPr lang="en-US" sz="2200" b="1" dirty="0" smtClean="0"/>
              <a:t> </a:t>
            </a:r>
            <a:r>
              <a:rPr lang="en-US" sz="2200" b="1" dirty="0" err="1" smtClean="0"/>
              <a:t>i</a:t>
            </a:r>
            <a:r>
              <a:rPr lang="en-US" sz="2200" b="1" dirty="0" smtClean="0"/>
              <a:t>, j;</a:t>
            </a:r>
            <a:endParaRPr lang="en-IN" sz="2200" dirty="0" smtClean="0"/>
          </a:p>
          <a:p>
            <a:pPr algn="ctr">
              <a:buNone/>
            </a:pPr>
            <a:r>
              <a:rPr lang="en-US" sz="2200" b="1" dirty="0" smtClean="0"/>
              <a:t>:</a:t>
            </a:r>
            <a:endParaRPr lang="en-IN" sz="2200" dirty="0" smtClean="0"/>
          </a:p>
          <a:p>
            <a:pPr algn="ctr">
              <a:buNone/>
            </a:pPr>
            <a:r>
              <a:rPr lang="en-US" sz="2200" b="1" dirty="0" smtClean="0"/>
              <a:t>:</a:t>
            </a:r>
            <a:endParaRPr lang="en-IN" sz="2200" dirty="0" smtClean="0"/>
          </a:p>
          <a:p>
            <a:pPr algn="ctr">
              <a:buNone/>
            </a:pPr>
            <a:r>
              <a:rPr lang="en-US" sz="2200" b="1" dirty="0" smtClean="0"/>
              <a:t>static add(</a:t>
            </a:r>
            <a:r>
              <a:rPr lang="en-US" sz="2200" b="1" dirty="0" err="1" smtClean="0"/>
              <a:t>x,y</a:t>
            </a:r>
            <a:r>
              <a:rPr lang="en-US" sz="2200" b="1" dirty="0" smtClean="0"/>
              <a:t>);</a:t>
            </a:r>
            <a:endParaRPr lang="en-IN" sz="2200" dirty="0" smtClean="0"/>
          </a:p>
          <a:p>
            <a:r>
              <a:rPr lang="en-US" sz="2200" dirty="0" smtClean="0"/>
              <a:t>The members that are declaring as </a:t>
            </a:r>
            <a:r>
              <a:rPr lang="en-US" sz="2200" b="1" dirty="0" smtClean="0"/>
              <a:t>static</a:t>
            </a:r>
            <a:r>
              <a:rPr lang="en-US" sz="2200" dirty="0" smtClean="0"/>
              <a:t> are associated with class itself rather than individual objects. </a:t>
            </a:r>
          </a:p>
          <a:p>
            <a:r>
              <a:rPr lang="en-US" sz="2200" dirty="0" smtClean="0"/>
              <a:t>The static variable and methods are often referred to as class variable and methods. </a:t>
            </a:r>
          </a:p>
          <a:p>
            <a:r>
              <a:rPr lang="en-US" sz="2200" dirty="0" smtClean="0"/>
              <a:t>The </a:t>
            </a:r>
            <a:r>
              <a:rPr lang="en-US" sz="2200" dirty="0" smtClean="0">
                <a:hlinkClick r:id="rId2" action="ppaction://hlinkfile"/>
              </a:rPr>
              <a:t>static members</a:t>
            </a:r>
            <a:r>
              <a:rPr lang="en-US" sz="2200" dirty="0" smtClean="0"/>
              <a:t> can be called without using the objects.</a:t>
            </a:r>
            <a:endParaRPr lang="en-IN" sz="22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Access Control</a:t>
            </a:r>
            <a:endParaRPr lang="en-IN" dirty="0"/>
          </a:p>
        </p:txBody>
      </p:sp>
      <p:sp>
        <p:nvSpPr>
          <p:cNvPr id="3" name="Content Placeholder 2"/>
          <p:cNvSpPr>
            <a:spLocks noGrp="1"/>
          </p:cNvSpPr>
          <p:nvPr>
            <p:ph sz="quarter" idx="1"/>
          </p:nvPr>
        </p:nvSpPr>
        <p:spPr/>
        <p:txBody>
          <a:bodyPr>
            <a:noAutofit/>
          </a:bodyPr>
          <a:lstStyle/>
          <a:p>
            <a:r>
              <a:rPr lang="en-US" sz="2400" dirty="0" smtClean="0"/>
              <a:t>In some situation, it may be necessary to restrict the access of certain variables and methods outside the class. We can achieve this by applying </a:t>
            </a:r>
            <a:r>
              <a:rPr lang="en-US" sz="2400" dirty="0" smtClean="0">
                <a:hlinkClick r:id="rId2" action="ppaction://hlinkfile"/>
              </a:rPr>
              <a:t>visibility modifiers</a:t>
            </a:r>
            <a:r>
              <a:rPr lang="en-US" sz="2400" dirty="0" smtClean="0"/>
              <a:t>.</a:t>
            </a:r>
            <a:endParaRPr lang="en-IN" sz="2400" dirty="0"/>
          </a:p>
        </p:txBody>
      </p:sp>
      <p:graphicFrame>
        <p:nvGraphicFramePr>
          <p:cNvPr id="4" name="Table 3"/>
          <p:cNvGraphicFramePr>
            <a:graphicFrameLocks noGrp="1"/>
          </p:cNvGraphicFramePr>
          <p:nvPr/>
        </p:nvGraphicFramePr>
        <p:xfrm>
          <a:off x="184105" y="2928934"/>
          <a:ext cx="8578479" cy="2085594"/>
        </p:xfrm>
        <a:graphic>
          <a:graphicData uri="http://schemas.openxmlformats.org/drawingml/2006/table">
            <a:tbl>
              <a:tblPr/>
              <a:tblGrid>
                <a:gridCol w="3046564"/>
                <a:gridCol w="1106383"/>
                <a:gridCol w="1106383"/>
                <a:gridCol w="1106383"/>
                <a:gridCol w="1106383"/>
                <a:gridCol w="1106383"/>
              </a:tblGrid>
              <a:tr h="591915">
                <a:tc>
                  <a:txBody>
                    <a:bodyPr/>
                    <a:lstStyle/>
                    <a:p>
                      <a:pPr algn="l">
                        <a:lnSpc>
                          <a:spcPct val="115000"/>
                        </a:lnSpc>
                        <a:spcAft>
                          <a:spcPts val="0"/>
                        </a:spcAft>
                      </a:pPr>
                      <a:r>
                        <a:rPr lang="en-US" sz="1700" b="1">
                          <a:solidFill>
                            <a:srgbClr val="000000"/>
                          </a:solidFill>
                          <a:latin typeface="Times New Roman"/>
                          <a:ea typeface="Times New Roman"/>
                          <a:cs typeface="Times New Roman"/>
                        </a:rPr>
                        <a:t>                                     Modifier                             Location</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algn="l">
                        <a:lnSpc>
                          <a:spcPct val="115000"/>
                        </a:lnSpc>
                        <a:spcAft>
                          <a:spcPts val="0"/>
                        </a:spcAft>
                      </a:pPr>
                      <a:r>
                        <a:rPr lang="en-US" sz="1700" b="1">
                          <a:solidFill>
                            <a:srgbClr val="000000"/>
                          </a:solidFill>
                          <a:latin typeface="Times New Roman"/>
                          <a:ea typeface="Times New Roman"/>
                          <a:cs typeface="Times New Roman"/>
                        </a:rPr>
                        <a:t>Public</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b="1">
                          <a:solidFill>
                            <a:srgbClr val="000000"/>
                          </a:solidFill>
                          <a:latin typeface="Times New Roman"/>
                          <a:ea typeface="Times New Roman"/>
                          <a:cs typeface="Times New Roman"/>
                        </a:rPr>
                        <a:t>Default / Friendly</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b="1">
                          <a:solidFill>
                            <a:srgbClr val="000000"/>
                          </a:solidFill>
                          <a:latin typeface="Times New Roman"/>
                          <a:ea typeface="Times New Roman"/>
                          <a:cs typeface="Times New Roman"/>
                        </a:rPr>
                        <a:t>Protected</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b="1">
                          <a:solidFill>
                            <a:srgbClr val="000000"/>
                          </a:solidFill>
                          <a:latin typeface="Times New Roman"/>
                          <a:ea typeface="Times New Roman"/>
                          <a:cs typeface="Times New Roman"/>
                        </a:rPr>
                        <a:t>Private Protected</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b="1">
                          <a:solidFill>
                            <a:srgbClr val="000000"/>
                          </a:solidFill>
                          <a:latin typeface="Times New Roman"/>
                          <a:ea typeface="Times New Roman"/>
                          <a:cs typeface="Times New Roman"/>
                        </a:rPr>
                        <a:t>Private</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957">
                <a:tc>
                  <a:txBody>
                    <a:bodyPr/>
                    <a:lstStyle/>
                    <a:p>
                      <a:pPr algn="l">
                        <a:lnSpc>
                          <a:spcPct val="115000"/>
                        </a:lnSpc>
                        <a:spcAft>
                          <a:spcPts val="0"/>
                        </a:spcAft>
                      </a:pPr>
                      <a:r>
                        <a:rPr lang="en-US" sz="1700" dirty="0">
                          <a:solidFill>
                            <a:srgbClr val="000000"/>
                          </a:solidFill>
                          <a:latin typeface="Times New Roman"/>
                          <a:ea typeface="Times New Roman"/>
                          <a:cs typeface="Times New Roman"/>
                        </a:rPr>
                        <a:t>Same Class </a:t>
                      </a:r>
                      <a:endParaRPr lang="en-IN" sz="1700" dirty="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957">
                <a:tc>
                  <a:txBody>
                    <a:bodyPr/>
                    <a:lstStyle/>
                    <a:p>
                      <a:pPr algn="l">
                        <a:lnSpc>
                          <a:spcPct val="115000"/>
                        </a:lnSpc>
                        <a:spcAft>
                          <a:spcPts val="0"/>
                        </a:spcAft>
                      </a:pPr>
                      <a:r>
                        <a:rPr lang="en-US" sz="1700">
                          <a:solidFill>
                            <a:srgbClr val="000000"/>
                          </a:solidFill>
                          <a:latin typeface="Times New Roman"/>
                          <a:ea typeface="Times New Roman"/>
                          <a:cs typeface="Times New Roman"/>
                        </a:rPr>
                        <a:t>Sub Class in same Package </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NO</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957">
                <a:tc>
                  <a:txBody>
                    <a:bodyPr/>
                    <a:lstStyle/>
                    <a:p>
                      <a:pPr algn="l">
                        <a:lnSpc>
                          <a:spcPct val="115000"/>
                        </a:lnSpc>
                        <a:spcAft>
                          <a:spcPts val="0"/>
                        </a:spcAft>
                      </a:pPr>
                      <a:r>
                        <a:rPr lang="en-US" sz="1700">
                          <a:solidFill>
                            <a:srgbClr val="000000"/>
                          </a:solidFill>
                          <a:latin typeface="Times New Roman"/>
                          <a:ea typeface="Times New Roman"/>
                          <a:cs typeface="Times New Roman"/>
                        </a:rPr>
                        <a:t>Other Classes in Same Package </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NO</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NO</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957">
                <a:tc>
                  <a:txBody>
                    <a:bodyPr/>
                    <a:lstStyle/>
                    <a:p>
                      <a:pPr algn="l">
                        <a:lnSpc>
                          <a:spcPct val="115000"/>
                        </a:lnSpc>
                        <a:spcAft>
                          <a:spcPts val="0"/>
                        </a:spcAft>
                      </a:pPr>
                      <a:r>
                        <a:rPr lang="en-US" sz="1700">
                          <a:solidFill>
                            <a:srgbClr val="000000"/>
                          </a:solidFill>
                          <a:latin typeface="Times New Roman"/>
                          <a:ea typeface="Times New Roman"/>
                          <a:cs typeface="Times New Roman"/>
                        </a:rPr>
                        <a:t>Sub Class in Other Package </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NO</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YES</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NO</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957">
                <a:tc>
                  <a:txBody>
                    <a:bodyPr/>
                    <a:lstStyle/>
                    <a:p>
                      <a:pPr algn="l">
                        <a:lnSpc>
                          <a:spcPct val="115000"/>
                        </a:lnSpc>
                        <a:spcAft>
                          <a:spcPts val="0"/>
                        </a:spcAft>
                      </a:pPr>
                      <a:r>
                        <a:rPr lang="en-US" sz="1700">
                          <a:solidFill>
                            <a:srgbClr val="000000"/>
                          </a:solidFill>
                          <a:latin typeface="Times New Roman"/>
                          <a:ea typeface="Times New Roman"/>
                          <a:cs typeface="Times New Roman"/>
                        </a:rPr>
                        <a:t>Non Sub Class in Other Package </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dirty="0">
                          <a:solidFill>
                            <a:srgbClr val="000000"/>
                          </a:solidFill>
                          <a:latin typeface="Times New Roman"/>
                          <a:ea typeface="Times New Roman"/>
                          <a:cs typeface="Times New Roman"/>
                        </a:rPr>
                        <a:t>YES</a:t>
                      </a:r>
                      <a:endParaRPr lang="en-IN" sz="1700" dirty="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NO</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NO</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a:solidFill>
                            <a:srgbClr val="000000"/>
                          </a:solidFill>
                          <a:latin typeface="Times New Roman"/>
                          <a:ea typeface="Times New Roman"/>
                          <a:cs typeface="Times New Roman"/>
                        </a:rPr>
                        <a:t>NO</a:t>
                      </a:r>
                      <a:endParaRPr lang="en-IN" sz="170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700" dirty="0">
                          <a:solidFill>
                            <a:srgbClr val="000000"/>
                          </a:solidFill>
                          <a:latin typeface="Times New Roman"/>
                          <a:ea typeface="Times New Roman"/>
                          <a:cs typeface="Times New Roman"/>
                        </a:rPr>
                        <a:t>NO</a:t>
                      </a:r>
                      <a:endParaRPr lang="en-IN" sz="1700" dirty="0">
                        <a:solidFill>
                          <a:srgbClr val="000000"/>
                        </a:solidFill>
                        <a:latin typeface="Times New Roman"/>
                        <a:ea typeface="Times New Roman"/>
                        <a:cs typeface="Times New Roman"/>
                      </a:endParaRPr>
                    </a:p>
                  </a:txBody>
                  <a:tcPr marL="96206" marR="962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 of Introducing Classes</a:t>
            </a:r>
            <a:endParaRPr lang="en-IN" dirty="0"/>
          </a:p>
        </p:txBody>
      </p:sp>
      <p:sp>
        <p:nvSpPr>
          <p:cNvPr id="3" name="Content Placeholder 2"/>
          <p:cNvSpPr>
            <a:spLocks noGrp="1"/>
          </p:cNvSpPr>
          <p:nvPr>
            <p:ph sz="quarter" idx="1"/>
          </p:nvPr>
        </p:nvSpPr>
        <p:spPr/>
        <p:txBody>
          <a:bodyPr>
            <a:normAutofit/>
          </a:bodyPr>
          <a:lstStyle/>
          <a:p>
            <a:pPr marL="457200" indent="-457200">
              <a:buSzPct val="100000"/>
              <a:buBlip>
                <a:blip r:embed="rId2"/>
              </a:buBlip>
            </a:pPr>
            <a:r>
              <a:rPr lang="en-IN" sz="3200" dirty="0" smtClean="0"/>
              <a:t>Fundamentals of </a:t>
            </a:r>
            <a:r>
              <a:rPr lang="en-US" sz="3200" dirty="0" smtClean="0"/>
              <a:t>classes and Objects</a:t>
            </a:r>
            <a:endParaRPr lang="en-IN" sz="3200" dirty="0" smtClean="0"/>
          </a:p>
          <a:p>
            <a:pPr marL="457200" lvl="0" indent="-457200">
              <a:buSzPct val="100000"/>
              <a:buBlip>
                <a:blip r:embed="rId2"/>
              </a:buBlip>
            </a:pPr>
            <a:r>
              <a:rPr lang="en-US" sz="3200" dirty="0" smtClean="0"/>
              <a:t>Constructor</a:t>
            </a:r>
          </a:p>
          <a:p>
            <a:pPr marL="457200" lvl="0" indent="-457200">
              <a:buSzPct val="100000"/>
              <a:buBlip>
                <a:blip r:embed="rId2"/>
              </a:buBlip>
            </a:pPr>
            <a:r>
              <a:rPr lang="en-US" sz="3200" dirty="0" smtClean="0"/>
              <a:t>Method Overloading</a:t>
            </a:r>
            <a:endParaRPr lang="en-IN" sz="3200" dirty="0" smtClean="0"/>
          </a:p>
          <a:p>
            <a:pPr marL="457200" indent="-457200">
              <a:buSzPct val="100000"/>
              <a:buBlip>
                <a:blip r:embed="rId2"/>
              </a:buBlip>
            </a:pPr>
            <a:r>
              <a:rPr lang="en-IN" sz="3200" dirty="0" smtClean="0"/>
              <a:t>Nested and Inner Class</a:t>
            </a:r>
          </a:p>
          <a:p>
            <a:pPr marL="457200" indent="-457200">
              <a:buSzPct val="100000"/>
              <a:buBlip>
                <a:blip r:embed="rId2"/>
              </a:buBlip>
            </a:pPr>
            <a:r>
              <a:rPr lang="en-US" sz="3200" dirty="0" smtClean="0"/>
              <a:t>Garbage Collection</a:t>
            </a:r>
          </a:p>
          <a:p>
            <a:pPr marL="457200" indent="-457200">
              <a:buSzPct val="100000"/>
              <a:buBlip>
                <a:blip r:embed="rId2"/>
              </a:buBlip>
            </a:pPr>
            <a:r>
              <a:rPr lang="en-US" sz="3200" dirty="0" smtClean="0"/>
              <a:t>Static Members</a:t>
            </a:r>
          </a:p>
          <a:p>
            <a:pPr marL="457200" indent="-457200">
              <a:buSzPct val="100000"/>
              <a:buBlip>
                <a:blip r:embed="rId2"/>
              </a:buBlip>
            </a:pPr>
            <a:r>
              <a:rPr lang="en-US" sz="3200" dirty="0" smtClean="0"/>
              <a:t>Access Control</a:t>
            </a:r>
            <a:endParaRPr lang="en-IN" sz="3200" dirty="0" smtClean="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Arrays, Strings and Vectors</a:t>
            </a:r>
            <a:endParaRPr lang="en-IN" dirty="0"/>
          </a:p>
        </p:txBody>
      </p:sp>
      <p:sp>
        <p:nvSpPr>
          <p:cNvPr id="3" name="Content Placeholder 2"/>
          <p:cNvSpPr>
            <a:spLocks noGrp="1"/>
          </p:cNvSpPr>
          <p:nvPr>
            <p:ph sz="quarter" idx="1"/>
          </p:nvPr>
        </p:nvSpPr>
        <p:spPr/>
        <p:txBody>
          <a:bodyPr>
            <a:noAutofit/>
          </a:bodyPr>
          <a:lstStyle/>
          <a:p>
            <a:r>
              <a:rPr lang="en-US" sz="3200" dirty="0" smtClean="0"/>
              <a:t>Array</a:t>
            </a:r>
          </a:p>
          <a:p>
            <a:r>
              <a:rPr lang="en-US" sz="3200" dirty="0" smtClean="0"/>
              <a:t>String</a:t>
            </a:r>
          </a:p>
          <a:p>
            <a:r>
              <a:rPr lang="en-US" sz="3200" dirty="0" err="1" smtClean="0"/>
              <a:t>StringBuffer</a:t>
            </a:r>
            <a:endParaRPr lang="en-US" sz="3200" dirty="0" smtClean="0"/>
          </a:p>
          <a:p>
            <a:r>
              <a:rPr lang="en-US" sz="3200" dirty="0" smtClean="0"/>
              <a:t>Vector</a:t>
            </a:r>
          </a:p>
          <a:p>
            <a:r>
              <a:rPr lang="en-US" sz="3200" dirty="0" smtClean="0"/>
              <a:t>Wrapper Classes</a:t>
            </a:r>
          </a:p>
          <a:p>
            <a:r>
              <a:rPr lang="en-US" sz="3200" dirty="0" smtClean="0"/>
              <a:t>Command Line Argument</a:t>
            </a:r>
            <a:endParaRPr lang="en-IN" sz="32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Arrays</a:t>
            </a:r>
            <a:endParaRPr lang="en-IN" dirty="0"/>
          </a:p>
        </p:txBody>
      </p:sp>
      <p:sp>
        <p:nvSpPr>
          <p:cNvPr id="3" name="Content Placeholder 2"/>
          <p:cNvSpPr>
            <a:spLocks noGrp="1"/>
          </p:cNvSpPr>
          <p:nvPr>
            <p:ph sz="quarter" idx="1"/>
          </p:nvPr>
        </p:nvSpPr>
        <p:spPr/>
        <p:txBody>
          <a:bodyPr>
            <a:noAutofit/>
          </a:bodyPr>
          <a:lstStyle/>
          <a:p>
            <a:r>
              <a:rPr lang="en-US" sz="2200" dirty="0" smtClean="0"/>
              <a:t>Array is a group of contiguous or related data items that share a common name. </a:t>
            </a:r>
          </a:p>
          <a:p>
            <a:r>
              <a:rPr lang="en-US" sz="2200" dirty="0" smtClean="0"/>
              <a:t>Any specific elements in an array represent by the index. </a:t>
            </a:r>
          </a:p>
          <a:p>
            <a:r>
              <a:rPr lang="en-US" sz="2200" dirty="0" smtClean="0"/>
              <a:t>Like any other variables, array must be declared and created in a computer memory before they are used. </a:t>
            </a:r>
          </a:p>
          <a:p>
            <a:r>
              <a:rPr lang="en-US" sz="2200" dirty="0" smtClean="0"/>
              <a:t>Creation of array involves three steps.</a:t>
            </a:r>
          </a:p>
          <a:p>
            <a:pPr lvl="1"/>
            <a:r>
              <a:rPr lang="en-US" sz="2200" b="1" dirty="0" smtClean="0"/>
              <a:t>Step 1:</a:t>
            </a:r>
            <a:r>
              <a:rPr lang="en-US" sz="2200" dirty="0" smtClean="0"/>
              <a:t> </a:t>
            </a:r>
            <a:r>
              <a:rPr lang="en-US" sz="2200" u="sng" dirty="0" smtClean="0"/>
              <a:t>Declaration of array:</a:t>
            </a:r>
            <a:r>
              <a:rPr lang="en-US" sz="2200" dirty="0" smtClean="0"/>
              <a:t> Array in Java can be declared in two forms</a:t>
            </a:r>
            <a:endParaRPr lang="en-IN" sz="2200" dirty="0" smtClean="0"/>
          </a:p>
          <a:p>
            <a:pPr lvl="1"/>
            <a:endParaRPr lang="en-IN" sz="2200" dirty="0"/>
          </a:p>
        </p:txBody>
      </p:sp>
      <p:graphicFrame>
        <p:nvGraphicFramePr>
          <p:cNvPr id="6" name="Table 5"/>
          <p:cNvGraphicFramePr>
            <a:graphicFrameLocks noGrp="1"/>
          </p:cNvGraphicFramePr>
          <p:nvPr/>
        </p:nvGraphicFramePr>
        <p:xfrm>
          <a:off x="714348" y="4714884"/>
          <a:ext cx="8124305" cy="1752600"/>
        </p:xfrm>
        <a:graphic>
          <a:graphicData uri="http://schemas.openxmlformats.org/drawingml/2006/table">
            <a:tbl>
              <a:tblPr/>
              <a:tblGrid>
                <a:gridCol w="2140157"/>
                <a:gridCol w="1802020"/>
                <a:gridCol w="4182128"/>
              </a:tblGrid>
              <a:tr h="300554">
                <a:tc>
                  <a:txBody>
                    <a:bodyPr/>
                    <a:lstStyle/>
                    <a:p>
                      <a:pPr marL="457200" algn="l">
                        <a:lnSpc>
                          <a:spcPct val="115000"/>
                        </a:lnSpc>
                        <a:spcAft>
                          <a:spcPts val="0"/>
                        </a:spcAft>
                      </a:pPr>
                      <a:r>
                        <a:rPr lang="en-US" sz="2000" b="1" dirty="0">
                          <a:latin typeface="Times New Roman"/>
                          <a:ea typeface="Times New Roman"/>
                          <a:cs typeface="Times New Roman"/>
                        </a:rPr>
                        <a:t>Syntax</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b="1">
                          <a:latin typeface="Times New Roman"/>
                          <a:ea typeface="Times New Roman"/>
                          <a:cs typeface="Times New Roman"/>
                        </a:rPr>
                        <a:t>Example</a:t>
                      </a:r>
                      <a:endParaRPr lang="en-IN" sz="200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b="1" dirty="0">
                          <a:latin typeface="Times New Roman"/>
                          <a:ea typeface="Times New Roman"/>
                          <a:cs typeface="Times New Roman"/>
                        </a:rPr>
                        <a:t>Explanation</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6946">
                <a:tc>
                  <a:txBody>
                    <a:bodyPr/>
                    <a:lstStyle/>
                    <a:p>
                      <a:pPr marL="0" indent="0" algn="l">
                        <a:lnSpc>
                          <a:spcPct val="115000"/>
                        </a:lnSpc>
                        <a:spcAft>
                          <a:spcPts val="0"/>
                        </a:spcAft>
                      </a:pPr>
                      <a:r>
                        <a:rPr lang="en-US" sz="2000" dirty="0">
                          <a:latin typeface="Times New Roman"/>
                          <a:ea typeface="Times New Roman"/>
                          <a:cs typeface="Times New Roman"/>
                        </a:rPr>
                        <a:t>type  </a:t>
                      </a:r>
                      <a:r>
                        <a:rPr lang="en-US" sz="2000" dirty="0" err="1">
                          <a:latin typeface="Times New Roman"/>
                          <a:ea typeface="Times New Roman"/>
                          <a:cs typeface="Times New Roman"/>
                        </a:rPr>
                        <a:t>arrayname</a:t>
                      </a:r>
                      <a:r>
                        <a:rPr lang="en-US" sz="2000" dirty="0">
                          <a:latin typeface="Times New Roman"/>
                          <a:ea typeface="Times New Roman"/>
                          <a:cs typeface="Times New Roman"/>
                        </a:rPr>
                        <a:t>[ ]</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lnSpc>
                          <a:spcPct val="115000"/>
                        </a:lnSpc>
                        <a:spcAft>
                          <a:spcPts val="0"/>
                        </a:spcAft>
                      </a:pPr>
                      <a:r>
                        <a:rPr lang="en-US" sz="2000" dirty="0" err="1">
                          <a:latin typeface="Times New Roman"/>
                          <a:ea typeface="Times New Roman"/>
                          <a:cs typeface="Times New Roman"/>
                        </a:rPr>
                        <a:t>int</a:t>
                      </a:r>
                      <a:r>
                        <a:rPr lang="en-US" sz="2000" dirty="0">
                          <a:latin typeface="Times New Roman"/>
                          <a:ea typeface="Times New Roman"/>
                          <a:cs typeface="Times New Roman"/>
                        </a:rPr>
                        <a:t>  num[ ]</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lnSpc>
                          <a:spcPct val="115000"/>
                        </a:lnSpc>
                        <a:spcAft>
                          <a:spcPts val="0"/>
                        </a:spcAft>
                      </a:pPr>
                      <a:r>
                        <a:rPr lang="en-US" sz="2000" dirty="0">
                          <a:latin typeface="Times New Roman"/>
                          <a:ea typeface="Times New Roman"/>
                          <a:cs typeface="Times New Roman"/>
                        </a:rPr>
                        <a:t>‘num’ is the name of the array which comprises </a:t>
                      </a:r>
                      <a:r>
                        <a:rPr lang="en-US" sz="2000" dirty="0" err="1">
                          <a:latin typeface="Times New Roman"/>
                          <a:ea typeface="Times New Roman"/>
                          <a:cs typeface="Times New Roman"/>
                        </a:rPr>
                        <a:t>int</a:t>
                      </a:r>
                      <a:r>
                        <a:rPr lang="en-US" sz="2000" dirty="0">
                          <a:latin typeface="Times New Roman"/>
                          <a:ea typeface="Times New Roman"/>
                          <a:cs typeface="Times New Roman"/>
                        </a:rPr>
                        <a:t> type elements.</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6946">
                <a:tc>
                  <a:txBody>
                    <a:bodyPr/>
                    <a:lstStyle/>
                    <a:p>
                      <a:pPr marL="0" indent="0" algn="l">
                        <a:lnSpc>
                          <a:spcPct val="115000"/>
                        </a:lnSpc>
                        <a:spcAft>
                          <a:spcPts val="0"/>
                        </a:spcAft>
                      </a:pPr>
                      <a:r>
                        <a:rPr lang="en-US" sz="2000" dirty="0">
                          <a:latin typeface="Times New Roman"/>
                          <a:ea typeface="Times New Roman"/>
                          <a:cs typeface="Times New Roman"/>
                        </a:rPr>
                        <a:t>type[ ]  </a:t>
                      </a:r>
                      <a:r>
                        <a:rPr lang="en-US" sz="2000" dirty="0" err="1">
                          <a:latin typeface="Times New Roman"/>
                          <a:ea typeface="Times New Roman"/>
                          <a:cs typeface="Times New Roman"/>
                        </a:rPr>
                        <a:t>arrayname</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lnSpc>
                          <a:spcPct val="115000"/>
                        </a:lnSpc>
                        <a:spcAft>
                          <a:spcPts val="0"/>
                        </a:spcAft>
                      </a:pPr>
                      <a:r>
                        <a:rPr lang="en-US" sz="2000" dirty="0">
                          <a:latin typeface="Times New Roman"/>
                          <a:ea typeface="Times New Roman"/>
                          <a:cs typeface="Times New Roman"/>
                        </a:rPr>
                        <a:t>float[ ]  marks</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lnSpc>
                          <a:spcPct val="115000"/>
                        </a:lnSpc>
                        <a:spcAft>
                          <a:spcPts val="0"/>
                        </a:spcAft>
                      </a:pPr>
                      <a:r>
                        <a:rPr lang="en-US" sz="2000" dirty="0">
                          <a:latin typeface="Times New Roman"/>
                          <a:ea typeface="Times New Roman"/>
                          <a:cs typeface="Times New Roman"/>
                        </a:rPr>
                        <a:t>‘marks’ is the name of array which comprises float type elements.</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Arrays</a:t>
            </a:r>
            <a:endParaRPr lang="en-IN" dirty="0"/>
          </a:p>
        </p:txBody>
      </p:sp>
      <p:sp>
        <p:nvSpPr>
          <p:cNvPr id="3" name="Content Placeholder 2"/>
          <p:cNvSpPr>
            <a:spLocks noGrp="1"/>
          </p:cNvSpPr>
          <p:nvPr>
            <p:ph sz="quarter" idx="1"/>
          </p:nvPr>
        </p:nvSpPr>
        <p:spPr/>
        <p:txBody>
          <a:bodyPr>
            <a:noAutofit/>
          </a:bodyPr>
          <a:lstStyle/>
          <a:p>
            <a:pPr lvl="1"/>
            <a:r>
              <a:rPr lang="en-US" sz="2400" b="1" dirty="0" smtClean="0"/>
              <a:t>Step 2: </a:t>
            </a:r>
            <a:r>
              <a:rPr lang="en-US" sz="2400" u="sng" dirty="0" smtClean="0"/>
              <a:t>Creating of Array: </a:t>
            </a:r>
            <a:r>
              <a:rPr lang="en-US" sz="2400" dirty="0" smtClean="0"/>
              <a:t>After declaring an array, we need to create it in the memory, Java allows us to create arrays using new operator only.</a:t>
            </a:r>
            <a:endParaRPr lang="en-IN" sz="2200" dirty="0" smtClean="0"/>
          </a:p>
          <a:p>
            <a:pPr lvl="1"/>
            <a:endParaRPr lang="en-IN" sz="2200" dirty="0" smtClean="0"/>
          </a:p>
          <a:p>
            <a:pPr lvl="1"/>
            <a:endParaRPr lang="en-IN" sz="2200" dirty="0" smtClean="0"/>
          </a:p>
          <a:p>
            <a:pPr lvl="1"/>
            <a:endParaRPr lang="en-IN" sz="2200" dirty="0" smtClean="0"/>
          </a:p>
          <a:p>
            <a:pPr lvl="1"/>
            <a:endParaRPr lang="en-IN" sz="2200" dirty="0" smtClean="0"/>
          </a:p>
          <a:p>
            <a:pPr lvl="1"/>
            <a:r>
              <a:rPr lang="en-US" sz="2200" dirty="0" smtClean="0"/>
              <a:t>It is also possible to combine the two steps: </a:t>
            </a:r>
            <a:r>
              <a:rPr lang="en-US" sz="2200" b="1" dirty="0" smtClean="0"/>
              <a:t>declaration and creation</a:t>
            </a:r>
            <a:endParaRPr lang="en-IN" sz="2200" b="1" dirty="0" smtClean="0"/>
          </a:p>
          <a:p>
            <a:pPr lvl="1" algn="ctr">
              <a:buNone/>
            </a:pPr>
            <a:r>
              <a:rPr lang="en-US" sz="2200" b="1" dirty="0" err="1" smtClean="0"/>
              <a:t>int</a:t>
            </a:r>
            <a:r>
              <a:rPr lang="en-US" sz="2200" b="1" dirty="0" smtClean="0"/>
              <a:t> num [ ] = new </a:t>
            </a:r>
            <a:r>
              <a:rPr lang="en-US" sz="2200" b="1" dirty="0" err="1" smtClean="0"/>
              <a:t>int</a:t>
            </a:r>
            <a:r>
              <a:rPr lang="en-US" sz="2200" b="1" dirty="0" smtClean="0"/>
              <a:t> [5]</a:t>
            </a:r>
            <a:endParaRPr lang="en-IN" sz="2200" dirty="0" smtClean="0"/>
          </a:p>
          <a:p>
            <a:pPr lvl="1"/>
            <a:endParaRPr lang="en-IN" sz="2200" dirty="0"/>
          </a:p>
        </p:txBody>
      </p:sp>
      <p:graphicFrame>
        <p:nvGraphicFramePr>
          <p:cNvPr id="5" name="Table 4"/>
          <p:cNvGraphicFramePr>
            <a:graphicFrameLocks noGrp="1"/>
          </p:cNvGraphicFramePr>
          <p:nvPr/>
        </p:nvGraphicFramePr>
        <p:xfrm>
          <a:off x="285720" y="2786057"/>
          <a:ext cx="8777293" cy="1402080"/>
        </p:xfrm>
        <a:graphic>
          <a:graphicData uri="http://schemas.openxmlformats.org/drawingml/2006/table">
            <a:tbl>
              <a:tblPr/>
              <a:tblGrid>
                <a:gridCol w="1489282"/>
                <a:gridCol w="7288011"/>
              </a:tblGrid>
              <a:tr h="303612">
                <a:tc>
                  <a:txBody>
                    <a:bodyPr/>
                    <a:lstStyle/>
                    <a:p>
                      <a:pPr>
                        <a:lnSpc>
                          <a:spcPct val="115000"/>
                        </a:lnSpc>
                        <a:spcAft>
                          <a:spcPts val="0"/>
                        </a:spcAft>
                      </a:pPr>
                      <a:r>
                        <a:rPr lang="en-US" sz="2000" dirty="0">
                          <a:latin typeface="Times New Roman"/>
                          <a:ea typeface="Times New Roman"/>
                          <a:cs typeface="Times New Roman"/>
                        </a:rPr>
                        <a:t>Syntax:</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000">
                          <a:latin typeface="Times New Roman"/>
                          <a:ea typeface="Times New Roman"/>
                          <a:cs typeface="Times New Roman"/>
                        </a:rPr>
                        <a:t>Arrayname = new type[size]</a:t>
                      </a:r>
                      <a:endParaRPr lang="en-IN" sz="200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3612">
                <a:tc>
                  <a:txBody>
                    <a:bodyPr/>
                    <a:lstStyle/>
                    <a:p>
                      <a:pPr>
                        <a:lnSpc>
                          <a:spcPct val="115000"/>
                        </a:lnSpc>
                        <a:spcAft>
                          <a:spcPts val="0"/>
                        </a:spcAft>
                      </a:pPr>
                      <a:r>
                        <a:rPr lang="en-US" sz="2000">
                          <a:latin typeface="Times New Roman"/>
                          <a:ea typeface="Times New Roman"/>
                          <a:cs typeface="Times New Roman"/>
                        </a:rPr>
                        <a:t>Example:</a:t>
                      </a:r>
                      <a:endParaRPr lang="en-IN" sz="200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000" dirty="0">
                          <a:latin typeface="Times New Roman"/>
                          <a:ea typeface="Times New Roman"/>
                          <a:cs typeface="Times New Roman"/>
                        </a:rPr>
                        <a:t>num = new </a:t>
                      </a:r>
                      <a:r>
                        <a:rPr lang="en-US" sz="2000" dirty="0" err="1">
                          <a:latin typeface="Times New Roman"/>
                          <a:ea typeface="Times New Roman"/>
                          <a:cs typeface="Times New Roman"/>
                        </a:rPr>
                        <a:t>int</a:t>
                      </a:r>
                      <a:r>
                        <a:rPr lang="en-US" sz="2000" dirty="0">
                          <a:latin typeface="Times New Roman"/>
                          <a:ea typeface="Times New Roman"/>
                          <a:cs typeface="Times New Roman"/>
                        </a:rPr>
                        <a:t>[5]</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7223">
                <a:tc>
                  <a:txBody>
                    <a:bodyPr/>
                    <a:lstStyle/>
                    <a:p>
                      <a:pPr>
                        <a:lnSpc>
                          <a:spcPct val="115000"/>
                        </a:lnSpc>
                        <a:spcAft>
                          <a:spcPts val="0"/>
                        </a:spcAft>
                      </a:pPr>
                      <a:r>
                        <a:rPr lang="en-US" sz="2000">
                          <a:latin typeface="Times New Roman"/>
                          <a:ea typeface="Times New Roman"/>
                          <a:cs typeface="Times New Roman"/>
                        </a:rPr>
                        <a:t>Explanation:</a:t>
                      </a:r>
                      <a:endParaRPr lang="en-IN" sz="200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000" dirty="0">
                          <a:latin typeface="Times New Roman"/>
                          <a:ea typeface="Times New Roman"/>
                          <a:cs typeface="Times New Roman"/>
                        </a:rPr>
                        <a:t>In above example the array name ‘num’ refers to 5 integer type elements.</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Arrays</a:t>
            </a:r>
            <a:endParaRPr lang="en-IN" dirty="0"/>
          </a:p>
        </p:txBody>
      </p:sp>
      <p:sp>
        <p:nvSpPr>
          <p:cNvPr id="3" name="Content Placeholder 2"/>
          <p:cNvSpPr>
            <a:spLocks noGrp="1"/>
          </p:cNvSpPr>
          <p:nvPr>
            <p:ph sz="quarter" idx="1"/>
          </p:nvPr>
        </p:nvSpPr>
        <p:spPr/>
        <p:txBody>
          <a:bodyPr>
            <a:noAutofit/>
          </a:bodyPr>
          <a:lstStyle/>
          <a:p>
            <a:pPr lvl="1"/>
            <a:r>
              <a:rPr lang="en-US" sz="2200" b="1" dirty="0" smtClean="0"/>
              <a:t>Step 3: </a:t>
            </a:r>
            <a:r>
              <a:rPr lang="en-US" sz="2200" u="sng" dirty="0" smtClean="0"/>
              <a:t>Enter the values into an array:</a:t>
            </a:r>
            <a:r>
              <a:rPr lang="en-US" sz="2200" b="1" dirty="0" smtClean="0"/>
              <a:t> </a:t>
            </a:r>
            <a:r>
              <a:rPr lang="en-US" sz="2200" dirty="0" smtClean="0"/>
              <a:t>The final step is to put the values into the array created. This process is knows as initialization. This is done using subscripts as shown below.</a:t>
            </a:r>
          </a:p>
          <a:p>
            <a:endParaRPr lang="en-US" sz="2200" dirty="0" smtClean="0"/>
          </a:p>
          <a:p>
            <a:endParaRPr lang="en-US" sz="2200" dirty="0" smtClean="0"/>
          </a:p>
          <a:p>
            <a:endParaRPr lang="en-US" sz="2200" dirty="0" smtClean="0"/>
          </a:p>
          <a:p>
            <a:r>
              <a:rPr lang="en-US" sz="2200" dirty="0" smtClean="0"/>
              <a:t>We can also initialize the array automatically in the same way as the ordinary variable declared.</a:t>
            </a:r>
            <a:endParaRPr lang="en-IN" sz="2200" dirty="0" smtClean="0"/>
          </a:p>
          <a:p>
            <a:pPr lvl="1">
              <a:buNone/>
            </a:pPr>
            <a:r>
              <a:rPr lang="en-US" sz="2200" dirty="0" smtClean="0"/>
              <a:t>	For example:       </a:t>
            </a:r>
            <a:r>
              <a:rPr lang="en-US" sz="2200" b="1" dirty="0" err="1" smtClean="0"/>
              <a:t>int</a:t>
            </a:r>
            <a:r>
              <a:rPr lang="en-US" sz="2200" b="1" dirty="0" smtClean="0"/>
              <a:t> num[ ] = {10,20,30,40,50};</a:t>
            </a:r>
          </a:p>
          <a:p>
            <a:pPr lvl="1">
              <a:buNone/>
            </a:pPr>
            <a:endParaRPr lang="en-US" sz="2200" b="1" dirty="0" smtClean="0"/>
          </a:p>
          <a:p>
            <a:r>
              <a:rPr lang="en-US" sz="2500" b="1" dirty="0" smtClean="0">
                <a:hlinkClick r:id="rId2" action="ppaction://hlinkfile"/>
              </a:rPr>
              <a:t>Two Dimensional array</a:t>
            </a:r>
            <a:endParaRPr lang="en-US" sz="2500" b="1" dirty="0" smtClean="0"/>
          </a:p>
          <a:p>
            <a:pPr lvl="1"/>
            <a:r>
              <a:rPr lang="en-US" sz="2400" dirty="0" smtClean="0"/>
              <a:t>For Example:	</a:t>
            </a:r>
            <a:r>
              <a:rPr lang="en-US" sz="2400" b="1" dirty="0" err="1" smtClean="0"/>
              <a:t>int</a:t>
            </a:r>
            <a:r>
              <a:rPr lang="en-US" sz="2400" b="1" dirty="0" smtClean="0"/>
              <a:t> mat = new </a:t>
            </a:r>
            <a:r>
              <a:rPr lang="en-US" sz="2400" b="1" dirty="0" err="1" smtClean="0"/>
              <a:t>int</a:t>
            </a:r>
            <a:r>
              <a:rPr lang="en-US" sz="2400" b="1" dirty="0" smtClean="0"/>
              <a:t> [3][3]</a:t>
            </a:r>
            <a:endParaRPr lang="en-IN" sz="2200" dirty="0" smtClean="0"/>
          </a:p>
          <a:p>
            <a:pPr lvl="1"/>
            <a:endParaRPr lang="en-IN" sz="2200" dirty="0" smtClean="0"/>
          </a:p>
        </p:txBody>
      </p:sp>
      <p:graphicFrame>
        <p:nvGraphicFramePr>
          <p:cNvPr id="6" name="Table 5"/>
          <p:cNvGraphicFramePr>
            <a:graphicFrameLocks noGrp="1"/>
          </p:cNvGraphicFramePr>
          <p:nvPr/>
        </p:nvGraphicFramePr>
        <p:xfrm>
          <a:off x="1357290" y="2790060"/>
          <a:ext cx="4470814" cy="924692"/>
        </p:xfrm>
        <a:graphic>
          <a:graphicData uri="http://schemas.openxmlformats.org/drawingml/2006/table">
            <a:tbl>
              <a:tblPr/>
              <a:tblGrid>
                <a:gridCol w="1165432"/>
                <a:gridCol w="3305382"/>
              </a:tblGrid>
              <a:tr h="462346">
                <a:tc>
                  <a:txBody>
                    <a:bodyPr/>
                    <a:lstStyle/>
                    <a:p>
                      <a:pPr algn="just">
                        <a:lnSpc>
                          <a:spcPct val="115000"/>
                        </a:lnSpc>
                        <a:spcAft>
                          <a:spcPts val="0"/>
                        </a:spcAft>
                      </a:pPr>
                      <a:r>
                        <a:rPr lang="en-US" sz="2000">
                          <a:latin typeface="Times New Roman"/>
                          <a:ea typeface="Times New Roman"/>
                          <a:cs typeface="Times New Roman"/>
                        </a:rPr>
                        <a:t>Syntax:</a:t>
                      </a:r>
                      <a:endParaRPr lang="en-IN" sz="200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err="1">
                          <a:latin typeface="Times New Roman"/>
                          <a:ea typeface="Times New Roman"/>
                          <a:cs typeface="Times New Roman"/>
                        </a:rPr>
                        <a:t>Arrayname</a:t>
                      </a:r>
                      <a:r>
                        <a:rPr lang="en-US" sz="2000" dirty="0">
                          <a:latin typeface="Times New Roman"/>
                          <a:ea typeface="Times New Roman"/>
                          <a:cs typeface="Times New Roman"/>
                        </a:rPr>
                        <a:t> [subscript] = value</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346">
                <a:tc>
                  <a:txBody>
                    <a:bodyPr/>
                    <a:lstStyle/>
                    <a:p>
                      <a:pPr algn="just">
                        <a:lnSpc>
                          <a:spcPct val="115000"/>
                        </a:lnSpc>
                        <a:spcAft>
                          <a:spcPts val="0"/>
                        </a:spcAft>
                      </a:pPr>
                      <a:r>
                        <a:rPr lang="en-US" sz="2000">
                          <a:latin typeface="Times New Roman"/>
                          <a:ea typeface="Times New Roman"/>
                          <a:cs typeface="Times New Roman"/>
                        </a:rPr>
                        <a:t>Example:</a:t>
                      </a:r>
                      <a:endParaRPr lang="en-IN" sz="200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000" dirty="0">
                          <a:latin typeface="Times New Roman"/>
                          <a:ea typeface="Times New Roman"/>
                          <a:cs typeface="Times New Roman"/>
                        </a:rPr>
                        <a:t>num[0] = 16, num[1] = 46 …..</a:t>
                      </a:r>
                      <a:endParaRPr lang="en-IN" sz="2000" dirty="0">
                        <a:latin typeface="Calibri"/>
                        <a:ea typeface="Times New Roman"/>
                        <a:cs typeface="Times New Roman"/>
                      </a:endParaRPr>
                    </a:p>
                  </a:txBody>
                  <a:tcPr marL="68366" marR="683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String</a:t>
            </a:r>
            <a:endParaRPr lang="en-IN" dirty="0"/>
          </a:p>
        </p:txBody>
      </p:sp>
      <p:sp>
        <p:nvSpPr>
          <p:cNvPr id="3" name="Content Placeholder 2"/>
          <p:cNvSpPr>
            <a:spLocks noGrp="1"/>
          </p:cNvSpPr>
          <p:nvPr>
            <p:ph sz="quarter" idx="1"/>
          </p:nvPr>
        </p:nvSpPr>
        <p:spPr/>
        <p:txBody>
          <a:bodyPr>
            <a:noAutofit/>
          </a:bodyPr>
          <a:lstStyle/>
          <a:p>
            <a:r>
              <a:rPr lang="en-US" sz="2200" dirty="0" smtClean="0"/>
              <a:t>Normally string is a sequence of character but in Java, String is a class.</a:t>
            </a:r>
          </a:p>
          <a:p>
            <a:r>
              <a:rPr lang="en-US" sz="2200" dirty="0" smtClean="0"/>
              <a:t>String objects are immutable i.e. Once the String object is created you cannot change the character comprising on it. </a:t>
            </a:r>
          </a:p>
          <a:p>
            <a:pPr lvl="1"/>
            <a:r>
              <a:rPr lang="en-US" sz="2200" dirty="0" smtClean="0"/>
              <a:t>However we can still perform all type of string operation by creating new String object that contain modification.</a:t>
            </a:r>
            <a:endParaRPr lang="en-IN" sz="2200"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String</a:t>
            </a:r>
            <a:endParaRPr lang="en-IN" dirty="0"/>
          </a:p>
        </p:txBody>
      </p:sp>
      <p:graphicFrame>
        <p:nvGraphicFramePr>
          <p:cNvPr id="4" name="Content Placeholder 3"/>
          <p:cNvGraphicFramePr>
            <a:graphicFrameLocks noGrp="1"/>
          </p:cNvGraphicFramePr>
          <p:nvPr>
            <p:ph sz="quarter" idx="1"/>
          </p:nvPr>
        </p:nvGraphicFramePr>
        <p:xfrm>
          <a:off x="285720" y="1714494"/>
          <a:ext cx="8501122" cy="5270898"/>
        </p:xfrm>
        <a:graphic>
          <a:graphicData uri="http://schemas.openxmlformats.org/drawingml/2006/table">
            <a:tbl>
              <a:tblPr/>
              <a:tblGrid>
                <a:gridCol w="2304042"/>
                <a:gridCol w="6197080"/>
              </a:tblGrid>
              <a:tr h="251913">
                <a:tc gridSpan="2">
                  <a:txBody>
                    <a:bodyPr/>
                    <a:lstStyle/>
                    <a:p>
                      <a:pPr algn="ctr">
                        <a:lnSpc>
                          <a:spcPct val="115000"/>
                        </a:lnSpc>
                        <a:spcAft>
                          <a:spcPts val="0"/>
                        </a:spcAft>
                      </a:pPr>
                      <a:r>
                        <a:rPr lang="en-US" sz="1600" b="1" dirty="0">
                          <a:latin typeface="Times New Roman"/>
                          <a:ea typeface="Times New Roman"/>
                          <a:cs typeface="Times New Roman"/>
                        </a:rPr>
                        <a:t>SOME MOST COMMONLY USED </a:t>
                      </a:r>
                      <a:r>
                        <a:rPr lang="en-US" sz="1600" b="1" dirty="0">
                          <a:latin typeface="Times New Roman"/>
                          <a:ea typeface="Times New Roman"/>
                          <a:cs typeface="Times New Roman"/>
                          <a:hlinkClick r:id="rId2" action="ppaction://hlinkfile"/>
                        </a:rPr>
                        <a:t>STRING METHODS</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r>
              <a:tr h="251913">
                <a:tc>
                  <a:txBody>
                    <a:bodyPr/>
                    <a:lstStyle/>
                    <a:p>
                      <a:pPr algn="just">
                        <a:lnSpc>
                          <a:spcPct val="115000"/>
                        </a:lnSpc>
                        <a:spcAft>
                          <a:spcPts val="0"/>
                        </a:spcAft>
                      </a:pPr>
                      <a:r>
                        <a:rPr lang="en-US" sz="1600" b="1" dirty="0">
                          <a:latin typeface="Times New Roman"/>
                          <a:ea typeface="Times New Roman"/>
                          <a:cs typeface="Times New Roman"/>
                        </a:rPr>
                        <a:t>Method Call</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b="1">
                          <a:latin typeface="Times New Roman"/>
                          <a:ea typeface="Times New Roman"/>
                          <a:cs typeface="Times New Roman"/>
                        </a:rPr>
                        <a:t>Task Performed</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s2 = s1.toLowerCase;</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Converts the string s1 to all lowercase</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s2 = s1.toUpperCase;</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Converts the string s1 to all Uppercase</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s2 = s1.replace(‘x’,’y’);</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Replace all appearances of x with y</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s2 = s1.trim();</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Replace white spaces at the beginning and end of the string s1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s1.equals(s2);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Returns ‘true’ if s1 is equal to s2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3826">
                <a:tc>
                  <a:txBody>
                    <a:bodyPr/>
                    <a:lstStyle/>
                    <a:p>
                      <a:pPr algn="just">
                        <a:lnSpc>
                          <a:spcPct val="115000"/>
                        </a:lnSpc>
                        <a:spcAft>
                          <a:spcPts val="0"/>
                        </a:spcAft>
                      </a:pPr>
                      <a:r>
                        <a:rPr lang="en-US" sz="1600">
                          <a:latin typeface="Times New Roman"/>
                          <a:ea typeface="Times New Roman"/>
                          <a:cs typeface="Times New Roman"/>
                        </a:rPr>
                        <a:t>s1.equalsIgnoreCase(s2);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Returns ‘true’ if s1 equals s2, ignoring the case of characters.</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s1.length();</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Gives the length of s1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s1.charAt(n);</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Gives n</a:t>
                      </a:r>
                      <a:r>
                        <a:rPr lang="en-US" sz="1600" baseline="30000">
                          <a:latin typeface="Times New Roman"/>
                          <a:ea typeface="Times New Roman"/>
                          <a:cs typeface="Times New Roman"/>
                        </a:rPr>
                        <a:t>th </a:t>
                      </a:r>
                      <a:r>
                        <a:rPr lang="en-US" sz="1600">
                          <a:latin typeface="Times New Roman"/>
                          <a:ea typeface="Times New Roman"/>
                          <a:cs typeface="Times New Roman"/>
                        </a:rPr>
                        <a:t>character of s1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s1.compareTo(s2);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Return </a:t>
                      </a:r>
                      <a:r>
                        <a:rPr lang="en-US" sz="1600" b="1">
                          <a:latin typeface="Times New Roman"/>
                          <a:ea typeface="Times New Roman"/>
                          <a:cs typeface="Times New Roman"/>
                        </a:rPr>
                        <a:t>–ve</a:t>
                      </a:r>
                      <a:r>
                        <a:rPr lang="en-US" sz="1600">
                          <a:latin typeface="Times New Roman"/>
                          <a:ea typeface="Times New Roman"/>
                          <a:cs typeface="Times New Roman"/>
                        </a:rPr>
                        <a:t> if s1&lt;s2, </a:t>
                      </a:r>
                      <a:r>
                        <a:rPr lang="en-US" sz="1600" b="1">
                          <a:latin typeface="Times New Roman"/>
                          <a:ea typeface="Times New Roman"/>
                          <a:cs typeface="Times New Roman"/>
                        </a:rPr>
                        <a:t>+ve</a:t>
                      </a:r>
                      <a:r>
                        <a:rPr lang="en-US" sz="1600">
                          <a:latin typeface="Times New Roman"/>
                          <a:ea typeface="Times New Roman"/>
                          <a:cs typeface="Times New Roman"/>
                        </a:rPr>
                        <a:t> if s1&gt;s2, and </a:t>
                      </a:r>
                      <a:r>
                        <a:rPr lang="en-US" sz="1600" b="1">
                          <a:latin typeface="Times New Roman"/>
                          <a:ea typeface="Times New Roman"/>
                          <a:cs typeface="Times New Roman"/>
                        </a:rPr>
                        <a:t>0</a:t>
                      </a:r>
                      <a:r>
                        <a:rPr lang="en-US" sz="1600">
                          <a:latin typeface="Times New Roman"/>
                          <a:ea typeface="Times New Roman"/>
                          <a:cs typeface="Times New Roman"/>
                        </a:rPr>
                        <a:t> if s1 equals s2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s1.concat(s2);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Concatenates s1 and s2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s1.substring(n);</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Gives substring starting from n</a:t>
                      </a:r>
                      <a:r>
                        <a:rPr lang="en-US" sz="1600" baseline="30000">
                          <a:latin typeface="Times New Roman"/>
                          <a:ea typeface="Times New Roman"/>
                          <a:cs typeface="Times New Roman"/>
                        </a:rPr>
                        <a:t>th</a:t>
                      </a:r>
                      <a:r>
                        <a:rPr lang="en-US" sz="1600">
                          <a:latin typeface="Times New Roman"/>
                          <a:ea typeface="Times New Roman"/>
                          <a:cs typeface="Times New Roman"/>
                        </a:rPr>
                        <a:t> character</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s1.substring(n,m);</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Gives substring starting from n</a:t>
                      </a:r>
                      <a:r>
                        <a:rPr lang="en-US" sz="1600" baseline="30000">
                          <a:latin typeface="Times New Roman"/>
                          <a:ea typeface="Times New Roman"/>
                          <a:cs typeface="Times New Roman"/>
                        </a:rPr>
                        <a:t>th</a:t>
                      </a:r>
                      <a:r>
                        <a:rPr lang="en-US" sz="1600">
                          <a:latin typeface="Times New Roman"/>
                          <a:ea typeface="Times New Roman"/>
                          <a:cs typeface="Times New Roman"/>
                        </a:rPr>
                        <a:t> character up to m</a:t>
                      </a:r>
                      <a:r>
                        <a:rPr lang="en-US" sz="1600" baseline="30000">
                          <a:latin typeface="Times New Roman"/>
                          <a:ea typeface="Times New Roman"/>
                          <a:cs typeface="Times New Roman"/>
                        </a:rPr>
                        <a:t>th</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s1.indexOf(‘x’);</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Gives the position of first occurrence of ‘x’ in the string s1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s1.indexOf(‘x’,n);</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Gives the position of ‘x’ that occurs after nth position in the string s1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String.valueOf(p);</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latin typeface="Times New Roman"/>
                          <a:ea typeface="Times New Roman"/>
                          <a:cs typeface="Times New Roman"/>
                        </a:rPr>
                        <a:t>Creates a string object of the parameter p.</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913">
                <a:tc>
                  <a:txBody>
                    <a:bodyPr/>
                    <a:lstStyle/>
                    <a:p>
                      <a:pPr algn="just">
                        <a:lnSpc>
                          <a:spcPct val="115000"/>
                        </a:lnSpc>
                        <a:spcAft>
                          <a:spcPts val="0"/>
                        </a:spcAft>
                      </a:pPr>
                      <a:r>
                        <a:rPr lang="en-US" sz="1600">
                          <a:latin typeface="Times New Roman"/>
                          <a:ea typeface="Times New Roman"/>
                          <a:cs typeface="Times New Roman"/>
                        </a:rPr>
                        <a:t>p.toString();</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latin typeface="Times New Roman"/>
                          <a:ea typeface="Times New Roman"/>
                          <a:cs typeface="Times New Roman"/>
                        </a:rPr>
                        <a:t>Creates a string representation of the object p.</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Vectors</a:t>
            </a:r>
            <a:endParaRPr lang="en-IN" dirty="0"/>
          </a:p>
        </p:txBody>
      </p:sp>
      <p:sp>
        <p:nvSpPr>
          <p:cNvPr id="5" name="Content Placeholder 4"/>
          <p:cNvSpPr>
            <a:spLocks noGrp="1"/>
          </p:cNvSpPr>
          <p:nvPr>
            <p:ph sz="quarter" idx="1"/>
          </p:nvPr>
        </p:nvSpPr>
        <p:spPr/>
        <p:txBody>
          <a:bodyPr>
            <a:normAutofit/>
          </a:bodyPr>
          <a:lstStyle/>
          <a:p>
            <a:r>
              <a:rPr lang="en-US" sz="2200" dirty="0" smtClean="0"/>
              <a:t>Vector implements a dynamic array that can hold object of any type and any number. </a:t>
            </a:r>
          </a:p>
          <a:p>
            <a:r>
              <a:rPr lang="en-US" sz="2200" dirty="0" smtClean="0"/>
              <a:t>Vector class is contained in the </a:t>
            </a:r>
            <a:r>
              <a:rPr lang="en-US" sz="2200" b="1" dirty="0" err="1" smtClean="0"/>
              <a:t>java.util</a:t>
            </a:r>
            <a:r>
              <a:rPr lang="en-US" sz="2200" dirty="0" smtClean="0"/>
              <a:t> package.</a:t>
            </a:r>
          </a:p>
          <a:p>
            <a:r>
              <a:rPr lang="en-US" sz="2200" dirty="0" smtClean="0"/>
              <a:t>Vectors can posses number of advantages over Arrays</a:t>
            </a:r>
            <a:endParaRPr lang="en-IN" sz="2200" dirty="0" smtClean="0"/>
          </a:p>
          <a:p>
            <a:pPr lvl="1"/>
            <a:r>
              <a:rPr lang="en-US" sz="2200" dirty="0" smtClean="0"/>
              <a:t>It is convenient use vectors to store objects.</a:t>
            </a:r>
            <a:endParaRPr lang="en-IN" sz="2200" dirty="0" smtClean="0"/>
          </a:p>
          <a:p>
            <a:pPr lvl="1"/>
            <a:r>
              <a:rPr lang="en-US" sz="2200" dirty="0" smtClean="0"/>
              <a:t>A Vector can be used to store a list of objects that may vary in size.</a:t>
            </a:r>
            <a:endParaRPr lang="en-IN" sz="2200" dirty="0" smtClean="0"/>
          </a:p>
          <a:p>
            <a:pPr lvl="1"/>
            <a:r>
              <a:rPr lang="en-US" sz="2200" dirty="0" smtClean="0"/>
              <a:t>We can add and delete objects from the list.</a:t>
            </a:r>
          </a:p>
          <a:p>
            <a:r>
              <a:rPr lang="en-US" sz="2200" dirty="0" smtClean="0"/>
              <a:t>A major constraint for using Vectors is that we cannot directly store simple data types in a vector. Therefore we need to converts these data type into objects using wrapper classes.</a:t>
            </a:r>
            <a:endParaRPr lang="en-IN" sz="2200" dirty="0" smtClean="0"/>
          </a:p>
          <a:p>
            <a:endParaRPr lang="en-IN" sz="2200"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Vectors</a:t>
            </a:r>
            <a:endParaRPr lang="en-IN" dirty="0"/>
          </a:p>
        </p:txBody>
      </p:sp>
      <p:graphicFrame>
        <p:nvGraphicFramePr>
          <p:cNvPr id="4" name="Content Placeholder 3"/>
          <p:cNvGraphicFramePr>
            <a:graphicFrameLocks noGrp="1"/>
          </p:cNvGraphicFramePr>
          <p:nvPr>
            <p:ph sz="quarter" idx="1"/>
          </p:nvPr>
        </p:nvGraphicFramePr>
        <p:xfrm>
          <a:off x="285720" y="1643050"/>
          <a:ext cx="8435167" cy="4024560"/>
        </p:xfrm>
        <a:graphic>
          <a:graphicData uri="http://schemas.openxmlformats.org/drawingml/2006/table">
            <a:tbl>
              <a:tblPr/>
              <a:tblGrid>
                <a:gridCol w="1489710"/>
                <a:gridCol w="6945457"/>
              </a:tblGrid>
              <a:tr h="244080">
                <a:tc gridSpan="2">
                  <a:txBody>
                    <a:bodyPr/>
                    <a:lstStyle/>
                    <a:p>
                      <a:pPr algn="just">
                        <a:lnSpc>
                          <a:spcPct val="115000"/>
                        </a:lnSpc>
                        <a:spcAft>
                          <a:spcPts val="0"/>
                        </a:spcAft>
                      </a:pPr>
                      <a:r>
                        <a:rPr lang="en-US" sz="2000" b="1" dirty="0">
                          <a:latin typeface="Times New Roman"/>
                          <a:ea typeface="Times New Roman"/>
                          <a:cs typeface="Times New Roman"/>
                        </a:rPr>
                        <a:t>Vectors are created as follows:</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r>
              <a:tr h="488160">
                <a:tc>
                  <a:txBody>
                    <a:bodyPr/>
                    <a:lstStyle/>
                    <a:p>
                      <a:pPr marL="0" indent="0" algn="just">
                        <a:lnSpc>
                          <a:spcPct val="115000"/>
                        </a:lnSpc>
                        <a:spcAft>
                          <a:spcPts val="0"/>
                        </a:spcAft>
                      </a:pPr>
                      <a:r>
                        <a:rPr lang="en-US" sz="2000" dirty="0">
                          <a:latin typeface="Times New Roman"/>
                          <a:ea typeface="Times New Roman"/>
                          <a:cs typeface="Times New Roman"/>
                        </a:rPr>
                        <a:t>Syntax:</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lnSpc>
                          <a:spcPct val="115000"/>
                        </a:lnSpc>
                        <a:spcAft>
                          <a:spcPts val="0"/>
                        </a:spcAft>
                      </a:pPr>
                      <a:r>
                        <a:rPr lang="en-US" sz="2000" dirty="0">
                          <a:latin typeface="Times New Roman"/>
                          <a:ea typeface="Times New Roman"/>
                          <a:cs typeface="Times New Roman"/>
                        </a:rPr>
                        <a:t>Vector name = name Vector()</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2240">
                <a:tc>
                  <a:txBody>
                    <a:bodyPr/>
                    <a:lstStyle/>
                    <a:p>
                      <a:pPr marL="0" indent="0" algn="just">
                        <a:lnSpc>
                          <a:spcPct val="115000"/>
                        </a:lnSpc>
                        <a:spcAft>
                          <a:spcPts val="0"/>
                        </a:spcAft>
                      </a:pPr>
                      <a:r>
                        <a:rPr lang="en-US" sz="2000" dirty="0">
                          <a:latin typeface="Times New Roman"/>
                          <a:ea typeface="Times New Roman"/>
                          <a:cs typeface="Times New Roman"/>
                        </a:rPr>
                        <a:t>Example:</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lnSpc>
                          <a:spcPct val="115000"/>
                        </a:lnSpc>
                        <a:spcAft>
                          <a:spcPts val="0"/>
                        </a:spcAft>
                      </a:pPr>
                      <a:r>
                        <a:rPr lang="en-US" sz="2000" dirty="0">
                          <a:latin typeface="Times New Roman"/>
                          <a:ea typeface="Times New Roman"/>
                          <a:cs typeface="Times New Roman"/>
                        </a:rPr>
                        <a:t>Vector Diploma = new Diploma(3)</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4479">
                <a:tc>
                  <a:txBody>
                    <a:bodyPr/>
                    <a:lstStyle/>
                    <a:p>
                      <a:pPr marL="0" indent="0" algn="just">
                        <a:lnSpc>
                          <a:spcPct val="115000"/>
                        </a:lnSpc>
                        <a:spcAft>
                          <a:spcPts val="0"/>
                        </a:spcAft>
                      </a:pPr>
                      <a:r>
                        <a:rPr lang="en-US" sz="2000" dirty="0">
                          <a:latin typeface="Times New Roman"/>
                          <a:ea typeface="Times New Roman"/>
                          <a:cs typeface="Times New Roman"/>
                        </a:rPr>
                        <a:t>Explanation:</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lnSpc>
                          <a:spcPct val="115000"/>
                        </a:lnSpc>
                        <a:spcAft>
                          <a:spcPts val="0"/>
                        </a:spcAft>
                      </a:pPr>
                      <a:r>
                        <a:rPr lang="en-US" sz="2000" dirty="0">
                          <a:latin typeface="Times New Roman"/>
                          <a:ea typeface="Times New Roman"/>
                          <a:cs typeface="Times New Roman"/>
                        </a:rPr>
                        <a:t>In Java, default Vector has initial size of 10. All the </a:t>
                      </a:r>
                      <a:r>
                        <a:rPr lang="en-US" sz="2000" dirty="0">
                          <a:latin typeface="Times New Roman"/>
                          <a:ea typeface="Times New Roman"/>
                          <a:cs typeface="Times New Roman"/>
                          <a:hlinkClick r:id="rId2" action="ppaction://hlinkfile"/>
                        </a:rPr>
                        <a:t>Vectors</a:t>
                      </a:r>
                      <a:r>
                        <a:rPr lang="en-US" sz="2000" dirty="0">
                          <a:latin typeface="Times New Roman"/>
                          <a:ea typeface="Times New Roman"/>
                          <a:cs typeface="Times New Roman"/>
                        </a:rPr>
                        <a:t> start with initial capacity. After initial capacity is reached, the Vector automatically allocates the space for additional objects. The amount of extra space allocated for each object should be specified at the time of creation of constructor </a:t>
                      </a:r>
                      <a:r>
                        <a:rPr lang="en-US" sz="2000" b="1" dirty="0">
                          <a:latin typeface="Times New Roman"/>
                          <a:ea typeface="Times New Roman"/>
                          <a:cs typeface="Times New Roman"/>
                        </a:rPr>
                        <a:t>[Vector(</a:t>
                      </a:r>
                      <a:r>
                        <a:rPr lang="en-US" sz="2000" b="1" dirty="0" err="1">
                          <a:latin typeface="Times New Roman"/>
                          <a:ea typeface="Times New Roman"/>
                          <a:cs typeface="Times New Roman"/>
                        </a:rPr>
                        <a:t>int</a:t>
                      </a:r>
                      <a:r>
                        <a:rPr lang="en-US" sz="2000" b="1" dirty="0">
                          <a:latin typeface="Times New Roman"/>
                          <a:ea typeface="Times New Roman"/>
                          <a:cs typeface="Times New Roman"/>
                        </a:rPr>
                        <a:t> size, </a:t>
                      </a:r>
                      <a:r>
                        <a:rPr lang="en-US" sz="2000" b="1" dirty="0" err="1">
                          <a:latin typeface="Times New Roman"/>
                          <a:ea typeface="Times New Roman"/>
                          <a:cs typeface="Times New Roman"/>
                        </a:rPr>
                        <a:t>int</a:t>
                      </a:r>
                      <a:r>
                        <a:rPr lang="en-US" sz="2000" b="1" dirty="0">
                          <a:latin typeface="Times New Roman"/>
                          <a:ea typeface="Times New Roman"/>
                          <a:cs typeface="Times New Roman"/>
                        </a:rPr>
                        <a:t> </a:t>
                      </a:r>
                      <a:r>
                        <a:rPr lang="en-US" sz="2000" b="1" dirty="0" err="1">
                          <a:latin typeface="Times New Roman"/>
                          <a:ea typeface="Times New Roman"/>
                          <a:cs typeface="Times New Roman"/>
                        </a:rPr>
                        <a:t>incr</a:t>
                      </a:r>
                      <a:r>
                        <a:rPr lang="en-US" sz="2000" b="1" dirty="0">
                          <a:latin typeface="Times New Roman"/>
                          <a:ea typeface="Times New Roman"/>
                          <a:cs typeface="Times New Roman"/>
                        </a:rPr>
                        <a:t>)]]. </a:t>
                      </a:r>
                      <a:r>
                        <a:rPr lang="en-US" sz="2000" dirty="0">
                          <a:latin typeface="Times New Roman"/>
                          <a:ea typeface="Times New Roman"/>
                          <a:cs typeface="Times New Roman"/>
                        </a:rPr>
                        <a:t>If you don’t specify an increment, the vector’s size is doubled by each allocation cycle.</a:t>
                      </a:r>
                      <a:endParaRPr lang="en-IN"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Wrapper Classes</a:t>
            </a:r>
            <a:endParaRPr lang="en-IN" dirty="0"/>
          </a:p>
        </p:txBody>
      </p:sp>
      <p:sp>
        <p:nvSpPr>
          <p:cNvPr id="5" name="Content Placeholder 4"/>
          <p:cNvSpPr>
            <a:spLocks noGrp="1"/>
          </p:cNvSpPr>
          <p:nvPr>
            <p:ph sz="quarter" idx="1"/>
          </p:nvPr>
        </p:nvSpPr>
        <p:spPr/>
        <p:txBody>
          <a:bodyPr>
            <a:normAutofit fontScale="92500" lnSpcReduction="10000"/>
          </a:bodyPr>
          <a:lstStyle/>
          <a:p>
            <a:r>
              <a:rPr lang="en-US" dirty="0" smtClean="0"/>
              <a:t>Java uses simple data types such as </a:t>
            </a:r>
            <a:r>
              <a:rPr lang="en-US" dirty="0" err="1" smtClean="0"/>
              <a:t>int</a:t>
            </a:r>
            <a:r>
              <a:rPr lang="en-US" dirty="0" smtClean="0"/>
              <a:t>, float and char for storing the values. </a:t>
            </a:r>
          </a:p>
          <a:p>
            <a:r>
              <a:rPr lang="en-US" dirty="0" smtClean="0"/>
              <a:t>These data types are not part of the object hierarchy. </a:t>
            </a:r>
          </a:p>
          <a:p>
            <a:r>
              <a:rPr lang="en-US" dirty="0" smtClean="0"/>
              <a:t>They are passed by the value to the method and cannot directly pass as a reference.</a:t>
            </a:r>
            <a:endParaRPr lang="en-IN" dirty="0" smtClean="0"/>
          </a:p>
          <a:p>
            <a:r>
              <a:rPr lang="en-US" dirty="0" smtClean="0"/>
              <a:t>The Vector cannot handle the primitive data type. </a:t>
            </a:r>
          </a:p>
          <a:p>
            <a:pPr lvl="1"/>
            <a:r>
              <a:rPr lang="en-US" dirty="0" smtClean="0"/>
              <a:t>For this purpose primitive data types converted into object type to store and manipulate in vectors. This conversion is done by Wrapper class methods.</a:t>
            </a:r>
          </a:p>
          <a:p>
            <a:r>
              <a:rPr lang="en-US" dirty="0" smtClean="0"/>
              <a:t>Contained in a </a:t>
            </a:r>
            <a:r>
              <a:rPr lang="en-US" b="1" dirty="0" err="1" smtClean="0"/>
              <a:t>java.lang</a:t>
            </a:r>
            <a:r>
              <a:rPr lang="en-US" dirty="0" smtClean="0"/>
              <a:t> package.</a:t>
            </a:r>
            <a:endParaRPr lang="en-IN" dirty="0" smtClean="0"/>
          </a:p>
          <a:p>
            <a:endParaRPr lang="en-IN"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Wrapper Classes</a:t>
            </a:r>
            <a:endParaRPr lang="en-IN" dirty="0"/>
          </a:p>
        </p:txBody>
      </p:sp>
      <p:graphicFrame>
        <p:nvGraphicFramePr>
          <p:cNvPr id="4" name="Content Placeholder 3"/>
          <p:cNvGraphicFramePr>
            <a:graphicFrameLocks noGrp="1"/>
          </p:cNvGraphicFramePr>
          <p:nvPr>
            <p:ph sz="quarter" idx="1"/>
          </p:nvPr>
        </p:nvGraphicFramePr>
        <p:xfrm>
          <a:off x="293989" y="1785926"/>
          <a:ext cx="8468640" cy="3505200"/>
        </p:xfrm>
        <a:graphic>
          <a:graphicData uri="http://schemas.openxmlformats.org/drawingml/2006/table">
            <a:tbl>
              <a:tblPr/>
              <a:tblGrid>
                <a:gridCol w="2822880"/>
                <a:gridCol w="2822880"/>
                <a:gridCol w="2822880"/>
              </a:tblGrid>
              <a:tr h="292466">
                <a:tc gridSpan="3">
                  <a:txBody>
                    <a:bodyPr/>
                    <a:lstStyle/>
                    <a:p>
                      <a:pPr marL="0" indent="0" algn="ctr">
                        <a:lnSpc>
                          <a:spcPct val="115000"/>
                        </a:lnSpc>
                        <a:spcAft>
                          <a:spcPts val="0"/>
                        </a:spcAft>
                      </a:pPr>
                      <a:r>
                        <a:rPr lang="en-US" sz="2000" b="1" dirty="0">
                          <a:latin typeface="Times New Roman"/>
                          <a:ea typeface="Times New Roman"/>
                          <a:cs typeface="Times New Roman"/>
                        </a:rPr>
                        <a:t>LIST OF PRIMITIVE DATA TYPES AND THEIR </a:t>
                      </a:r>
                      <a:r>
                        <a:rPr lang="en-US" sz="2000" b="1" dirty="0">
                          <a:latin typeface="Times New Roman"/>
                          <a:ea typeface="Times New Roman"/>
                          <a:cs typeface="Times New Roman"/>
                          <a:hlinkClick r:id="rId2" action="ppaction://hlinkfile"/>
                        </a:rPr>
                        <a:t>WRAPPER CLASSES</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r>
              <a:tr h="321317">
                <a:tc>
                  <a:txBody>
                    <a:bodyPr/>
                    <a:lstStyle/>
                    <a:p>
                      <a:pPr marL="0" indent="0" algn="ctr">
                        <a:lnSpc>
                          <a:spcPct val="115000"/>
                        </a:lnSpc>
                        <a:spcAft>
                          <a:spcPts val="0"/>
                        </a:spcAft>
                      </a:pPr>
                      <a:r>
                        <a:rPr lang="en-US" sz="2000" b="1" dirty="0">
                          <a:latin typeface="Times New Roman"/>
                          <a:ea typeface="Times New Roman"/>
                          <a:cs typeface="Times New Roman"/>
                        </a:rPr>
                        <a:t>Primitive Data Types</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lnSpc>
                          <a:spcPct val="115000"/>
                        </a:lnSpc>
                        <a:spcAft>
                          <a:spcPts val="0"/>
                        </a:spcAft>
                      </a:pPr>
                      <a:r>
                        <a:rPr lang="en-US" sz="2000" b="1" dirty="0">
                          <a:latin typeface="Times New Roman"/>
                          <a:ea typeface="Times New Roman"/>
                          <a:cs typeface="Times New Roman"/>
                        </a:rPr>
                        <a:t>Wrapper Classes</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lnSpc>
                          <a:spcPct val="115000"/>
                        </a:lnSpc>
                        <a:spcAft>
                          <a:spcPts val="0"/>
                        </a:spcAft>
                      </a:pPr>
                      <a:r>
                        <a:rPr lang="en-US" sz="2000" b="1" dirty="0">
                          <a:latin typeface="Times New Roman"/>
                          <a:ea typeface="Times New Roman"/>
                          <a:cs typeface="Times New Roman"/>
                        </a:rPr>
                        <a:t>Constructor Argument </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466">
                <a:tc>
                  <a:txBody>
                    <a:bodyPr/>
                    <a:lstStyle/>
                    <a:p>
                      <a:pPr marL="457200" algn="l">
                        <a:lnSpc>
                          <a:spcPct val="115000"/>
                        </a:lnSpc>
                        <a:spcAft>
                          <a:spcPts val="0"/>
                        </a:spcAft>
                      </a:pPr>
                      <a:r>
                        <a:rPr lang="en-US" sz="2000" dirty="0">
                          <a:latin typeface="Times New Roman"/>
                          <a:ea typeface="Times New Roman"/>
                          <a:cs typeface="Times New Roman"/>
                        </a:rPr>
                        <a:t>char</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Character</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a:latin typeface="Times New Roman"/>
                          <a:ea typeface="Times New Roman"/>
                          <a:cs typeface="Times New Roman"/>
                        </a:rPr>
                        <a:t>char</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466">
                <a:tc>
                  <a:txBody>
                    <a:bodyPr/>
                    <a:lstStyle/>
                    <a:p>
                      <a:pPr marL="457200" algn="l">
                        <a:lnSpc>
                          <a:spcPct val="115000"/>
                        </a:lnSpc>
                        <a:spcAft>
                          <a:spcPts val="0"/>
                        </a:spcAft>
                      </a:pPr>
                      <a:r>
                        <a:rPr lang="en-US" sz="2000" dirty="0" err="1">
                          <a:latin typeface="Times New Roman"/>
                          <a:ea typeface="Times New Roman"/>
                          <a:cs typeface="Times New Roman"/>
                        </a:rPr>
                        <a:t>boolean</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Boolean</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a:latin typeface="Times New Roman"/>
                          <a:ea typeface="Times New Roman"/>
                          <a:cs typeface="Times New Roman"/>
                        </a:rPr>
                        <a:t>boolean or String</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466">
                <a:tc>
                  <a:txBody>
                    <a:bodyPr/>
                    <a:lstStyle/>
                    <a:p>
                      <a:pPr marL="457200" algn="l">
                        <a:lnSpc>
                          <a:spcPct val="115000"/>
                        </a:lnSpc>
                        <a:spcAft>
                          <a:spcPts val="0"/>
                        </a:spcAft>
                      </a:pPr>
                      <a:r>
                        <a:rPr lang="en-US" sz="2000">
                          <a:latin typeface="Times New Roman"/>
                          <a:ea typeface="Times New Roman"/>
                          <a:cs typeface="Times New Roman"/>
                        </a:rPr>
                        <a:t>byte</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Byte</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a:latin typeface="Times New Roman"/>
                          <a:ea typeface="Times New Roman"/>
                          <a:cs typeface="Times New Roman"/>
                        </a:rPr>
                        <a:t>byte or String</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466">
                <a:tc>
                  <a:txBody>
                    <a:bodyPr/>
                    <a:lstStyle/>
                    <a:p>
                      <a:pPr marL="457200" algn="l">
                        <a:lnSpc>
                          <a:spcPct val="115000"/>
                        </a:lnSpc>
                        <a:spcAft>
                          <a:spcPts val="0"/>
                        </a:spcAft>
                      </a:pPr>
                      <a:r>
                        <a:rPr lang="en-US" sz="2000">
                          <a:latin typeface="Times New Roman"/>
                          <a:ea typeface="Times New Roman"/>
                          <a:cs typeface="Times New Roman"/>
                        </a:rPr>
                        <a:t>short</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Short</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short </a:t>
                      </a:r>
                      <a:r>
                        <a:rPr lang="en-US" sz="2000" dirty="0" err="1">
                          <a:latin typeface="Times New Roman"/>
                          <a:ea typeface="Times New Roman"/>
                          <a:cs typeface="Times New Roman"/>
                        </a:rPr>
                        <a:t>ot</a:t>
                      </a:r>
                      <a:r>
                        <a:rPr lang="en-US" sz="2000" dirty="0">
                          <a:latin typeface="Times New Roman"/>
                          <a:ea typeface="Times New Roman"/>
                          <a:cs typeface="Times New Roman"/>
                        </a:rPr>
                        <a:t> String</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466">
                <a:tc>
                  <a:txBody>
                    <a:bodyPr/>
                    <a:lstStyle/>
                    <a:p>
                      <a:pPr marL="457200" algn="l">
                        <a:lnSpc>
                          <a:spcPct val="115000"/>
                        </a:lnSpc>
                        <a:spcAft>
                          <a:spcPts val="0"/>
                        </a:spcAft>
                      </a:pPr>
                      <a:r>
                        <a:rPr lang="en-US" sz="2000">
                          <a:latin typeface="Times New Roman"/>
                          <a:ea typeface="Times New Roman"/>
                          <a:cs typeface="Times New Roman"/>
                        </a:rPr>
                        <a:t>int</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Integer</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err="1">
                          <a:latin typeface="Times New Roman"/>
                          <a:ea typeface="Times New Roman"/>
                          <a:cs typeface="Times New Roman"/>
                        </a:rPr>
                        <a:t>int</a:t>
                      </a:r>
                      <a:r>
                        <a:rPr lang="en-US" sz="2000" dirty="0">
                          <a:latin typeface="Times New Roman"/>
                          <a:ea typeface="Times New Roman"/>
                          <a:cs typeface="Times New Roman"/>
                        </a:rPr>
                        <a:t> or String</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466">
                <a:tc>
                  <a:txBody>
                    <a:bodyPr/>
                    <a:lstStyle/>
                    <a:p>
                      <a:pPr marL="457200" algn="l">
                        <a:lnSpc>
                          <a:spcPct val="115000"/>
                        </a:lnSpc>
                        <a:spcAft>
                          <a:spcPts val="0"/>
                        </a:spcAft>
                      </a:pPr>
                      <a:r>
                        <a:rPr lang="en-US" sz="2000">
                          <a:latin typeface="Times New Roman"/>
                          <a:ea typeface="Times New Roman"/>
                          <a:cs typeface="Times New Roman"/>
                        </a:rPr>
                        <a:t>long</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a:latin typeface="Times New Roman"/>
                          <a:ea typeface="Times New Roman"/>
                          <a:cs typeface="Times New Roman"/>
                        </a:rPr>
                        <a:t>Long</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long or String</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466">
                <a:tc>
                  <a:txBody>
                    <a:bodyPr/>
                    <a:lstStyle/>
                    <a:p>
                      <a:pPr marL="457200" algn="l">
                        <a:lnSpc>
                          <a:spcPct val="115000"/>
                        </a:lnSpc>
                        <a:spcAft>
                          <a:spcPts val="0"/>
                        </a:spcAft>
                      </a:pPr>
                      <a:r>
                        <a:rPr lang="en-US" sz="2000">
                          <a:latin typeface="Times New Roman"/>
                          <a:ea typeface="Times New Roman"/>
                          <a:cs typeface="Times New Roman"/>
                        </a:rPr>
                        <a:t>float</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a:latin typeface="Times New Roman"/>
                          <a:ea typeface="Times New Roman"/>
                          <a:cs typeface="Times New Roman"/>
                        </a:rPr>
                        <a:t>Float</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float or String</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466">
                <a:tc>
                  <a:txBody>
                    <a:bodyPr/>
                    <a:lstStyle/>
                    <a:p>
                      <a:pPr marL="457200" algn="l">
                        <a:lnSpc>
                          <a:spcPct val="115000"/>
                        </a:lnSpc>
                        <a:spcAft>
                          <a:spcPts val="0"/>
                        </a:spcAft>
                      </a:pPr>
                      <a:r>
                        <a:rPr lang="en-US" sz="2000">
                          <a:latin typeface="Times New Roman"/>
                          <a:ea typeface="Times New Roman"/>
                          <a:cs typeface="Times New Roman"/>
                        </a:rPr>
                        <a:t>double</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a:latin typeface="Times New Roman"/>
                          <a:ea typeface="Times New Roman"/>
                          <a:cs typeface="Times New Roman"/>
                        </a:rPr>
                        <a:t>Double</a:t>
                      </a:r>
                      <a:endParaRPr lang="en-IN" sz="200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15000"/>
                        </a:lnSpc>
                        <a:spcAft>
                          <a:spcPts val="0"/>
                        </a:spcAft>
                      </a:pPr>
                      <a:r>
                        <a:rPr lang="en-US" sz="2000" dirty="0">
                          <a:latin typeface="Times New Roman"/>
                          <a:ea typeface="Times New Roman"/>
                          <a:cs typeface="Times New Roman"/>
                        </a:rPr>
                        <a:t>double or String</a:t>
                      </a:r>
                      <a:endParaRPr lang="en-IN" sz="2000" dirty="0">
                        <a:latin typeface="Calibri"/>
                        <a:ea typeface="Times New Roman"/>
                        <a:cs typeface="Times New Roman"/>
                      </a:endParaRPr>
                    </a:p>
                  </a:txBody>
                  <a:tcPr marL="94975" marR="9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dirty="0" smtClean="0"/>
              <a:t>Command Line Arguments</a:t>
            </a:r>
            <a:endParaRPr lang="en-IN" dirty="0"/>
          </a:p>
        </p:txBody>
      </p:sp>
      <p:sp>
        <p:nvSpPr>
          <p:cNvPr id="5" name="Content Placeholder 4"/>
          <p:cNvSpPr>
            <a:spLocks noGrp="1"/>
          </p:cNvSpPr>
          <p:nvPr>
            <p:ph sz="quarter" idx="1"/>
          </p:nvPr>
        </p:nvSpPr>
        <p:spPr/>
        <p:txBody>
          <a:bodyPr/>
          <a:lstStyle/>
          <a:p>
            <a:r>
              <a:rPr lang="en-US" dirty="0" smtClean="0"/>
              <a:t>We can write java program that can receive and use the arguments provided in the command line. </a:t>
            </a:r>
          </a:p>
          <a:p>
            <a:r>
              <a:rPr lang="en-US" dirty="0" smtClean="0"/>
              <a:t>The Java program stores the </a:t>
            </a:r>
            <a:r>
              <a:rPr lang="en-US" dirty="0" smtClean="0">
                <a:hlinkClick r:id="rId2" action="ppaction://hlinkfile"/>
              </a:rPr>
              <a:t>command line argument</a:t>
            </a:r>
            <a:r>
              <a:rPr lang="en-US" dirty="0" smtClean="0"/>
              <a:t> in the array of string which is passes to main() method in the program and store it in the </a:t>
            </a:r>
            <a:r>
              <a:rPr lang="en-US" b="1" dirty="0" err="1" smtClean="0"/>
              <a:t>args</a:t>
            </a:r>
            <a:r>
              <a:rPr lang="en-US" b="1" dirty="0" smtClean="0"/>
              <a:t>[].</a:t>
            </a:r>
            <a:endParaRPr lang="en-IN" dirty="0" smtClean="0"/>
          </a:p>
          <a:p>
            <a:endParaRPr lang="en-IN"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Autofit/>
          </a:bodyPr>
          <a:lstStyle/>
          <a:p>
            <a:pPr marL="514350" indent="-514350">
              <a:buSzPct val="100000"/>
              <a:buAutoNum type="arabicPeriod"/>
            </a:pPr>
            <a:r>
              <a:rPr lang="en-IN" sz="3200" dirty="0" smtClean="0"/>
              <a:t>Inheritance</a:t>
            </a:r>
          </a:p>
          <a:p>
            <a:pPr marL="514350" indent="-514350">
              <a:buSzPct val="100000"/>
              <a:buAutoNum type="arabicPeriod"/>
            </a:pPr>
            <a:r>
              <a:rPr lang="en-IN" sz="3200" dirty="0" smtClean="0"/>
              <a:t>Packages</a:t>
            </a:r>
          </a:p>
        </p:txBody>
      </p:sp>
      <p:sp>
        <p:nvSpPr>
          <p:cNvPr id="3" name="Title 2"/>
          <p:cNvSpPr>
            <a:spLocks noGrp="1"/>
          </p:cNvSpPr>
          <p:nvPr>
            <p:ph type="title"/>
          </p:nvPr>
        </p:nvSpPr>
        <p:spPr/>
        <p:txBody>
          <a:bodyPr/>
          <a:lstStyle/>
          <a:p>
            <a:r>
              <a:rPr lang="en-IN" dirty="0" smtClean="0"/>
              <a:t>Chapter 3</a:t>
            </a:r>
            <a:endParaRPr lang="en-IN"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Inheritance</a:t>
            </a:r>
            <a:endParaRPr lang="en-IN" dirty="0"/>
          </a:p>
        </p:txBody>
      </p:sp>
      <p:sp>
        <p:nvSpPr>
          <p:cNvPr id="3" name="Content Placeholder 2"/>
          <p:cNvSpPr>
            <a:spLocks noGrp="1"/>
          </p:cNvSpPr>
          <p:nvPr>
            <p:ph sz="quarter" idx="1"/>
          </p:nvPr>
        </p:nvSpPr>
        <p:spPr/>
        <p:txBody>
          <a:bodyPr>
            <a:normAutofit fontScale="92500" lnSpcReduction="20000"/>
          </a:bodyPr>
          <a:lstStyle/>
          <a:p>
            <a:r>
              <a:rPr lang="en-IN" sz="3500" dirty="0" smtClean="0"/>
              <a:t>Single Inheritance</a:t>
            </a:r>
          </a:p>
          <a:p>
            <a:r>
              <a:rPr lang="en-IN" sz="3500" dirty="0" smtClean="0"/>
              <a:t>‘super’ Keyword</a:t>
            </a:r>
          </a:p>
          <a:p>
            <a:r>
              <a:rPr lang="en-IN" sz="3500" dirty="0" smtClean="0"/>
              <a:t>Multilevel Inheritance</a:t>
            </a:r>
          </a:p>
          <a:p>
            <a:r>
              <a:rPr lang="en-IN" sz="3500" dirty="0" smtClean="0"/>
              <a:t>Method Overriding</a:t>
            </a:r>
          </a:p>
          <a:p>
            <a:r>
              <a:rPr lang="en-IN" sz="3500" dirty="0" smtClean="0"/>
              <a:t>‘final’ Keyword</a:t>
            </a:r>
          </a:p>
          <a:p>
            <a:r>
              <a:rPr lang="en-IN" sz="3500" dirty="0" smtClean="0"/>
              <a:t>Abstract methods and classes</a:t>
            </a:r>
          </a:p>
          <a:p>
            <a:r>
              <a:rPr lang="en-IN" sz="3500" dirty="0" smtClean="0"/>
              <a:t>Interface</a:t>
            </a:r>
          </a:p>
          <a:p>
            <a:r>
              <a:rPr lang="en-IN" sz="3500" dirty="0" smtClean="0"/>
              <a:t>Multiple Inheritance</a:t>
            </a:r>
          </a:p>
          <a:p>
            <a:r>
              <a:rPr lang="en-IN" sz="3500" dirty="0" smtClean="0"/>
              <a:t>Dynamic Dispatch Method</a:t>
            </a:r>
          </a:p>
          <a:p>
            <a:endParaRPr lang="en-IN" sz="3200" dirty="0" smtClean="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Inheritance</a:t>
            </a:r>
            <a:endParaRPr lang="en-IN" dirty="0"/>
          </a:p>
        </p:txBody>
      </p:sp>
      <p:sp>
        <p:nvSpPr>
          <p:cNvPr id="3" name="Content Placeholder 2"/>
          <p:cNvSpPr>
            <a:spLocks noGrp="1"/>
          </p:cNvSpPr>
          <p:nvPr>
            <p:ph sz="quarter" idx="1"/>
          </p:nvPr>
        </p:nvSpPr>
        <p:spPr/>
        <p:txBody>
          <a:bodyPr>
            <a:normAutofit/>
          </a:bodyPr>
          <a:lstStyle/>
          <a:p>
            <a:r>
              <a:rPr lang="en-US" sz="2200" dirty="0" smtClean="0"/>
              <a:t>Inheritance is one of the corner stone of OOP. It gives the aspects of reusability in which classes are used in several ways. This is basically done by creating a new class and reusing the property of existing one. The mechanism of deriving a new class from old one is called inheritance. The process of inheritance does not affect the base class.</a:t>
            </a:r>
            <a:endParaRPr lang="en-IN" sz="2200" dirty="0" smtClean="0"/>
          </a:p>
        </p:txBody>
      </p:sp>
      <p:graphicFrame>
        <p:nvGraphicFramePr>
          <p:cNvPr id="4" name="Table 3"/>
          <p:cNvGraphicFramePr>
            <a:graphicFrameLocks noGrp="1"/>
          </p:cNvGraphicFramePr>
          <p:nvPr/>
        </p:nvGraphicFramePr>
        <p:xfrm>
          <a:off x="1000100" y="4000504"/>
          <a:ext cx="7858180" cy="2143140"/>
        </p:xfrm>
        <a:graphic>
          <a:graphicData uri="http://schemas.openxmlformats.org/drawingml/2006/table">
            <a:tbl>
              <a:tblPr/>
              <a:tblGrid>
                <a:gridCol w="7858180"/>
              </a:tblGrid>
              <a:tr h="357190">
                <a:tc>
                  <a:txBody>
                    <a:bodyPr/>
                    <a:lstStyle/>
                    <a:p>
                      <a:pPr algn="just">
                        <a:lnSpc>
                          <a:spcPct val="115000"/>
                        </a:lnSpc>
                        <a:spcAft>
                          <a:spcPts val="0"/>
                        </a:spcAft>
                      </a:pPr>
                      <a:r>
                        <a:rPr lang="en-US" sz="1600">
                          <a:latin typeface="Times New Roman"/>
                          <a:ea typeface="Times New Roman"/>
                          <a:cs typeface="Times New Roman"/>
                        </a:rPr>
                        <a:t>Syntax:</a:t>
                      </a:r>
                      <a:endParaRPr lang="en-US" sz="1400">
                        <a:latin typeface="Calibri"/>
                        <a:ea typeface="Times New Roman"/>
                        <a:cs typeface="Times New Roman"/>
                      </a:endParaRPr>
                    </a:p>
                  </a:txBody>
                  <a:tcPr marL="85812" marR="858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5950">
                <a:tc>
                  <a:txBody>
                    <a:bodyPr/>
                    <a:lstStyle/>
                    <a:p>
                      <a:pPr algn="just">
                        <a:lnSpc>
                          <a:spcPct val="115000"/>
                        </a:lnSpc>
                        <a:spcAft>
                          <a:spcPts val="0"/>
                        </a:spcAft>
                      </a:pPr>
                      <a:r>
                        <a:rPr lang="en-US" sz="1600" dirty="0">
                          <a:latin typeface="Times New Roman"/>
                          <a:ea typeface="Times New Roman"/>
                          <a:cs typeface="Times New Roman"/>
                        </a:rPr>
                        <a:t>class Subclass </a:t>
                      </a:r>
                      <a:r>
                        <a:rPr lang="en-US" sz="1600" b="1" dirty="0">
                          <a:latin typeface="Times New Roman"/>
                          <a:ea typeface="Times New Roman"/>
                          <a:cs typeface="Times New Roman"/>
                        </a:rPr>
                        <a:t>extends</a:t>
                      </a:r>
                      <a:r>
                        <a:rPr lang="en-US" sz="1600" dirty="0">
                          <a:latin typeface="Times New Roman"/>
                          <a:ea typeface="Times New Roman"/>
                          <a:cs typeface="Times New Roman"/>
                        </a:rPr>
                        <a:t> </a:t>
                      </a:r>
                      <a:r>
                        <a:rPr lang="en-US" sz="1600" dirty="0" err="1">
                          <a:latin typeface="Times New Roman"/>
                          <a:ea typeface="Times New Roman"/>
                          <a:cs typeface="Times New Roman"/>
                        </a:rPr>
                        <a:t>Superclass</a:t>
                      </a:r>
                      <a:endParaRPr lang="en-US" sz="1400" dirty="0">
                        <a:latin typeface="Calibri"/>
                        <a:ea typeface="Times New Roman"/>
                        <a:cs typeface="Times New Roman"/>
                      </a:endParaRPr>
                    </a:p>
                    <a:p>
                      <a:pPr algn="just">
                        <a:lnSpc>
                          <a:spcPct val="115000"/>
                        </a:lnSpc>
                        <a:spcAft>
                          <a:spcPts val="0"/>
                        </a:spcAft>
                      </a:pPr>
                      <a:r>
                        <a:rPr lang="en-US" sz="1600" dirty="0">
                          <a:latin typeface="Times New Roman"/>
                          <a:ea typeface="Times New Roman"/>
                          <a:cs typeface="Times New Roman"/>
                        </a:rPr>
                        <a:t>{</a:t>
                      </a:r>
                      <a:endParaRPr lang="en-US" sz="1400" dirty="0">
                        <a:latin typeface="Calibri"/>
                        <a:ea typeface="Times New Roman"/>
                        <a:cs typeface="Times New Roman"/>
                      </a:endParaRPr>
                    </a:p>
                    <a:p>
                      <a:pPr algn="just">
                        <a:lnSpc>
                          <a:spcPct val="115000"/>
                        </a:lnSpc>
                        <a:spcAft>
                          <a:spcPts val="0"/>
                        </a:spcAft>
                      </a:pPr>
                      <a:r>
                        <a:rPr lang="en-US" sz="1600" dirty="0">
                          <a:latin typeface="Times New Roman"/>
                          <a:ea typeface="Times New Roman"/>
                          <a:cs typeface="Times New Roman"/>
                        </a:rPr>
                        <a:t>  Variable declaration;</a:t>
                      </a:r>
                      <a:endParaRPr lang="en-US" sz="1400" dirty="0">
                        <a:latin typeface="Calibri"/>
                        <a:ea typeface="Times New Roman"/>
                        <a:cs typeface="Times New Roman"/>
                      </a:endParaRPr>
                    </a:p>
                    <a:p>
                      <a:pPr algn="just">
                        <a:lnSpc>
                          <a:spcPct val="115000"/>
                        </a:lnSpc>
                        <a:spcAft>
                          <a:spcPts val="0"/>
                        </a:spcAft>
                      </a:pPr>
                      <a:r>
                        <a:rPr lang="en-US" sz="1600" dirty="0">
                          <a:latin typeface="Times New Roman"/>
                          <a:ea typeface="Times New Roman"/>
                          <a:cs typeface="Times New Roman"/>
                        </a:rPr>
                        <a:t>  Method declaration;</a:t>
                      </a:r>
                      <a:endParaRPr lang="en-US" sz="1400" dirty="0">
                        <a:latin typeface="Calibri"/>
                        <a:ea typeface="Times New Roman"/>
                        <a:cs typeface="Times New Roman"/>
                      </a:endParaRPr>
                    </a:p>
                    <a:p>
                      <a:pPr algn="just">
                        <a:lnSpc>
                          <a:spcPct val="115000"/>
                        </a:lnSpc>
                        <a:spcAft>
                          <a:spcPts val="0"/>
                        </a:spcAft>
                      </a:pPr>
                      <a:r>
                        <a:rPr lang="en-US" sz="1600" dirty="0">
                          <a:latin typeface="Times New Roman"/>
                          <a:ea typeface="Times New Roman"/>
                          <a:cs typeface="Times New Roman"/>
                        </a:rPr>
                        <a:t>}</a:t>
                      </a:r>
                      <a:endParaRPr lang="en-US" sz="1400" dirty="0">
                        <a:latin typeface="Calibri"/>
                        <a:ea typeface="Times New Roman"/>
                        <a:cs typeface="Times New Roman"/>
                      </a:endParaRPr>
                    </a:p>
                  </a:txBody>
                  <a:tcPr marL="85812" marR="858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Inheritance</a:t>
            </a:r>
            <a:endParaRPr lang="en-IN" dirty="0"/>
          </a:p>
        </p:txBody>
      </p:sp>
      <p:graphicFrame>
        <p:nvGraphicFramePr>
          <p:cNvPr id="5" name="Content Placeholder 4"/>
          <p:cNvGraphicFramePr>
            <a:graphicFrameLocks noGrp="1"/>
          </p:cNvGraphicFramePr>
          <p:nvPr>
            <p:ph sz="quarter" idx="1"/>
          </p:nvPr>
        </p:nvGraphicFramePr>
        <p:xfrm>
          <a:off x="214282" y="1643050"/>
          <a:ext cx="8821853" cy="4848231"/>
        </p:xfrm>
        <a:graphic>
          <a:graphicData uri="http://schemas.openxmlformats.org/drawingml/2006/table">
            <a:tbl>
              <a:tblPr/>
              <a:tblGrid>
                <a:gridCol w="2169699"/>
                <a:gridCol w="2779016"/>
                <a:gridCol w="3873138"/>
              </a:tblGrid>
              <a:tr h="301627">
                <a:tc gridSpan="3">
                  <a:txBody>
                    <a:bodyPr/>
                    <a:lstStyle/>
                    <a:p>
                      <a:pPr marL="457200" algn="ctr">
                        <a:lnSpc>
                          <a:spcPct val="115000"/>
                        </a:lnSpc>
                        <a:spcAft>
                          <a:spcPts val="0"/>
                        </a:spcAft>
                        <a:tabLst>
                          <a:tab pos="285750" algn="l"/>
                        </a:tabLst>
                      </a:pPr>
                      <a:r>
                        <a:rPr lang="en-US" sz="1700" b="1" dirty="0">
                          <a:latin typeface="Times New Roman"/>
                          <a:ea typeface="Times New Roman"/>
                          <a:cs typeface="Times New Roman"/>
                        </a:rPr>
                        <a:t>Forms of Inheritance in Java</a:t>
                      </a:r>
                      <a:endParaRPr lang="en-US" sz="1500" dirty="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603254">
                <a:tc>
                  <a:txBody>
                    <a:bodyPr/>
                    <a:lstStyle/>
                    <a:p>
                      <a:pPr marL="342900" lvl="0" indent="-342900">
                        <a:lnSpc>
                          <a:spcPct val="115000"/>
                        </a:lnSpc>
                        <a:spcAft>
                          <a:spcPts val="0"/>
                        </a:spcAft>
                        <a:buFont typeface="+mj-lt"/>
                        <a:buAutoNum type="romanLcPeriod"/>
                        <a:tabLst>
                          <a:tab pos="285750" algn="l"/>
                        </a:tabLst>
                      </a:pPr>
                      <a:r>
                        <a:rPr lang="en-US" sz="1700" b="1" dirty="0">
                          <a:latin typeface="Times New Roman"/>
                          <a:ea typeface="Times New Roman"/>
                          <a:cs typeface="Times New Roman"/>
                          <a:hlinkClick r:id="rId3" action="ppaction://hlinkfile"/>
                        </a:rPr>
                        <a:t>Single  Inheritance</a:t>
                      </a:r>
                      <a:endParaRPr lang="en-US" sz="1500" dirty="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nSpc>
                          <a:spcPct val="115000"/>
                        </a:lnSpc>
                        <a:spcAft>
                          <a:spcPts val="0"/>
                        </a:spcAft>
                        <a:tabLst>
                          <a:tab pos="285750" algn="l"/>
                        </a:tabLst>
                      </a:pPr>
                      <a:endParaRPr lang="en-US" sz="1500" dirty="0" smtClean="0">
                        <a:latin typeface="Calibri"/>
                        <a:ea typeface="Times New Roman"/>
                        <a:cs typeface="Times New Roman"/>
                      </a:endParaRPr>
                    </a:p>
                    <a:p>
                      <a:pPr marL="457200">
                        <a:lnSpc>
                          <a:spcPct val="115000"/>
                        </a:lnSpc>
                        <a:spcAft>
                          <a:spcPts val="0"/>
                        </a:spcAft>
                        <a:tabLst>
                          <a:tab pos="285750" algn="l"/>
                        </a:tabLst>
                      </a:pPr>
                      <a:r>
                        <a:rPr lang="en-US" sz="1500" dirty="0" smtClean="0">
                          <a:latin typeface="Calibri"/>
                          <a:ea typeface="Times New Roman"/>
                          <a:cs typeface="Times New Roman"/>
                        </a:rPr>
                        <a:t>Only </a:t>
                      </a:r>
                      <a:r>
                        <a:rPr lang="en-US" sz="1500" dirty="0">
                          <a:latin typeface="Calibri"/>
                          <a:ea typeface="Times New Roman"/>
                          <a:cs typeface="Times New Roman"/>
                        </a:rPr>
                        <a:t>one Super class and one Sub </a:t>
                      </a:r>
                      <a:r>
                        <a:rPr lang="en-US" sz="1500" dirty="0" smtClean="0">
                          <a:latin typeface="Calibri"/>
                          <a:ea typeface="Times New Roman"/>
                          <a:cs typeface="Times New Roman"/>
                        </a:rPr>
                        <a:t>class</a:t>
                      </a:r>
                    </a:p>
                    <a:p>
                      <a:pPr marL="457200">
                        <a:lnSpc>
                          <a:spcPct val="115000"/>
                        </a:lnSpc>
                        <a:spcAft>
                          <a:spcPts val="0"/>
                        </a:spcAft>
                        <a:tabLst>
                          <a:tab pos="285750" algn="l"/>
                        </a:tabLst>
                      </a:pPr>
                      <a:endParaRPr lang="en-US" sz="1500" dirty="0" smtClean="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tabLst>
                          <a:tab pos="285750" algn="l"/>
                        </a:tabLst>
                      </a:pPr>
                      <a:endParaRPr lang="en-US" sz="150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3254">
                <a:tc>
                  <a:txBody>
                    <a:bodyPr/>
                    <a:lstStyle/>
                    <a:p>
                      <a:pPr marL="400050" lvl="0" indent="-400050">
                        <a:lnSpc>
                          <a:spcPct val="115000"/>
                        </a:lnSpc>
                        <a:spcAft>
                          <a:spcPts val="0"/>
                        </a:spcAft>
                        <a:buFont typeface="+mj-lt"/>
                        <a:buAutoNum type="romanLcPeriod" startAt="2"/>
                        <a:tabLst>
                          <a:tab pos="285750" algn="l"/>
                        </a:tabLst>
                      </a:pPr>
                      <a:r>
                        <a:rPr lang="en-US" sz="1700" b="1" dirty="0">
                          <a:latin typeface="Times New Roman"/>
                          <a:ea typeface="Times New Roman"/>
                          <a:cs typeface="Times New Roman"/>
                          <a:hlinkClick r:id="rId4" action="ppaction://hlinkfile"/>
                        </a:rPr>
                        <a:t>Multilevel Inheritance</a:t>
                      </a:r>
                      <a:endParaRPr lang="en-US" sz="1500" dirty="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nSpc>
                          <a:spcPct val="115000"/>
                        </a:lnSpc>
                        <a:spcAft>
                          <a:spcPts val="0"/>
                        </a:spcAft>
                        <a:tabLst>
                          <a:tab pos="285750" algn="l"/>
                        </a:tabLst>
                      </a:pPr>
                      <a:endParaRPr lang="en-US" sz="1500" dirty="0" smtClean="0">
                        <a:latin typeface="Calibri"/>
                        <a:ea typeface="Times New Roman"/>
                        <a:cs typeface="Times New Roman"/>
                      </a:endParaRPr>
                    </a:p>
                    <a:p>
                      <a:pPr marL="457200">
                        <a:lnSpc>
                          <a:spcPct val="115000"/>
                        </a:lnSpc>
                        <a:spcAft>
                          <a:spcPts val="0"/>
                        </a:spcAft>
                        <a:tabLst>
                          <a:tab pos="285750" algn="l"/>
                        </a:tabLst>
                      </a:pPr>
                      <a:endParaRPr lang="en-US" sz="1500" dirty="0" smtClean="0">
                        <a:latin typeface="Calibri"/>
                        <a:ea typeface="Times New Roman"/>
                        <a:cs typeface="Times New Roman"/>
                      </a:endParaRPr>
                    </a:p>
                    <a:p>
                      <a:pPr marL="457200">
                        <a:lnSpc>
                          <a:spcPct val="115000"/>
                        </a:lnSpc>
                        <a:spcAft>
                          <a:spcPts val="0"/>
                        </a:spcAft>
                        <a:tabLst>
                          <a:tab pos="285750" algn="l"/>
                        </a:tabLst>
                      </a:pPr>
                      <a:r>
                        <a:rPr lang="en-US" sz="1500" dirty="0" smtClean="0">
                          <a:latin typeface="Calibri"/>
                          <a:ea typeface="Times New Roman"/>
                          <a:cs typeface="Times New Roman"/>
                        </a:rPr>
                        <a:t>Sub </a:t>
                      </a:r>
                      <a:r>
                        <a:rPr lang="en-US" sz="1500" dirty="0">
                          <a:latin typeface="Calibri"/>
                          <a:ea typeface="Times New Roman"/>
                          <a:cs typeface="Times New Roman"/>
                        </a:rPr>
                        <a:t>class is created by sub class of super </a:t>
                      </a:r>
                      <a:r>
                        <a:rPr lang="en-US" sz="1500" dirty="0" smtClean="0">
                          <a:latin typeface="Calibri"/>
                          <a:ea typeface="Times New Roman"/>
                          <a:cs typeface="Times New Roman"/>
                        </a:rPr>
                        <a:t>class</a:t>
                      </a:r>
                    </a:p>
                    <a:p>
                      <a:pPr marL="457200">
                        <a:lnSpc>
                          <a:spcPct val="115000"/>
                        </a:lnSpc>
                        <a:spcAft>
                          <a:spcPts val="0"/>
                        </a:spcAft>
                        <a:tabLst>
                          <a:tab pos="285750" algn="l"/>
                        </a:tabLst>
                      </a:pPr>
                      <a:endParaRPr lang="en-US" sz="1500" dirty="0" smtClean="0">
                        <a:latin typeface="Calibri"/>
                        <a:ea typeface="Times New Roman"/>
                        <a:cs typeface="Times New Roman"/>
                      </a:endParaRPr>
                    </a:p>
                    <a:p>
                      <a:pPr marL="457200">
                        <a:lnSpc>
                          <a:spcPct val="115000"/>
                        </a:lnSpc>
                        <a:spcAft>
                          <a:spcPts val="0"/>
                        </a:spcAft>
                        <a:tabLst>
                          <a:tab pos="285750" algn="l"/>
                        </a:tabLst>
                      </a:pPr>
                      <a:endParaRPr lang="en-US" sz="1500" dirty="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tabLst>
                          <a:tab pos="285750" algn="l"/>
                        </a:tabLst>
                      </a:pPr>
                      <a:endParaRPr lang="en-US" sz="1700">
                        <a:latin typeface="Times New Roman"/>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3254">
                <a:tc>
                  <a:txBody>
                    <a:bodyPr/>
                    <a:lstStyle/>
                    <a:p>
                      <a:pPr marL="400050" lvl="0" indent="-400050">
                        <a:lnSpc>
                          <a:spcPct val="115000"/>
                        </a:lnSpc>
                        <a:spcAft>
                          <a:spcPts val="0"/>
                        </a:spcAft>
                        <a:buFont typeface="+mj-lt"/>
                        <a:buAutoNum type="romanLcPeriod" startAt="3"/>
                        <a:tabLst>
                          <a:tab pos="285750" algn="l"/>
                        </a:tabLst>
                      </a:pPr>
                      <a:r>
                        <a:rPr lang="en-US" sz="1700" b="1" dirty="0">
                          <a:latin typeface="Times New Roman"/>
                          <a:ea typeface="Times New Roman"/>
                          <a:cs typeface="Times New Roman"/>
                        </a:rPr>
                        <a:t>Hierarchical Inheritance</a:t>
                      </a:r>
                      <a:endParaRPr lang="en-US" sz="1500" dirty="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nSpc>
                          <a:spcPct val="115000"/>
                        </a:lnSpc>
                        <a:spcAft>
                          <a:spcPts val="0"/>
                        </a:spcAft>
                        <a:tabLst>
                          <a:tab pos="285750" algn="l"/>
                        </a:tabLst>
                      </a:pPr>
                      <a:endParaRPr lang="en-US" sz="1500" dirty="0" smtClean="0">
                        <a:latin typeface="Calibri"/>
                        <a:ea typeface="Times New Roman"/>
                        <a:cs typeface="Times New Roman"/>
                      </a:endParaRPr>
                    </a:p>
                    <a:p>
                      <a:pPr marL="457200">
                        <a:lnSpc>
                          <a:spcPct val="115000"/>
                        </a:lnSpc>
                        <a:spcAft>
                          <a:spcPts val="0"/>
                        </a:spcAft>
                        <a:tabLst>
                          <a:tab pos="285750" algn="l"/>
                        </a:tabLst>
                      </a:pPr>
                      <a:r>
                        <a:rPr lang="en-US" sz="1500" dirty="0" smtClean="0">
                          <a:latin typeface="Calibri"/>
                          <a:ea typeface="Times New Roman"/>
                          <a:cs typeface="Times New Roman"/>
                        </a:rPr>
                        <a:t>One </a:t>
                      </a:r>
                      <a:r>
                        <a:rPr lang="en-US" sz="1500" dirty="0">
                          <a:latin typeface="Calibri"/>
                          <a:ea typeface="Times New Roman"/>
                          <a:cs typeface="Times New Roman"/>
                        </a:rPr>
                        <a:t>super class and multiple sub </a:t>
                      </a:r>
                      <a:r>
                        <a:rPr lang="en-US" sz="1500" dirty="0" smtClean="0">
                          <a:latin typeface="Calibri"/>
                          <a:ea typeface="Times New Roman"/>
                          <a:cs typeface="Times New Roman"/>
                        </a:rPr>
                        <a:t>class</a:t>
                      </a:r>
                    </a:p>
                    <a:p>
                      <a:pPr marL="457200">
                        <a:lnSpc>
                          <a:spcPct val="115000"/>
                        </a:lnSpc>
                        <a:spcAft>
                          <a:spcPts val="0"/>
                        </a:spcAft>
                        <a:tabLst>
                          <a:tab pos="285750" algn="l"/>
                        </a:tabLst>
                      </a:pPr>
                      <a:endParaRPr lang="en-US" sz="1500" dirty="0" smtClean="0">
                        <a:latin typeface="Calibri"/>
                        <a:ea typeface="Times New Roman"/>
                        <a:cs typeface="Times New Roman"/>
                      </a:endParaRPr>
                    </a:p>
                    <a:p>
                      <a:pPr marL="457200">
                        <a:lnSpc>
                          <a:spcPct val="115000"/>
                        </a:lnSpc>
                        <a:spcAft>
                          <a:spcPts val="0"/>
                        </a:spcAft>
                        <a:tabLst>
                          <a:tab pos="285750" algn="l"/>
                        </a:tabLst>
                      </a:pPr>
                      <a:endParaRPr lang="en-US" sz="1500" dirty="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tabLst>
                          <a:tab pos="285750" algn="l"/>
                        </a:tabLst>
                      </a:pPr>
                      <a:endParaRPr lang="en-US" sz="1700">
                        <a:latin typeface="Times New Roman"/>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3254">
                <a:tc gridSpan="3">
                  <a:txBody>
                    <a:bodyPr/>
                    <a:lstStyle/>
                    <a:p>
                      <a:pPr marL="457200">
                        <a:lnSpc>
                          <a:spcPct val="115000"/>
                        </a:lnSpc>
                        <a:spcAft>
                          <a:spcPts val="0"/>
                        </a:spcAft>
                        <a:tabLst>
                          <a:tab pos="285750" algn="l"/>
                        </a:tabLst>
                      </a:pPr>
                      <a:r>
                        <a:rPr lang="en-US" sz="1700" b="1" dirty="0">
                          <a:latin typeface="Times New Roman"/>
                          <a:ea typeface="Times New Roman"/>
                          <a:cs typeface="Times New Roman"/>
                        </a:rPr>
                        <a:t>NOTE :</a:t>
                      </a:r>
                      <a:r>
                        <a:rPr lang="en-US" sz="1700" dirty="0">
                          <a:latin typeface="Times New Roman"/>
                          <a:ea typeface="Times New Roman"/>
                          <a:cs typeface="Times New Roman"/>
                        </a:rPr>
                        <a:t> Java does not directly implement multiple inheritance. It is done by interface technique.</a:t>
                      </a:r>
                      <a:endParaRPr lang="en-US" sz="1500" dirty="0">
                        <a:latin typeface="Calibri"/>
                        <a:ea typeface="Times New Roman"/>
                        <a:cs typeface="Times New Roman"/>
                      </a:endParaRPr>
                    </a:p>
                  </a:txBody>
                  <a:tcPr marL="95371" marR="953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98659" name="Object 3"/>
          <p:cNvGraphicFramePr>
            <a:graphicFrameLocks noChangeAspect="1"/>
          </p:cNvGraphicFramePr>
          <p:nvPr/>
        </p:nvGraphicFramePr>
        <p:xfrm>
          <a:off x="6715140" y="2000240"/>
          <a:ext cx="514350" cy="923925"/>
        </p:xfrm>
        <a:graphic>
          <a:graphicData uri="http://schemas.openxmlformats.org/presentationml/2006/ole">
            <mc:AlternateContent xmlns:mc="http://schemas.openxmlformats.org/markup-compatibility/2006">
              <mc:Choice xmlns:v="urn:schemas-microsoft-com:vml" Requires="v">
                <p:oleObj spid="_x0000_s198660" name="Bitmap Image" r:id="rId5" imgW="514422" imgH="923810" progId="PBrush">
                  <p:embed/>
                </p:oleObj>
              </mc:Choice>
              <mc:Fallback>
                <p:oleObj name="Bitmap Image" r:id="rId5" imgW="514422" imgH="923810" progId="PBrush">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5140" y="2000240"/>
                        <a:ext cx="514350"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8658" name="Object 2"/>
          <p:cNvGraphicFramePr>
            <a:graphicFrameLocks noChangeAspect="1"/>
          </p:cNvGraphicFramePr>
          <p:nvPr/>
        </p:nvGraphicFramePr>
        <p:xfrm>
          <a:off x="6715140" y="3000372"/>
          <a:ext cx="485775" cy="1504950"/>
        </p:xfrm>
        <a:graphic>
          <a:graphicData uri="http://schemas.openxmlformats.org/presentationml/2006/ole">
            <mc:AlternateContent xmlns:mc="http://schemas.openxmlformats.org/markup-compatibility/2006">
              <mc:Choice xmlns:v="urn:schemas-microsoft-com:vml" Requires="v">
                <p:oleObj spid="_x0000_s198661" name="Bitmap Image" r:id="rId7" imgW="485586" imgH="1504762" progId="PBrush">
                  <p:embed/>
                </p:oleObj>
              </mc:Choice>
              <mc:Fallback>
                <p:oleObj name="Bitmap Image" r:id="rId7" imgW="485586" imgH="1504762" progId="PBrush">
                  <p:embed/>
                  <p:pic>
                    <p:nvPicPr>
                      <p:cNvPr id="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15140" y="3000372"/>
                        <a:ext cx="485775" cy="1504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8657" name="Object 1"/>
          <p:cNvGraphicFramePr>
            <a:graphicFrameLocks noChangeAspect="1"/>
          </p:cNvGraphicFramePr>
          <p:nvPr/>
        </p:nvGraphicFramePr>
        <p:xfrm>
          <a:off x="6215074" y="4657741"/>
          <a:ext cx="1524000" cy="1057275"/>
        </p:xfrm>
        <a:graphic>
          <a:graphicData uri="http://schemas.openxmlformats.org/presentationml/2006/ole">
            <mc:AlternateContent xmlns:mc="http://schemas.openxmlformats.org/markup-compatibility/2006">
              <mc:Choice xmlns:v="urn:schemas-microsoft-com:vml" Requires="v">
                <p:oleObj spid="_x0000_s198662" name="Bitmap Image" r:id="rId9" imgW="1523810" imgH="1057423" progId="PBrush">
                  <p:embed/>
                </p:oleObj>
              </mc:Choice>
              <mc:Fallback>
                <p:oleObj name="Bitmap Image" r:id="rId9" imgW="1523810" imgH="1057423" progId="PBrush">
                  <p:embed/>
                  <p:pic>
                    <p:nvPicPr>
                      <p:cNvPr id="0" name="Picture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15074" y="4657741"/>
                        <a:ext cx="1524000" cy="1057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‘super’ Keyword</a:t>
            </a:r>
          </a:p>
        </p:txBody>
      </p:sp>
      <p:sp>
        <p:nvSpPr>
          <p:cNvPr id="7" name="Content Placeholder 6"/>
          <p:cNvSpPr>
            <a:spLocks noGrp="1"/>
          </p:cNvSpPr>
          <p:nvPr>
            <p:ph sz="quarter" idx="1"/>
          </p:nvPr>
        </p:nvSpPr>
        <p:spPr/>
        <p:txBody>
          <a:bodyPr>
            <a:normAutofit/>
          </a:bodyPr>
          <a:lstStyle/>
          <a:p>
            <a:r>
              <a:rPr lang="en-US" sz="2200" dirty="0" smtClean="0"/>
              <a:t>Encapsulation is main concept of OOP. Sometimes we want to create a super class that keeps the details of its implementation to itself then there would be a no way for a sub class to directly access these variables on its own. But Java provides solution to this problem using the keyword “</a:t>
            </a:r>
            <a:r>
              <a:rPr lang="en-US" sz="2200" b="1" dirty="0" smtClean="0"/>
              <a:t>super</a:t>
            </a:r>
            <a:r>
              <a:rPr lang="en-US" sz="2200" dirty="0" smtClean="0"/>
              <a:t>”.</a:t>
            </a:r>
          </a:p>
          <a:p>
            <a:endParaRPr lang="en-US" sz="2200" dirty="0" smtClean="0"/>
          </a:p>
          <a:p>
            <a:r>
              <a:rPr lang="en-US" sz="2200" dirty="0" smtClean="0"/>
              <a:t>This keyword has two general forms:</a:t>
            </a:r>
          </a:p>
          <a:p>
            <a:pPr lvl="1"/>
            <a:r>
              <a:rPr lang="en-US" sz="2200" u="sng" dirty="0" smtClean="0">
                <a:hlinkClick r:id="rId2" action="ppaction://hlinkfile"/>
              </a:rPr>
              <a:t>1</a:t>
            </a:r>
            <a:r>
              <a:rPr lang="en-US" sz="2200" u="sng" baseline="30000" dirty="0" smtClean="0">
                <a:hlinkClick r:id="rId2" action="ppaction://hlinkfile"/>
              </a:rPr>
              <a:t>st</a:t>
            </a:r>
            <a:r>
              <a:rPr lang="en-US" sz="2200" u="sng" dirty="0" smtClean="0">
                <a:hlinkClick r:id="rId2" action="ppaction://hlinkfile"/>
              </a:rPr>
              <a:t> form </a:t>
            </a:r>
            <a:r>
              <a:rPr lang="en-US" sz="2200" u="sng" dirty="0" smtClean="0">
                <a:sym typeface="Wingdings" pitchFamily="2" charset="2"/>
              </a:rPr>
              <a:t> </a:t>
            </a:r>
            <a:r>
              <a:rPr lang="en-US" sz="2200" u="sng" dirty="0" smtClean="0"/>
              <a:t>Call super class constructor</a:t>
            </a:r>
            <a:endParaRPr lang="en-US" sz="2200" dirty="0" smtClean="0"/>
          </a:p>
          <a:p>
            <a:pPr lvl="1"/>
            <a:r>
              <a:rPr lang="en-US" sz="2200" u="sng" dirty="0" smtClean="0">
                <a:hlinkClick r:id="rId3" action="ppaction://hlinkfile"/>
              </a:rPr>
              <a:t>2</a:t>
            </a:r>
            <a:r>
              <a:rPr lang="en-US" sz="2200" u="sng" baseline="30000" dirty="0" smtClean="0">
                <a:hlinkClick r:id="rId3" action="ppaction://hlinkfile"/>
              </a:rPr>
              <a:t>nd</a:t>
            </a:r>
            <a:r>
              <a:rPr lang="en-US" sz="2200" u="sng" dirty="0" smtClean="0">
                <a:hlinkClick r:id="rId3" action="ppaction://hlinkfile"/>
              </a:rPr>
              <a:t> form </a:t>
            </a:r>
            <a:r>
              <a:rPr lang="en-US" sz="2200" u="sng" dirty="0" smtClean="0">
                <a:sym typeface="Wingdings" pitchFamily="2" charset="2"/>
              </a:rPr>
              <a:t></a:t>
            </a:r>
            <a:r>
              <a:rPr lang="en-US" sz="2200" u="sng" dirty="0" smtClean="0"/>
              <a:t> Use to access the members</a:t>
            </a:r>
            <a:endParaRPr lang="en-US" sz="2200"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Method Overriding</a:t>
            </a:r>
          </a:p>
        </p:txBody>
      </p:sp>
      <p:sp>
        <p:nvSpPr>
          <p:cNvPr id="7" name="Content Placeholder 6"/>
          <p:cNvSpPr>
            <a:spLocks noGrp="1"/>
          </p:cNvSpPr>
          <p:nvPr>
            <p:ph sz="quarter" idx="1"/>
          </p:nvPr>
        </p:nvSpPr>
        <p:spPr/>
        <p:txBody>
          <a:bodyPr>
            <a:noAutofit/>
          </a:bodyPr>
          <a:lstStyle/>
          <a:p>
            <a:pPr lvl="1" algn="just"/>
            <a:r>
              <a:rPr lang="en-US" sz="2200" dirty="0" smtClean="0">
                <a:hlinkClick r:id="rId2" action="ppaction://hlinkfile"/>
              </a:rPr>
              <a:t>Method overriding</a:t>
            </a:r>
            <a:r>
              <a:rPr lang="en-US" sz="2200" dirty="0" smtClean="0"/>
              <a:t> also known as Dynamic Polymorphism or runtime polymorphism.</a:t>
            </a:r>
          </a:p>
          <a:p>
            <a:pPr lvl="1" algn="just"/>
            <a:r>
              <a:rPr lang="en-US" sz="2200" dirty="0" smtClean="0"/>
              <a:t>In a class hierarchy, When a method in a sub class has same name and type as method in a super class then method in a sub class is set to be overriding the method in super class. </a:t>
            </a:r>
          </a:p>
          <a:p>
            <a:pPr lvl="1" algn="just"/>
            <a:r>
              <a:rPr lang="en-US" sz="2200" dirty="0" smtClean="0"/>
              <a:t>When an overriding method is called within sub classes it will be always refer to the method define by the sub class and method in super class will be hidden.</a:t>
            </a:r>
          </a:p>
          <a:p>
            <a:pPr lvl="1" algn="just"/>
            <a:r>
              <a:rPr lang="en-US" sz="2200" b="1" dirty="0" smtClean="0"/>
              <a:t>Rules for Method Overriding:</a:t>
            </a:r>
            <a:endParaRPr lang="en-US" sz="2200" dirty="0" smtClean="0"/>
          </a:p>
          <a:p>
            <a:pPr lvl="2" algn="just"/>
            <a:r>
              <a:rPr lang="en-US" sz="2000" dirty="0" smtClean="0"/>
              <a:t>Rule 1: The method signature must be same.</a:t>
            </a:r>
          </a:p>
          <a:p>
            <a:pPr lvl="2" algn="just"/>
            <a:r>
              <a:rPr lang="en-US" sz="2000" dirty="0" smtClean="0"/>
              <a:t>Rule 2: We cannot override a static method to make it non static</a:t>
            </a:r>
          </a:p>
          <a:p>
            <a:pPr lvl="2" algn="just"/>
            <a:r>
              <a:rPr lang="en-US" sz="2000" dirty="0" smtClean="0"/>
              <a:t>Rule 3: We cannot override private methods</a:t>
            </a:r>
          </a:p>
          <a:p>
            <a:pPr lvl="2" algn="just"/>
            <a:r>
              <a:rPr lang="en-US" sz="2000" dirty="0" smtClean="0"/>
              <a:t>Rule 4: We cannot override final method.</a:t>
            </a:r>
          </a:p>
          <a:p>
            <a:pPr lvl="1" algn="just"/>
            <a:r>
              <a:rPr lang="en-US" sz="2200" b="1" dirty="0" smtClean="0">
                <a:hlinkClick r:id="rId3" action="ppaction://hlinkfile"/>
              </a:rPr>
              <a:t>Method Overloading Vs Method Overriding</a:t>
            </a:r>
            <a:endParaRPr lang="en-US" sz="2200" dirty="0" smtClean="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‘final’ keyword</a:t>
            </a:r>
          </a:p>
        </p:txBody>
      </p:sp>
      <p:sp>
        <p:nvSpPr>
          <p:cNvPr id="7" name="Content Placeholder 6"/>
          <p:cNvSpPr>
            <a:spLocks noGrp="1"/>
          </p:cNvSpPr>
          <p:nvPr>
            <p:ph sz="quarter" idx="1"/>
          </p:nvPr>
        </p:nvSpPr>
        <p:spPr/>
        <p:txBody>
          <a:bodyPr>
            <a:noAutofit/>
          </a:bodyPr>
          <a:lstStyle/>
          <a:p>
            <a:pPr algn="just"/>
            <a:r>
              <a:rPr lang="en-US" sz="2200" dirty="0" smtClean="0"/>
              <a:t>final class: Sometime we want to prevent a class from being inherited. To do this, precede the class declaration with ‘final’ keyword. Declaring a class as ‘final’ implicitly declares all of its methods are </a:t>
            </a:r>
            <a:r>
              <a:rPr lang="en-US" sz="2200" b="1" dirty="0" smtClean="0"/>
              <a:t>final</a:t>
            </a:r>
            <a:r>
              <a:rPr lang="en-US" sz="2200" dirty="0" smtClean="0"/>
              <a:t>. </a:t>
            </a:r>
          </a:p>
          <a:p>
            <a:pPr algn="just"/>
            <a:r>
              <a:rPr lang="en-US" sz="2200" dirty="0" smtClean="0"/>
              <a:t>final method: When we want to prevent method overriding specify final as modifier at start of its declaration. Method declaration as ‘final’ cannot be overridden.</a:t>
            </a:r>
          </a:p>
          <a:p>
            <a:pPr algn="just"/>
            <a:r>
              <a:rPr lang="en-IN" sz="2200" dirty="0" smtClean="0"/>
              <a:t>final variable: Sometimes we want variable value to be constant throughout the program. To do this, precede the variable </a:t>
            </a:r>
            <a:r>
              <a:rPr lang="en-IN" sz="2200" dirty="0" err="1" smtClean="0"/>
              <a:t>datatype</a:t>
            </a:r>
            <a:r>
              <a:rPr lang="en-IN" sz="2200" dirty="0" smtClean="0"/>
              <a:t> with ‘final’ keyword.</a:t>
            </a:r>
          </a:p>
          <a:p>
            <a:pPr lvl="1" algn="just"/>
            <a:r>
              <a:rPr lang="en-IN" sz="2200" dirty="0" smtClean="0"/>
              <a:t>Example: </a:t>
            </a:r>
            <a:r>
              <a:rPr lang="en-IN" sz="2200" b="1" dirty="0" smtClean="0"/>
              <a:t>final float PI=3.14f;</a:t>
            </a:r>
            <a:endParaRPr lang="en-US" sz="2200" b="1" dirty="0" smtClean="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Abstract method and classes:</a:t>
            </a:r>
          </a:p>
        </p:txBody>
      </p:sp>
      <p:sp>
        <p:nvSpPr>
          <p:cNvPr id="7" name="Content Placeholder 6"/>
          <p:cNvSpPr>
            <a:spLocks noGrp="1"/>
          </p:cNvSpPr>
          <p:nvPr>
            <p:ph sz="quarter" idx="1"/>
          </p:nvPr>
        </p:nvSpPr>
        <p:spPr/>
        <p:txBody>
          <a:bodyPr>
            <a:noAutofit/>
          </a:bodyPr>
          <a:lstStyle/>
          <a:p>
            <a:r>
              <a:rPr lang="en-US" sz="2200" dirty="0" smtClean="0"/>
              <a:t>Abstract classes are classes from which instances are usually not created. It is basically used to contain common characteristics of its derived class.</a:t>
            </a:r>
          </a:p>
          <a:p>
            <a:r>
              <a:rPr lang="en-US" sz="2200" dirty="0" smtClean="0"/>
              <a:t> Abstract classes are generally higher up in the hierarchy and acts as super classes. </a:t>
            </a:r>
          </a:p>
          <a:p>
            <a:r>
              <a:rPr lang="en-US" sz="2200" dirty="0" smtClean="0"/>
              <a:t>Methods can also be declare as abstract. Implementation of abstract methods absolutely essential, thus making overriding compulsory. </a:t>
            </a:r>
          </a:p>
          <a:p>
            <a:r>
              <a:rPr lang="en-US" sz="2200" dirty="0" smtClean="0"/>
              <a:t>We cannot declare abstract constructor or abstract static method. </a:t>
            </a:r>
          </a:p>
          <a:p>
            <a:r>
              <a:rPr lang="en-US" sz="2200" dirty="0" smtClean="0"/>
              <a:t>This concept done using the modifier keyword called </a:t>
            </a:r>
            <a:r>
              <a:rPr lang="en-US" sz="2200" b="1" dirty="0" smtClean="0"/>
              <a:t>‘abstract’</a:t>
            </a:r>
            <a:r>
              <a:rPr lang="en-US" sz="2200" dirty="0" smtClean="0"/>
              <a:t>.</a:t>
            </a:r>
            <a:endParaRPr lang="en-US" sz="2200" dirty="0"/>
          </a:p>
        </p:txBody>
      </p:sp>
      <p:graphicFrame>
        <p:nvGraphicFramePr>
          <p:cNvPr id="4" name="Table 3"/>
          <p:cNvGraphicFramePr>
            <a:graphicFrameLocks noGrp="1"/>
          </p:cNvGraphicFramePr>
          <p:nvPr/>
        </p:nvGraphicFramePr>
        <p:xfrm>
          <a:off x="1047768" y="5357826"/>
          <a:ext cx="6096000" cy="1472184"/>
        </p:xfrm>
        <a:graphic>
          <a:graphicData uri="http://schemas.openxmlformats.org/drawingml/2006/table">
            <a:tbl>
              <a:tblPr/>
              <a:tblGrid>
                <a:gridCol w="6096000"/>
              </a:tblGrid>
              <a:tr h="202102">
                <a:tc>
                  <a:txBody>
                    <a:bodyPr/>
                    <a:lstStyle/>
                    <a:p>
                      <a:pPr algn="just">
                        <a:lnSpc>
                          <a:spcPct val="115000"/>
                        </a:lnSpc>
                        <a:spcAft>
                          <a:spcPts val="0"/>
                        </a:spcAft>
                      </a:pPr>
                      <a:r>
                        <a:rPr lang="en-US" sz="1400" b="1" dirty="0">
                          <a:latin typeface="Times New Roman"/>
                          <a:ea typeface="Times New Roman"/>
                          <a:cs typeface="Times New Roman"/>
                        </a:rPr>
                        <a:t>Syntax: </a:t>
                      </a:r>
                      <a:endParaRPr lang="en-US" sz="1400" dirty="0">
                        <a:latin typeface="Calibri"/>
                        <a:ea typeface="Times New Roman"/>
                        <a:cs typeface="Times New Roman"/>
                      </a:endParaRPr>
                    </a:p>
                  </a:txBody>
                  <a:tcPr marL="65903" marR="659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12610">
                <a:tc>
                  <a:txBody>
                    <a:bodyPr/>
                    <a:lstStyle/>
                    <a:p>
                      <a:pPr marL="457200" algn="just">
                        <a:lnSpc>
                          <a:spcPct val="115000"/>
                        </a:lnSpc>
                        <a:spcAft>
                          <a:spcPts val="0"/>
                        </a:spcAft>
                      </a:pPr>
                      <a:r>
                        <a:rPr lang="en-US" sz="1400" dirty="0">
                          <a:latin typeface="Times New Roman"/>
                          <a:ea typeface="Times New Roman"/>
                          <a:cs typeface="Times New Roman"/>
                        </a:rPr>
                        <a:t>abstract class </a:t>
                      </a:r>
                      <a:r>
                        <a:rPr lang="en-US" sz="1400" dirty="0" err="1">
                          <a:latin typeface="Times New Roman"/>
                          <a:ea typeface="Times New Roman"/>
                          <a:cs typeface="Times New Roman"/>
                        </a:rPr>
                        <a:t>Rect</a:t>
                      </a:r>
                      <a:endParaRPr lang="en-US" sz="1400" dirty="0">
                        <a:latin typeface="Calibri"/>
                        <a:ea typeface="Times New Roman"/>
                        <a:cs typeface="Times New Roman"/>
                      </a:endParaRPr>
                    </a:p>
                    <a:p>
                      <a:pPr marL="457200" algn="just">
                        <a:lnSpc>
                          <a:spcPct val="115000"/>
                        </a:lnSpc>
                        <a:spcAft>
                          <a:spcPts val="0"/>
                        </a:spcAft>
                      </a:pPr>
                      <a:r>
                        <a:rPr lang="en-US" sz="1400" dirty="0" smtClean="0">
                          <a:latin typeface="Times New Roman"/>
                          <a:ea typeface="Times New Roman"/>
                          <a:cs typeface="Times New Roman"/>
                        </a:rPr>
                        <a:t>{</a:t>
                      </a:r>
                      <a:r>
                        <a:rPr lang="en-US" sz="1400" dirty="0">
                          <a:latin typeface="Times New Roman"/>
                          <a:ea typeface="Times New Roman"/>
                          <a:cs typeface="Times New Roman"/>
                        </a:rPr>
                        <a:t>	</a:t>
                      </a:r>
                      <a:endParaRPr lang="en-US" sz="1400" dirty="0">
                        <a:latin typeface="Calibri"/>
                        <a:ea typeface="Times New Roman"/>
                        <a:cs typeface="Times New Roman"/>
                      </a:endParaRPr>
                    </a:p>
                    <a:p>
                      <a:pPr marL="457200" algn="just">
                        <a:lnSpc>
                          <a:spcPct val="115000"/>
                        </a:lnSpc>
                        <a:spcAft>
                          <a:spcPts val="0"/>
                        </a:spcAft>
                      </a:pPr>
                      <a:r>
                        <a:rPr lang="en-US" sz="1400" dirty="0">
                          <a:latin typeface="Times New Roman"/>
                          <a:ea typeface="Times New Roman"/>
                          <a:cs typeface="Times New Roman"/>
                        </a:rPr>
                        <a:t>	abstract void area();</a:t>
                      </a:r>
                      <a:endParaRPr lang="en-US" sz="1400" dirty="0">
                        <a:latin typeface="Calibri"/>
                        <a:ea typeface="Times New Roman"/>
                        <a:cs typeface="Times New Roman"/>
                      </a:endParaRPr>
                    </a:p>
                    <a:p>
                      <a:pPr marL="457200" algn="just">
                        <a:lnSpc>
                          <a:spcPct val="115000"/>
                        </a:lnSpc>
                        <a:spcAft>
                          <a:spcPts val="0"/>
                        </a:spcAft>
                      </a:pPr>
                      <a:r>
                        <a:rPr lang="en-US" sz="1400" dirty="0">
                          <a:latin typeface="Times New Roman"/>
                          <a:ea typeface="Times New Roman"/>
                          <a:cs typeface="Times New Roman"/>
                        </a:rPr>
                        <a:t>		:</a:t>
                      </a:r>
                      <a:endParaRPr lang="en-US" sz="1400" dirty="0">
                        <a:latin typeface="Calibri"/>
                        <a:ea typeface="Times New Roman"/>
                        <a:cs typeface="Times New Roman"/>
                      </a:endParaRPr>
                    </a:p>
                    <a:p>
                      <a:pPr marL="457200" algn="just">
                        <a:lnSpc>
                          <a:spcPct val="115000"/>
                        </a:lnSpc>
                        <a:spcAft>
                          <a:spcPts val="0"/>
                        </a:spcAft>
                      </a:pPr>
                      <a:r>
                        <a:rPr lang="en-US" sz="1400" dirty="0">
                          <a:latin typeface="Times New Roman"/>
                          <a:ea typeface="Times New Roman"/>
                          <a:cs typeface="Times New Roman"/>
                        </a:rPr>
                        <a:t>}</a:t>
                      </a:r>
                      <a:endParaRPr lang="en-US" sz="1400" dirty="0">
                        <a:latin typeface="Calibri"/>
                        <a:ea typeface="Times New Roman"/>
                        <a:cs typeface="Times New Roman"/>
                      </a:endParaRPr>
                    </a:p>
                  </a:txBody>
                  <a:tcPr marL="65903" marR="659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Interface</a:t>
            </a:r>
            <a:endParaRPr lang="en-IN" dirty="0"/>
          </a:p>
        </p:txBody>
      </p:sp>
      <p:sp>
        <p:nvSpPr>
          <p:cNvPr id="7" name="Content Placeholder 6"/>
          <p:cNvSpPr>
            <a:spLocks noGrp="1"/>
          </p:cNvSpPr>
          <p:nvPr>
            <p:ph sz="quarter" idx="1"/>
          </p:nvPr>
        </p:nvSpPr>
        <p:spPr/>
        <p:txBody>
          <a:bodyPr>
            <a:noAutofit/>
          </a:bodyPr>
          <a:lstStyle/>
          <a:p>
            <a:r>
              <a:rPr lang="en-US" sz="2200" dirty="0" smtClean="0"/>
              <a:t>There are situations in which you may want to define a super class that defines generalized form that will be shared by its sub classes and also leave it to each sub class to fill the details. In this situation, java uses interface technique.</a:t>
            </a:r>
            <a:endParaRPr lang="en-IN" sz="2200" dirty="0" smtClean="0"/>
          </a:p>
          <a:p>
            <a:r>
              <a:rPr lang="en-US" sz="2200" dirty="0" smtClean="0"/>
              <a:t>An Interface is basically kind of class, like classes interface contains variables and methods but with functional difference. </a:t>
            </a:r>
          </a:p>
          <a:p>
            <a:pPr lvl="1"/>
            <a:r>
              <a:rPr lang="en-US" sz="2200" dirty="0" smtClean="0"/>
              <a:t>The difference is that interface defines only </a:t>
            </a:r>
            <a:r>
              <a:rPr lang="en-US" sz="2200" b="1" dirty="0" smtClean="0"/>
              <a:t>abstract methods</a:t>
            </a:r>
            <a:r>
              <a:rPr lang="en-US" sz="2200" dirty="0" smtClean="0"/>
              <a:t> and </a:t>
            </a:r>
            <a:r>
              <a:rPr lang="en-US" sz="2200" b="1" dirty="0" smtClean="0"/>
              <a:t>final data variable</a:t>
            </a:r>
            <a:r>
              <a:rPr lang="en-US" sz="2200" dirty="0" smtClean="0"/>
              <a:t>. </a:t>
            </a:r>
          </a:p>
          <a:p>
            <a:pPr lvl="1"/>
            <a:r>
              <a:rPr lang="en-US" sz="2200" dirty="0" smtClean="0"/>
              <a:t>That is interface do not specify any code to implement this methods and data field contain only constant.</a:t>
            </a:r>
            <a:endParaRPr lang="en-IN" sz="2200" dirty="0"/>
          </a:p>
        </p:txBody>
      </p:sp>
      <p:graphicFrame>
        <p:nvGraphicFramePr>
          <p:cNvPr id="246787" name="Object 3"/>
          <p:cNvGraphicFramePr>
            <a:graphicFrameLocks noChangeAspect="1"/>
          </p:cNvGraphicFramePr>
          <p:nvPr/>
        </p:nvGraphicFramePr>
        <p:xfrm>
          <a:off x="1357290" y="5181600"/>
          <a:ext cx="1466850" cy="1676400"/>
        </p:xfrm>
        <a:graphic>
          <a:graphicData uri="http://schemas.openxmlformats.org/presentationml/2006/ole">
            <mc:AlternateContent xmlns:mc="http://schemas.openxmlformats.org/markup-compatibility/2006">
              <mc:Choice xmlns:v="urn:schemas-microsoft-com:vml" Requires="v">
                <p:oleObj spid="_x0000_s246788" name="Bitmap Image" r:id="rId3" imgW="1467055" imgH="1676634" progId="Paint.Picture">
                  <p:embed/>
                </p:oleObj>
              </mc:Choice>
              <mc:Fallback>
                <p:oleObj name="Bitmap Image" r:id="rId3" imgW="1467055" imgH="1676634" progId="Paint.Picture">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290" y="5181600"/>
                        <a:ext cx="1466850"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786" name="Object 2"/>
          <p:cNvGraphicFramePr>
            <a:graphicFrameLocks noChangeAspect="1"/>
          </p:cNvGraphicFramePr>
          <p:nvPr/>
        </p:nvGraphicFramePr>
        <p:xfrm>
          <a:off x="3857620" y="5286388"/>
          <a:ext cx="1990725" cy="1257300"/>
        </p:xfrm>
        <a:graphic>
          <a:graphicData uri="http://schemas.openxmlformats.org/presentationml/2006/ole">
            <mc:AlternateContent xmlns:mc="http://schemas.openxmlformats.org/markup-compatibility/2006">
              <mc:Choice xmlns:v="urn:schemas-microsoft-com:vml" Requires="v">
                <p:oleObj spid="_x0000_s246789" name="Bitmap Image" r:id="rId5" imgW="1991003" imgH="1257476" progId="Paint.Picture">
                  <p:embed/>
                </p:oleObj>
              </mc:Choice>
              <mc:Fallback>
                <p:oleObj name="Bitmap Image" r:id="rId5" imgW="1991003" imgH="1257476" progId="Paint.Picture">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7620" y="5286388"/>
                        <a:ext cx="1990725"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785" name="Object 1"/>
          <p:cNvGraphicFramePr>
            <a:graphicFrameLocks noChangeAspect="1"/>
          </p:cNvGraphicFramePr>
          <p:nvPr/>
        </p:nvGraphicFramePr>
        <p:xfrm>
          <a:off x="6643702" y="5429264"/>
          <a:ext cx="2085975" cy="1095375"/>
        </p:xfrm>
        <a:graphic>
          <a:graphicData uri="http://schemas.openxmlformats.org/presentationml/2006/ole">
            <mc:AlternateContent xmlns:mc="http://schemas.openxmlformats.org/markup-compatibility/2006">
              <mc:Choice xmlns:v="urn:schemas-microsoft-com:vml" Requires="v">
                <p:oleObj spid="_x0000_s246790" name="Bitmap Image" r:id="rId7" imgW="2085714" imgH="1095528" progId="Paint.Picture">
                  <p:embed/>
                </p:oleObj>
              </mc:Choice>
              <mc:Fallback>
                <p:oleObj name="Bitmap Image" r:id="rId7" imgW="2085714" imgH="1095528" progId="Paint.Picture">
                  <p:embed/>
                  <p:pic>
                    <p:nvPicPr>
                      <p:cNvPr id="0"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3702" y="5429264"/>
                        <a:ext cx="2085975"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Interface</a:t>
            </a:r>
            <a:endParaRPr lang="en-IN" dirty="0"/>
          </a:p>
        </p:txBody>
      </p:sp>
      <p:graphicFrame>
        <p:nvGraphicFramePr>
          <p:cNvPr id="4" name="Content Placeholder 3"/>
          <p:cNvGraphicFramePr>
            <a:graphicFrameLocks noGrp="1"/>
          </p:cNvGraphicFramePr>
          <p:nvPr>
            <p:ph sz="quarter" idx="1"/>
          </p:nvPr>
        </p:nvGraphicFramePr>
        <p:xfrm>
          <a:off x="500034" y="1639824"/>
          <a:ext cx="7372696" cy="5152644"/>
        </p:xfrm>
        <a:graphic>
          <a:graphicData uri="http://schemas.openxmlformats.org/drawingml/2006/table">
            <a:tbl>
              <a:tblPr/>
              <a:tblGrid>
                <a:gridCol w="7372696"/>
              </a:tblGrid>
              <a:tr h="243550">
                <a:tc>
                  <a:txBody>
                    <a:bodyPr/>
                    <a:lstStyle/>
                    <a:p>
                      <a:pPr marL="342900" lvl="0" indent="-342900" algn="just">
                        <a:lnSpc>
                          <a:spcPct val="115000"/>
                        </a:lnSpc>
                        <a:spcAft>
                          <a:spcPts val="0"/>
                        </a:spcAft>
                        <a:buFont typeface="+mj-lt"/>
                        <a:buAutoNum type="alphaLcPeriod" startAt="9"/>
                        <a:tabLst>
                          <a:tab pos="285750" algn="l"/>
                        </a:tabLst>
                      </a:pPr>
                      <a:r>
                        <a:rPr lang="en-US" sz="1400" b="1">
                          <a:latin typeface="Times New Roman"/>
                          <a:ea typeface="Times New Roman"/>
                          <a:cs typeface="Times New Roman"/>
                        </a:rPr>
                        <a:t>Defining an interface: </a:t>
                      </a:r>
                      <a:r>
                        <a:rPr lang="en-US" sz="1400">
                          <a:latin typeface="Times New Roman"/>
                          <a:ea typeface="Times New Roman"/>
                          <a:cs typeface="Times New Roman"/>
                        </a:rPr>
                        <a:t>The general form of interface is</a:t>
                      </a:r>
                      <a:endParaRPr lang="en-IN" sz="1300">
                        <a:latin typeface="Calibri"/>
                        <a:ea typeface="Times New Roman"/>
                        <a:cs typeface="Times New Roman"/>
                      </a:endParaRPr>
                    </a:p>
                  </a:txBody>
                  <a:tcPr marL="79419" marR="7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17752">
                <a:tc>
                  <a:txBody>
                    <a:bodyPr/>
                    <a:lstStyle/>
                    <a:p>
                      <a:pPr marL="285750" algn="just">
                        <a:lnSpc>
                          <a:spcPct val="115000"/>
                        </a:lnSpc>
                        <a:spcAft>
                          <a:spcPts val="0"/>
                        </a:spcAft>
                        <a:tabLst>
                          <a:tab pos="285750" algn="l"/>
                        </a:tabLst>
                      </a:pPr>
                      <a:r>
                        <a:rPr lang="en-US" sz="1400">
                          <a:latin typeface="Times New Roman"/>
                          <a:ea typeface="Times New Roman"/>
                          <a:cs typeface="Times New Roman"/>
                        </a:rPr>
                        <a:t>interface name</a:t>
                      </a:r>
                      <a:endParaRPr lang="en-IN" sz="1300">
                        <a:latin typeface="Calibri"/>
                        <a:ea typeface="Times New Roman"/>
                        <a:cs typeface="Times New Roman"/>
                      </a:endParaRPr>
                    </a:p>
                    <a:p>
                      <a:pPr marL="285750" algn="just">
                        <a:lnSpc>
                          <a:spcPct val="115000"/>
                        </a:lnSpc>
                        <a:spcAft>
                          <a:spcPts val="0"/>
                        </a:spcAft>
                        <a:tabLst>
                          <a:tab pos="285750" algn="l"/>
                        </a:tabLst>
                      </a:pPr>
                      <a:r>
                        <a:rPr lang="en-US" sz="1400">
                          <a:latin typeface="Times New Roman"/>
                          <a:ea typeface="Times New Roman"/>
                          <a:cs typeface="Times New Roman"/>
                        </a:rPr>
                        <a:t>{</a:t>
                      </a:r>
                      <a:endParaRPr lang="en-IN" sz="1300">
                        <a:latin typeface="Calibri"/>
                        <a:ea typeface="Times New Roman"/>
                        <a:cs typeface="Times New Roman"/>
                      </a:endParaRPr>
                    </a:p>
                    <a:p>
                      <a:pPr marL="285750" algn="just">
                        <a:lnSpc>
                          <a:spcPct val="115000"/>
                        </a:lnSpc>
                        <a:spcAft>
                          <a:spcPts val="0"/>
                        </a:spcAft>
                        <a:tabLst>
                          <a:tab pos="285750" algn="l"/>
                        </a:tabLst>
                      </a:pPr>
                      <a:r>
                        <a:rPr lang="en-US" sz="1400">
                          <a:latin typeface="Times New Roman"/>
                          <a:ea typeface="Times New Roman"/>
                          <a:cs typeface="Times New Roman"/>
                        </a:rPr>
                        <a:t>    Variable declaration;</a:t>
                      </a:r>
                      <a:endParaRPr lang="en-IN" sz="1300">
                        <a:latin typeface="Calibri"/>
                        <a:ea typeface="Times New Roman"/>
                        <a:cs typeface="Times New Roman"/>
                      </a:endParaRPr>
                    </a:p>
                    <a:p>
                      <a:pPr marL="285750" algn="just">
                        <a:lnSpc>
                          <a:spcPct val="115000"/>
                        </a:lnSpc>
                        <a:spcAft>
                          <a:spcPts val="0"/>
                        </a:spcAft>
                        <a:tabLst>
                          <a:tab pos="285750" algn="l"/>
                        </a:tabLst>
                      </a:pPr>
                      <a:r>
                        <a:rPr lang="en-US" sz="1400">
                          <a:latin typeface="Times New Roman"/>
                          <a:ea typeface="Times New Roman"/>
                          <a:cs typeface="Times New Roman"/>
                        </a:rPr>
                        <a:t>    Method declaration;</a:t>
                      </a:r>
                      <a:endParaRPr lang="en-IN" sz="1300">
                        <a:latin typeface="Calibri"/>
                        <a:ea typeface="Times New Roman"/>
                        <a:cs typeface="Times New Roman"/>
                      </a:endParaRPr>
                    </a:p>
                    <a:p>
                      <a:pPr marL="285750" algn="just">
                        <a:lnSpc>
                          <a:spcPct val="115000"/>
                        </a:lnSpc>
                        <a:spcAft>
                          <a:spcPts val="0"/>
                        </a:spcAft>
                        <a:tabLst>
                          <a:tab pos="285750" algn="l"/>
                        </a:tabLst>
                      </a:pPr>
                      <a:r>
                        <a:rPr lang="en-US" sz="1400">
                          <a:latin typeface="Times New Roman"/>
                          <a:ea typeface="Times New Roman"/>
                          <a:cs typeface="Times New Roman"/>
                        </a:rPr>
                        <a:t>}</a:t>
                      </a:r>
                      <a:endParaRPr lang="en-IN" sz="1300">
                        <a:latin typeface="Calibri"/>
                        <a:ea typeface="Times New Roman"/>
                        <a:cs typeface="Times New Roman"/>
                      </a:endParaRPr>
                    </a:p>
                  </a:txBody>
                  <a:tcPr marL="79419" marR="7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17752">
                <a:tc>
                  <a:txBody>
                    <a:bodyPr/>
                    <a:lstStyle/>
                    <a:p>
                      <a:pPr marL="457200" algn="just">
                        <a:lnSpc>
                          <a:spcPct val="115000"/>
                        </a:lnSpc>
                        <a:spcAft>
                          <a:spcPts val="0"/>
                        </a:spcAft>
                        <a:tabLst>
                          <a:tab pos="285750" algn="l"/>
                        </a:tabLst>
                      </a:pPr>
                      <a:r>
                        <a:rPr lang="en-US" sz="1400" dirty="0">
                          <a:latin typeface="Times New Roman"/>
                          <a:ea typeface="Times New Roman"/>
                          <a:cs typeface="Times New Roman"/>
                        </a:rPr>
                        <a:t>Here ‘</a:t>
                      </a:r>
                      <a:r>
                        <a:rPr lang="en-US" sz="1400" b="1" dirty="0">
                          <a:latin typeface="Times New Roman"/>
                          <a:ea typeface="Times New Roman"/>
                          <a:cs typeface="Times New Roman"/>
                        </a:rPr>
                        <a:t>interface</a:t>
                      </a:r>
                      <a:r>
                        <a:rPr lang="en-US" sz="1400" dirty="0">
                          <a:latin typeface="Times New Roman"/>
                          <a:ea typeface="Times New Roman"/>
                          <a:cs typeface="Times New Roman"/>
                        </a:rPr>
                        <a:t>’ is the keyword and ‘name’ is any valid Java identifier. In an interface, all variables are declared as constant it means that they cannot change by implementing class. Variable are declared as follows:	</a:t>
                      </a:r>
                      <a:r>
                        <a:rPr lang="en-US" sz="1400" b="1" dirty="0">
                          <a:latin typeface="Times New Roman"/>
                          <a:ea typeface="Times New Roman"/>
                          <a:cs typeface="Times New Roman"/>
                        </a:rPr>
                        <a:t>static final type variable = value;</a:t>
                      </a:r>
                      <a:endParaRPr lang="en-IN" sz="1300" dirty="0">
                        <a:latin typeface="Calibri"/>
                        <a:ea typeface="Times New Roman"/>
                        <a:cs typeface="Times New Roman"/>
                      </a:endParaRPr>
                    </a:p>
                    <a:p>
                      <a:pPr marL="457200" algn="just">
                        <a:lnSpc>
                          <a:spcPct val="115000"/>
                        </a:lnSpc>
                        <a:spcAft>
                          <a:spcPts val="0"/>
                        </a:spcAft>
                        <a:tabLst>
                          <a:tab pos="285750" algn="l"/>
                        </a:tabLst>
                      </a:pPr>
                      <a:r>
                        <a:rPr lang="en-US" sz="1400" dirty="0">
                          <a:latin typeface="Times New Roman"/>
                          <a:ea typeface="Times New Roman"/>
                          <a:cs typeface="Times New Roman"/>
                        </a:rPr>
                        <a:t>The methods are declared with no body, they are usually called as abstract methods. Methods are declared as follows:	</a:t>
                      </a:r>
                      <a:r>
                        <a:rPr lang="en-US" sz="1400" b="1" dirty="0" err="1">
                          <a:latin typeface="Times New Roman"/>
                          <a:ea typeface="Times New Roman"/>
                          <a:cs typeface="Times New Roman"/>
                        </a:rPr>
                        <a:t>return_type</a:t>
                      </a:r>
                      <a:r>
                        <a:rPr lang="en-US" sz="1400" b="1" dirty="0">
                          <a:latin typeface="Times New Roman"/>
                          <a:ea typeface="Times New Roman"/>
                          <a:cs typeface="Times New Roman"/>
                        </a:rPr>
                        <a:t> </a:t>
                      </a:r>
                      <a:r>
                        <a:rPr lang="en-US" sz="1400" b="1" dirty="0" err="1">
                          <a:latin typeface="Times New Roman"/>
                          <a:ea typeface="Times New Roman"/>
                          <a:cs typeface="Times New Roman"/>
                        </a:rPr>
                        <a:t>method_name</a:t>
                      </a:r>
                      <a:r>
                        <a:rPr lang="en-US" sz="1400" b="1" dirty="0">
                          <a:latin typeface="Times New Roman"/>
                          <a:ea typeface="Times New Roman"/>
                          <a:cs typeface="Times New Roman"/>
                        </a:rPr>
                        <a:t>(parameter list);</a:t>
                      </a:r>
                      <a:endParaRPr lang="en-IN" sz="1300" dirty="0">
                        <a:latin typeface="Calibri"/>
                        <a:ea typeface="Times New Roman"/>
                        <a:cs typeface="Times New Roman"/>
                      </a:endParaRPr>
                    </a:p>
                  </a:txBody>
                  <a:tcPr marL="79419" marR="7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7101">
                <a:tc>
                  <a:txBody>
                    <a:bodyPr/>
                    <a:lstStyle/>
                    <a:p>
                      <a:pPr marL="400050" lvl="0" indent="-400050" algn="just">
                        <a:lnSpc>
                          <a:spcPct val="115000"/>
                        </a:lnSpc>
                        <a:spcAft>
                          <a:spcPts val="0"/>
                        </a:spcAft>
                        <a:buFont typeface="+mj-lt"/>
                        <a:buAutoNum type="romanLcPeriod" startAt="2"/>
                        <a:tabLst>
                          <a:tab pos="285750" algn="l"/>
                        </a:tabLst>
                      </a:pPr>
                      <a:r>
                        <a:rPr lang="en-US" sz="1400" b="1" dirty="0">
                          <a:latin typeface="Times New Roman"/>
                          <a:ea typeface="Times New Roman"/>
                          <a:cs typeface="Times New Roman"/>
                        </a:rPr>
                        <a:t>Implementation an interface:</a:t>
                      </a:r>
                      <a:r>
                        <a:rPr lang="en-US" sz="1400" dirty="0">
                          <a:latin typeface="Times New Roman"/>
                          <a:ea typeface="Times New Roman"/>
                          <a:cs typeface="Times New Roman"/>
                        </a:rPr>
                        <a:t> Interface are used as super class whose properties are inherited by subclass. It is necessary to create a sub class that inherits the given interface</a:t>
                      </a:r>
                      <a:endParaRPr lang="en-IN" sz="1300" dirty="0">
                        <a:latin typeface="Calibri"/>
                        <a:ea typeface="Times New Roman"/>
                        <a:cs typeface="Times New Roman"/>
                      </a:endParaRPr>
                    </a:p>
                  </a:txBody>
                  <a:tcPr marL="79419" marR="7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48404">
                <a:tc>
                  <a:txBody>
                    <a:bodyPr/>
                    <a:lstStyle/>
                    <a:p>
                      <a:pPr algn="just">
                        <a:lnSpc>
                          <a:spcPct val="115000"/>
                        </a:lnSpc>
                        <a:spcAft>
                          <a:spcPts val="0"/>
                        </a:spcAft>
                        <a:tabLst>
                          <a:tab pos="285750" algn="l"/>
                        </a:tabLst>
                      </a:pPr>
                      <a:r>
                        <a:rPr lang="en-US" sz="1400" dirty="0">
                          <a:latin typeface="Times New Roman"/>
                          <a:ea typeface="Times New Roman"/>
                          <a:cs typeface="Times New Roman"/>
                        </a:rPr>
                        <a:t>Syntax 1:	class </a:t>
                      </a:r>
                      <a:r>
                        <a:rPr lang="en-US" sz="1400" dirty="0" err="1">
                          <a:latin typeface="Times New Roman"/>
                          <a:ea typeface="Times New Roman"/>
                          <a:cs typeface="Times New Roman"/>
                        </a:rPr>
                        <a:t>class_name</a:t>
                      </a:r>
                      <a:r>
                        <a:rPr lang="en-US" sz="1400" dirty="0">
                          <a:latin typeface="Times New Roman"/>
                          <a:ea typeface="Times New Roman"/>
                          <a:cs typeface="Times New Roman"/>
                        </a:rPr>
                        <a:t> implements </a:t>
                      </a:r>
                      <a:r>
                        <a:rPr lang="en-US" sz="1400" dirty="0" err="1">
                          <a:latin typeface="Times New Roman"/>
                          <a:ea typeface="Times New Roman"/>
                          <a:cs typeface="Times New Roman"/>
                        </a:rPr>
                        <a:t>interface_name</a:t>
                      </a:r>
                      <a:endParaRPr lang="en-IN" sz="1300" dirty="0">
                        <a:latin typeface="Calibri"/>
                        <a:ea typeface="Times New Roman"/>
                        <a:cs typeface="Times New Roman"/>
                      </a:endParaRPr>
                    </a:p>
                    <a:p>
                      <a:pPr algn="just">
                        <a:lnSpc>
                          <a:spcPct val="115000"/>
                        </a:lnSpc>
                        <a:spcAft>
                          <a:spcPts val="0"/>
                        </a:spcAft>
                        <a:tabLst>
                          <a:tab pos="285750" algn="l"/>
                        </a:tabLst>
                      </a:pPr>
                      <a:r>
                        <a:rPr lang="en-US" sz="1400" dirty="0">
                          <a:latin typeface="Times New Roman"/>
                          <a:ea typeface="Times New Roman"/>
                          <a:cs typeface="Times New Roman"/>
                        </a:rPr>
                        <a:t>			{	     …….</a:t>
                      </a:r>
                      <a:endParaRPr lang="en-IN" sz="1300" dirty="0">
                        <a:latin typeface="Calibri"/>
                        <a:ea typeface="Times New Roman"/>
                        <a:cs typeface="Times New Roman"/>
                      </a:endParaRPr>
                    </a:p>
                    <a:p>
                      <a:pPr algn="just">
                        <a:lnSpc>
                          <a:spcPct val="115000"/>
                        </a:lnSpc>
                        <a:spcAft>
                          <a:spcPts val="0"/>
                        </a:spcAft>
                        <a:tabLst>
                          <a:tab pos="285750" algn="l"/>
                        </a:tabLst>
                      </a:pPr>
                      <a:r>
                        <a:rPr lang="en-US" sz="1400" dirty="0">
                          <a:latin typeface="Times New Roman"/>
                          <a:ea typeface="Times New Roman"/>
                          <a:cs typeface="Times New Roman"/>
                        </a:rPr>
                        <a:t>				Body of class</a:t>
                      </a:r>
                      <a:endParaRPr lang="en-IN" sz="1300" dirty="0">
                        <a:latin typeface="Calibri"/>
                        <a:ea typeface="Times New Roman"/>
                        <a:cs typeface="Times New Roman"/>
                      </a:endParaRPr>
                    </a:p>
                    <a:p>
                      <a:pPr algn="just">
                        <a:lnSpc>
                          <a:spcPct val="115000"/>
                        </a:lnSpc>
                        <a:spcAft>
                          <a:spcPts val="0"/>
                        </a:spcAft>
                        <a:tabLst>
                          <a:tab pos="285750" algn="l"/>
                        </a:tabLst>
                      </a:pPr>
                      <a:r>
                        <a:rPr lang="en-US" sz="1400" dirty="0">
                          <a:latin typeface="Times New Roman"/>
                          <a:ea typeface="Times New Roman"/>
                          <a:cs typeface="Times New Roman"/>
                        </a:rPr>
                        <a:t>			}</a:t>
                      </a:r>
                      <a:endParaRPr lang="en-IN" sz="1300" dirty="0">
                        <a:latin typeface="Calibri"/>
                        <a:ea typeface="Times New Roman"/>
                        <a:cs typeface="Times New Roman"/>
                      </a:endParaRPr>
                    </a:p>
                    <a:p>
                      <a:pPr algn="just">
                        <a:lnSpc>
                          <a:spcPct val="115000"/>
                        </a:lnSpc>
                        <a:spcAft>
                          <a:spcPts val="0"/>
                        </a:spcAft>
                        <a:tabLst>
                          <a:tab pos="285750" algn="l"/>
                        </a:tabLst>
                      </a:pPr>
                      <a:r>
                        <a:rPr lang="en-US" sz="1400" dirty="0">
                          <a:latin typeface="Times New Roman"/>
                          <a:ea typeface="Times New Roman"/>
                          <a:cs typeface="Times New Roman"/>
                        </a:rPr>
                        <a:t>Syntax 2 :	class </a:t>
                      </a:r>
                      <a:r>
                        <a:rPr lang="en-US" sz="1400" dirty="0" err="1">
                          <a:latin typeface="Times New Roman"/>
                          <a:ea typeface="Times New Roman"/>
                          <a:cs typeface="Times New Roman"/>
                        </a:rPr>
                        <a:t>class_name</a:t>
                      </a:r>
                      <a:r>
                        <a:rPr lang="en-US" sz="1400" dirty="0">
                          <a:latin typeface="Times New Roman"/>
                          <a:ea typeface="Times New Roman"/>
                          <a:cs typeface="Times New Roman"/>
                        </a:rPr>
                        <a:t> extends </a:t>
                      </a:r>
                      <a:r>
                        <a:rPr lang="en-US" sz="1400" dirty="0" err="1">
                          <a:latin typeface="Times New Roman"/>
                          <a:ea typeface="Times New Roman"/>
                          <a:cs typeface="Times New Roman"/>
                        </a:rPr>
                        <a:t>super_class</a:t>
                      </a:r>
                      <a:r>
                        <a:rPr lang="en-US" sz="1400" dirty="0">
                          <a:latin typeface="Times New Roman"/>
                          <a:ea typeface="Times New Roman"/>
                          <a:cs typeface="Times New Roman"/>
                        </a:rPr>
                        <a:t> implements interface1, interface2,…</a:t>
                      </a:r>
                      <a:endParaRPr lang="en-IN" sz="1300" dirty="0">
                        <a:latin typeface="Calibri"/>
                        <a:ea typeface="Times New Roman"/>
                        <a:cs typeface="Times New Roman"/>
                      </a:endParaRPr>
                    </a:p>
                    <a:p>
                      <a:pPr algn="just">
                        <a:lnSpc>
                          <a:spcPct val="115000"/>
                        </a:lnSpc>
                        <a:spcAft>
                          <a:spcPts val="0"/>
                        </a:spcAft>
                        <a:tabLst>
                          <a:tab pos="285750" algn="l"/>
                        </a:tabLst>
                      </a:pPr>
                      <a:r>
                        <a:rPr lang="en-US" sz="1400" dirty="0">
                          <a:latin typeface="Times New Roman"/>
                          <a:ea typeface="Times New Roman"/>
                          <a:cs typeface="Times New Roman"/>
                        </a:rPr>
                        <a:t>			{	     …….</a:t>
                      </a:r>
                      <a:endParaRPr lang="en-IN" sz="1300" dirty="0">
                        <a:latin typeface="Calibri"/>
                        <a:ea typeface="Times New Roman"/>
                        <a:cs typeface="Times New Roman"/>
                      </a:endParaRPr>
                    </a:p>
                    <a:p>
                      <a:pPr algn="just">
                        <a:lnSpc>
                          <a:spcPct val="115000"/>
                        </a:lnSpc>
                        <a:spcAft>
                          <a:spcPts val="0"/>
                        </a:spcAft>
                        <a:tabLst>
                          <a:tab pos="285750" algn="l"/>
                        </a:tabLst>
                      </a:pPr>
                      <a:r>
                        <a:rPr lang="en-US" sz="1400" dirty="0">
                          <a:latin typeface="Times New Roman"/>
                          <a:ea typeface="Times New Roman"/>
                          <a:cs typeface="Times New Roman"/>
                        </a:rPr>
                        <a:t>				Body of class</a:t>
                      </a:r>
                      <a:endParaRPr lang="en-IN" sz="1300" dirty="0">
                        <a:latin typeface="Calibri"/>
                        <a:ea typeface="Times New Roman"/>
                        <a:cs typeface="Times New Roman"/>
                      </a:endParaRPr>
                    </a:p>
                    <a:p>
                      <a:pPr algn="just">
                        <a:lnSpc>
                          <a:spcPct val="115000"/>
                        </a:lnSpc>
                        <a:spcAft>
                          <a:spcPts val="0"/>
                        </a:spcAft>
                        <a:tabLst>
                          <a:tab pos="285750" algn="l"/>
                        </a:tabLst>
                      </a:pPr>
                      <a:r>
                        <a:rPr lang="en-US" sz="1400" dirty="0">
                          <a:latin typeface="Times New Roman"/>
                          <a:ea typeface="Times New Roman"/>
                          <a:cs typeface="Times New Roman"/>
                        </a:rPr>
                        <a:t>			}</a:t>
                      </a:r>
                      <a:endParaRPr lang="en-IN" sz="1300" dirty="0">
                        <a:latin typeface="Calibri"/>
                        <a:ea typeface="Times New Roman"/>
                        <a:cs typeface="Times New Roman"/>
                      </a:endParaRPr>
                    </a:p>
                  </a:txBody>
                  <a:tcPr marL="79419" marR="7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Inheritance</a:t>
            </a:r>
            <a:endParaRPr lang="en-IN" dirty="0"/>
          </a:p>
        </p:txBody>
      </p:sp>
      <p:sp>
        <p:nvSpPr>
          <p:cNvPr id="7" name="Content Placeholder 6"/>
          <p:cNvSpPr>
            <a:spLocks noGrp="1"/>
          </p:cNvSpPr>
          <p:nvPr>
            <p:ph sz="quarter" idx="1"/>
          </p:nvPr>
        </p:nvSpPr>
        <p:spPr/>
        <p:txBody>
          <a:bodyPr>
            <a:noAutofit/>
          </a:bodyPr>
          <a:lstStyle/>
          <a:p>
            <a:r>
              <a:rPr lang="en-US" sz="2400" dirty="0" smtClean="0"/>
              <a:t>The advantage of inheritance is that it enables Multiple Inheritance as it is possible for a class to implement more than one interface. </a:t>
            </a:r>
          </a:p>
          <a:p>
            <a:r>
              <a:rPr lang="en-US" sz="2400" dirty="0" smtClean="0"/>
              <a:t>In multiple inheritance; subclass is derived from multiple super classes.</a:t>
            </a:r>
          </a:p>
          <a:p>
            <a:r>
              <a:rPr lang="en-US" sz="2400" dirty="0" smtClean="0">
                <a:hlinkClick r:id="rId2" action="ppaction://hlinkfile"/>
              </a:rPr>
              <a:t>For Example</a:t>
            </a:r>
            <a:endParaRPr lang="en-IN" sz="2400"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 Classes Vs Interfaces</a:t>
            </a:r>
            <a:endParaRPr lang="en-IN" dirty="0"/>
          </a:p>
        </p:txBody>
      </p:sp>
      <p:graphicFrame>
        <p:nvGraphicFramePr>
          <p:cNvPr id="4" name="Content Placeholder 3"/>
          <p:cNvGraphicFramePr>
            <a:graphicFrameLocks noGrp="1"/>
          </p:cNvGraphicFramePr>
          <p:nvPr>
            <p:ph sz="quarter" idx="1"/>
          </p:nvPr>
        </p:nvGraphicFramePr>
        <p:xfrm>
          <a:off x="0" y="1500174"/>
          <a:ext cx="9144000" cy="5357826"/>
        </p:xfrm>
        <a:graphic>
          <a:graphicData uri="http://schemas.openxmlformats.org/drawingml/2006/table">
            <a:tbl>
              <a:tblPr/>
              <a:tblGrid>
                <a:gridCol w="1698826"/>
                <a:gridCol w="3735401"/>
                <a:gridCol w="3709773"/>
              </a:tblGrid>
              <a:tr h="369505">
                <a:tc>
                  <a:txBody>
                    <a:bodyPr/>
                    <a:lstStyle/>
                    <a:p>
                      <a:pPr marL="457200" algn="ctr">
                        <a:lnSpc>
                          <a:spcPct val="115000"/>
                        </a:lnSpc>
                        <a:spcAft>
                          <a:spcPts val="0"/>
                        </a:spcAft>
                      </a:pPr>
                      <a:r>
                        <a:rPr lang="en-US" sz="1200" b="1" dirty="0" smtClean="0">
                          <a:latin typeface="Times New Roman"/>
                          <a:ea typeface="Times New Roman"/>
                          <a:cs typeface="Times New Roman"/>
                        </a:rPr>
                        <a:t>Parameters</a:t>
                      </a:r>
                      <a:endParaRPr lang="en-IN" sz="1200" dirty="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1200" b="1">
                          <a:latin typeface="Times New Roman"/>
                          <a:ea typeface="Times New Roman"/>
                          <a:cs typeface="Times New Roman"/>
                        </a:rPr>
                        <a:t>Abstract Classes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1200" b="1">
                          <a:latin typeface="Times New Roman"/>
                          <a:ea typeface="Times New Roman"/>
                          <a:cs typeface="Times New Roman"/>
                        </a:rPr>
                        <a:t>Interfaces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4259">
                <a:tc>
                  <a:txBody>
                    <a:bodyPr/>
                    <a:lstStyle/>
                    <a:p>
                      <a:pPr marL="457200" algn="ctr">
                        <a:lnSpc>
                          <a:spcPct val="115000"/>
                        </a:lnSpc>
                        <a:spcAft>
                          <a:spcPts val="0"/>
                        </a:spcAft>
                      </a:pPr>
                      <a:r>
                        <a:rPr lang="en-US" sz="1200" b="1" dirty="0">
                          <a:latin typeface="Times New Roman"/>
                          <a:ea typeface="Times New Roman"/>
                          <a:cs typeface="Times New Roman"/>
                        </a:rPr>
                        <a:t>Variable</a:t>
                      </a:r>
                      <a:endParaRPr lang="en-IN" sz="1200" dirty="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Abstract class can contain instance variables also.</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Interface cannot contain instance variables. It contains only constants.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4259">
                <a:tc>
                  <a:txBody>
                    <a:bodyPr/>
                    <a:lstStyle/>
                    <a:p>
                      <a:pPr marL="457200" algn="ctr">
                        <a:lnSpc>
                          <a:spcPct val="115000"/>
                        </a:lnSpc>
                        <a:spcAft>
                          <a:spcPts val="0"/>
                        </a:spcAft>
                      </a:pPr>
                      <a:r>
                        <a:rPr lang="en-US" sz="1200" b="1">
                          <a:latin typeface="Times New Roman"/>
                          <a:ea typeface="Times New Roman"/>
                          <a:cs typeface="Times New Roman"/>
                        </a:rPr>
                        <a:t>Methods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dirty="0">
                          <a:latin typeface="Times New Roman"/>
                          <a:ea typeface="Times New Roman"/>
                          <a:cs typeface="Times New Roman"/>
                        </a:rPr>
                        <a:t>Abstract class can contain some abstract methods and some concrete methods.</a:t>
                      </a:r>
                      <a:endParaRPr lang="en-IN" sz="1200" dirty="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Interface can contain only abstract methods.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9010">
                <a:tc>
                  <a:txBody>
                    <a:bodyPr/>
                    <a:lstStyle/>
                    <a:p>
                      <a:pPr marL="457200" algn="ctr">
                        <a:lnSpc>
                          <a:spcPct val="115000"/>
                        </a:lnSpc>
                        <a:spcAft>
                          <a:spcPts val="0"/>
                        </a:spcAft>
                      </a:pPr>
                      <a:r>
                        <a:rPr lang="en-US" sz="1200" b="1">
                          <a:latin typeface="Times New Roman"/>
                          <a:ea typeface="Times New Roman"/>
                          <a:cs typeface="Times New Roman"/>
                        </a:rPr>
                        <a:t>Implementation</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All the abstract methods of the abstract class should be implemented in its sub classes.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All the abstract methods of the interface should be implemented in its implemented classes.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23763">
                <a:tc>
                  <a:txBody>
                    <a:bodyPr/>
                    <a:lstStyle/>
                    <a:p>
                      <a:pPr marL="457200" algn="ctr">
                        <a:lnSpc>
                          <a:spcPct val="115000"/>
                        </a:lnSpc>
                        <a:spcAft>
                          <a:spcPts val="0"/>
                        </a:spcAft>
                      </a:pPr>
                      <a:r>
                        <a:rPr lang="en-US" sz="1200" b="1">
                          <a:latin typeface="Times New Roman"/>
                          <a:ea typeface="Times New Roman"/>
                          <a:cs typeface="Times New Roman"/>
                        </a:rPr>
                        <a:t>Constructors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dirty="0">
                          <a:latin typeface="Times New Roman"/>
                          <a:ea typeface="Times New Roman"/>
                          <a:cs typeface="Times New Roman"/>
                        </a:rPr>
                        <a:t>Abstract classes can have constructors and those constructors are always called when concrete subclass is instantiated.</a:t>
                      </a:r>
                      <a:endParaRPr lang="en-IN" sz="1200" dirty="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Interface do not have constructor.</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08515">
                <a:tc>
                  <a:txBody>
                    <a:bodyPr/>
                    <a:lstStyle/>
                    <a:p>
                      <a:pPr marL="457200" algn="ctr">
                        <a:lnSpc>
                          <a:spcPct val="115000"/>
                        </a:lnSpc>
                        <a:spcAft>
                          <a:spcPts val="0"/>
                        </a:spcAft>
                      </a:pPr>
                      <a:r>
                        <a:rPr lang="en-US" sz="1200" b="1">
                          <a:latin typeface="Times New Roman"/>
                          <a:ea typeface="Times New Roman"/>
                          <a:cs typeface="Times New Roman"/>
                        </a:rPr>
                        <a:t>Changes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dirty="0">
                          <a:latin typeface="Times New Roman"/>
                          <a:ea typeface="Times New Roman"/>
                          <a:cs typeface="Times New Roman"/>
                        </a:rPr>
                        <a:t>If a new method is added to an abstract class, then there is an option of providing implementation and therefore all existing code works without any change.</a:t>
                      </a:r>
                      <a:endParaRPr lang="en-IN" sz="1200" dirty="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If a new method is added to an interface, then it is required to track down all the implementations of the interface and define it.</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08515">
                <a:tc>
                  <a:txBody>
                    <a:bodyPr/>
                    <a:lstStyle/>
                    <a:p>
                      <a:pPr marL="457200" algn="ctr">
                        <a:lnSpc>
                          <a:spcPct val="115000"/>
                        </a:lnSpc>
                        <a:spcAft>
                          <a:spcPts val="0"/>
                        </a:spcAft>
                      </a:pPr>
                      <a:r>
                        <a:rPr lang="en-US" sz="1200" b="1">
                          <a:latin typeface="Times New Roman"/>
                          <a:ea typeface="Times New Roman"/>
                          <a:cs typeface="Times New Roman"/>
                        </a:rPr>
                        <a:t>Usefulness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Abstract classes are useful in situation when some general methods should be implemented and specialization behavior should be implemented by the subclasses.</a:t>
                      </a:r>
                      <a:endParaRPr lang="en-IN" sz="120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dirty="0">
                          <a:latin typeface="Times New Roman"/>
                          <a:ea typeface="Times New Roman"/>
                          <a:cs typeface="Times New Roman"/>
                        </a:rPr>
                        <a:t>Interfaces are useful in a situation when all its methods need to be implemented by subclasses.</a:t>
                      </a:r>
                      <a:endParaRPr lang="en-IN" sz="1200" dirty="0">
                        <a:latin typeface="Calibri"/>
                        <a:ea typeface="Times New Roman"/>
                        <a:cs typeface="Times New Roman"/>
                      </a:endParaRPr>
                    </a:p>
                  </a:txBody>
                  <a:tcPr marL="50552" marR="50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Packages</a:t>
            </a:r>
            <a:endParaRPr lang="en-IN" dirty="0"/>
          </a:p>
        </p:txBody>
      </p:sp>
      <p:sp>
        <p:nvSpPr>
          <p:cNvPr id="3" name="Content Placeholder 2"/>
          <p:cNvSpPr>
            <a:spLocks noGrp="1"/>
          </p:cNvSpPr>
          <p:nvPr>
            <p:ph sz="quarter" idx="1"/>
          </p:nvPr>
        </p:nvSpPr>
        <p:spPr/>
        <p:txBody>
          <a:bodyPr>
            <a:normAutofit/>
          </a:bodyPr>
          <a:lstStyle/>
          <a:p>
            <a:r>
              <a:rPr lang="en-IN" sz="3500" dirty="0" smtClean="0"/>
              <a:t>Java API Packages</a:t>
            </a:r>
          </a:p>
          <a:p>
            <a:r>
              <a:rPr lang="en-IN" sz="3200" dirty="0" smtClean="0"/>
              <a:t>Importing Package</a:t>
            </a:r>
          </a:p>
          <a:p>
            <a:r>
              <a:rPr lang="en-IN" sz="3200" dirty="0" smtClean="0"/>
              <a:t>Creating and Importing User Defined Package</a:t>
            </a:r>
          </a:p>
          <a:p>
            <a:endParaRPr lang="en-IN" sz="3200" dirty="0" smtClean="0"/>
          </a:p>
          <a:p>
            <a:endParaRPr lang="en-IN" sz="3200" dirty="0" smtClean="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API Packages</a:t>
            </a:r>
          </a:p>
        </p:txBody>
      </p:sp>
      <p:graphicFrame>
        <p:nvGraphicFramePr>
          <p:cNvPr id="5" name="Content Placeholder 4"/>
          <p:cNvGraphicFramePr>
            <a:graphicFrameLocks noGrp="1"/>
          </p:cNvGraphicFramePr>
          <p:nvPr>
            <p:ph sz="quarter" idx="1"/>
          </p:nvPr>
        </p:nvGraphicFramePr>
        <p:xfrm>
          <a:off x="1071538" y="3714752"/>
          <a:ext cx="7286676" cy="2857520"/>
        </p:xfrm>
        <a:graphic>
          <a:graphicData uri="http://schemas.openxmlformats.org/drawingml/2006/table">
            <a:tbl>
              <a:tblPr/>
              <a:tblGrid>
                <a:gridCol w="1357322"/>
                <a:gridCol w="5929354"/>
              </a:tblGrid>
              <a:tr h="285752">
                <a:tc gridSpan="2">
                  <a:txBody>
                    <a:bodyPr/>
                    <a:lstStyle/>
                    <a:p>
                      <a:pPr marL="457200" algn="just">
                        <a:lnSpc>
                          <a:spcPct val="115000"/>
                        </a:lnSpc>
                        <a:spcAft>
                          <a:spcPts val="0"/>
                        </a:spcAft>
                      </a:pPr>
                      <a:r>
                        <a:rPr lang="en-US" sz="1200" b="1">
                          <a:latin typeface="Times New Roman"/>
                          <a:ea typeface="Times New Roman"/>
                          <a:cs typeface="Times New Roman"/>
                        </a:rPr>
                        <a:t>Different API Packages</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r>
              <a:tr h="571504">
                <a:tc>
                  <a:txBody>
                    <a:bodyPr/>
                    <a:lstStyle/>
                    <a:p>
                      <a:pPr marL="457200" algn="just">
                        <a:lnSpc>
                          <a:spcPct val="115000"/>
                        </a:lnSpc>
                        <a:spcAft>
                          <a:spcPts val="0"/>
                        </a:spcAft>
                      </a:pPr>
                      <a:r>
                        <a:rPr lang="en-US" sz="1200">
                          <a:latin typeface="Times New Roman"/>
                          <a:ea typeface="Times New Roman"/>
                          <a:cs typeface="Times New Roman"/>
                        </a:rPr>
                        <a:t>java.lang</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These classes are that java compiler itself uses and therefore they are automatically imported. They include classes for primitive types, String, threads etc.</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a:txBody>
                    <a:bodyPr/>
                    <a:lstStyle/>
                    <a:p>
                      <a:pPr marL="457200" algn="just">
                        <a:lnSpc>
                          <a:spcPct val="115000"/>
                        </a:lnSpc>
                        <a:spcAft>
                          <a:spcPts val="0"/>
                        </a:spcAft>
                      </a:pPr>
                      <a:r>
                        <a:rPr lang="en-US" sz="1200">
                          <a:latin typeface="Times New Roman"/>
                          <a:ea typeface="Times New Roman"/>
                          <a:cs typeface="Times New Roman"/>
                        </a:rPr>
                        <a:t>java.util</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This package contains vector table, hash table, date, etc.</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a:txBody>
                    <a:bodyPr/>
                    <a:lstStyle/>
                    <a:p>
                      <a:pPr marL="457200" algn="just">
                        <a:lnSpc>
                          <a:spcPct val="115000"/>
                        </a:lnSpc>
                        <a:spcAft>
                          <a:spcPts val="0"/>
                        </a:spcAft>
                      </a:pPr>
                      <a:r>
                        <a:rPr lang="en-US" sz="1200">
                          <a:latin typeface="Times New Roman"/>
                          <a:ea typeface="Times New Roman"/>
                          <a:cs typeface="Times New Roman"/>
                        </a:rPr>
                        <a:t>java.io</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They provide the facilities for input and output of data and files.</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a:txBody>
                    <a:bodyPr/>
                    <a:lstStyle/>
                    <a:p>
                      <a:pPr marL="457200" algn="just">
                        <a:lnSpc>
                          <a:spcPct val="115000"/>
                        </a:lnSpc>
                        <a:spcAft>
                          <a:spcPts val="0"/>
                        </a:spcAft>
                      </a:pPr>
                      <a:r>
                        <a:rPr lang="en-US" sz="1200">
                          <a:latin typeface="Times New Roman"/>
                          <a:ea typeface="Times New Roman"/>
                          <a:cs typeface="Times New Roman"/>
                        </a:rPr>
                        <a:t>java.awt</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dirty="0">
                          <a:latin typeface="Times New Roman"/>
                          <a:ea typeface="Times New Roman"/>
                          <a:cs typeface="Times New Roman"/>
                        </a:rPr>
                        <a:t>Set of classes for implementing graphical user interface. They include classes for windows, button, lists, menus and so on.</a:t>
                      </a:r>
                      <a:endParaRPr lang="en-IN"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a:txBody>
                    <a:bodyPr/>
                    <a:lstStyle/>
                    <a:p>
                      <a:pPr marL="457200" algn="just">
                        <a:lnSpc>
                          <a:spcPct val="115000"/>
                        </a:lnSpc>
                        <a:spcAft>
                          <a:spcPts val="0"/>
                        </a:spcAft>
                      </a:pPr>
                      <a:r>
                        <a:rPr lang="en-US" sz="1200">
                          <a:latin typeface="Times New Roman"/>
                          <a:ea typeface="Times New Roman"/>
                          <a:cs typeface="Times New Roman"/>
                        </a:rPr>
                        <a:t>java.net</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a:latin typeface="Times New Roman"/>
                          <a:ea typeface="Times New Roman"/>
                          <a:cs typeface="Times New Roman"/>
                        </a:rPr>
                        <a:t>They include classes for communicating local computer with Internet server.</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a:txBody>
                    <a:bodyPr/>
                    <a:lstStyle/>
                    <a:p>
                      <a:pPr marL="457200" algn="just">
                        <a:lnSpc>
                          <a:spcPct val="115000"/>
                        </a:lnSpc>
                        <a:spcAft>
                          <a:spcPts val="0"/>
                        </a:spcAft>
                      </a:pPr>
                      <a:r>
                        <a:rPr lang="en-US" sz="1200">
                          <a:latin typeface="Times New Roman"/>
                          <a:ea typeface="Times New Roman"/>
                          <a:cs typeface="Times New Roman"/>
                        </a:rPr>
                        <a:t>java.applet</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200" dirty="0">
                          <a:latin typeface="Times New Roman"/>
                          <a:ea typeface="Times New Roman"/>
                          <a:cs typeface="Times New Roman"/>
                        </a:rPr>
                        <a:t>Implementing and perform manipulation with an applet.</a:t>
                      </a:r>
                      <a:endParaRPr lang="en-IN"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 name="Diagram 3"/>
          <p:cNvGraphicFramePr/>
          <p:nvPr/>
        </p:nvGraphicFramePr>
        <p:xfrm>
          <a:off x="642910" y="1643050"/>
          <a:ext cx="8143932" cy="16430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Importing Package</a:t>
            </a:r>
            <a:endParaRPr lang="en-IN" dirty="0"/>
          </a:p>
        </p:txBody>
      </p:sp>
      <p:graphicFrame>
        <p:nvGraphicFramePr>
          <p:cNvPr id="7" name="Content Placeholder 6"/>
          <p:cNvGraphicFramePr>
            <a:graphicFrameLocks noGrp="1"/>
          </p:cNvGraphicFramePr>
          <p:nvPr>
            <p:ph sz="quarter" idx="1"/>
          </p:nvPr>
        </p:nvGraphicFramePr>
        <p:xfrm>
          <a:off x="612775" y="1600200"/>
          <a:ext cx="8358246" cy="3786215"/>
        </p:xfrm>
        <a:graphic>
          <a:graphicData uri="http://schemas.openxmlformats.org/drawingml/2006/table">
            <a:tbl>
              <a:tblPr/>
              <a:tblGrid>
                <a:gridCol w="8358246"/>
              </a:tblGrid>
              <a:tr h="344201">
                <a:tc>
                  <a:txBody>
                    <a:bodyPr/>
                    <a:lstStyle/>
                    <a:p>
                      <a:pPr algn="just">
                        <a:lnSpc>
                          <a:spcPct val="115000"/>
                        </a:lnSpc>
                        <a:spcAft>
                          <a:spcPts val="0"/>
                        </a:spcAft>
                        <a:tabLst>
                          <a:tab pos="285750" algn="l"/>
                        </a:tabLst>
                      </a:pPr>
                      <a:r>
                        <a:rPr lang="en-US" sz="1600" b="1" dirty="0">
                          <a:latin typeface="Times New Roman"/>
                          <a:ea typeface="Times New Roman"/>
                          <a:cs typeface="Times New Roman"/>
                        </a:rPr>
                        <a:t>There are two ways to accessing a class stored in a package:</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8403">
                <a:tc>
                  <a:txBody>
                    <a:bodyPr/>
                    <a:lstStyle/>
                    <a:p>
                      <a:pPr algn="just">
                        <a:lnSpc>
                          <a:spcPct val="115000"/>
                        </a:lnSpc>
                        <a:spcAft>
                          <a:spcPts val="0"/>
                        </a:spcAft>
                        <a:tabLst>
                          <a:tab pos="285750" algn="l"/>
                        </a:tabLst>
                      </a:pPr>
                      <a:r>
                        <a:rPr lang="en-US" sz="1600" dirty="0">
                          <a:latin typeface="Times New Roman"/>
                          <a:ea typeface="Times New Roman"/>
                          <a:cs typeface="Times New Roman"/>
                        </a:rPr>
                        <a:t>The first approach is to use fully qualified class name. This is done by writing a package name and class name separated by dot operator and preceded by </a:t>
                      </a:r>
                      <a:r>
                        <a:rPr lang="en-US" sz="1600" b="1" dirty="0">
                          <a:latin typeface="Times New Roman"/>
                          <a:ea typeface="Times New Roman"/>
                          <a:cs typeface="Times New Roman"/>
                        </a:rPr>
                        <a:t>import </a:t>
                      </a:r>
                      <a:r>
                        <a:rPr lang="en-US" sz="1600" dirty="0">
                          <a:latin typeface="Times New Roman"/>
                          <a:ea typeface="Times New Roman"/>
                          <a:cs typeface="Times New Roman"/>
                        </a:rPr>
                        <a:t>keyword.</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32604">
                <a:tc>
                  <a:txBody>
                    <a:bodyPr/>
                    <a:lstStyle/>
                    <a:p>
                      <a:pPr algn="just">
                        <a:lnSpc>
                          <a:spcPct val="115000"/>
                        </a:lnSpc>
                        <a:spcAft>
                          <a:spcPts val="0"/>
                        </a:spcAft>
                        <a:tabLst>
                          <a:tab pos="285750" algn="l"/>
                        </a:tabLst>
                      </a:pPr>
                      <a:r>
                        <a:rPr lang="en-US" sz="1600" b="1">
                          <a:latin typeface="Times New Roman"/>
                          <a:ea typeface="Times New Roman"/>
                          <a:cs typeface="Times New Roman"/>
                        </a:rPr>
                        <a:t>Syntax 1:</a:t>
                      </a:r>
                      <a:r>
                        <a:rPr lang="en-US" sz="1600">
                          <a:latin typeface="Times New Roman"/>
                          <a:ea typeface="Times New Roman"/>
                          <a:cs typeface="Times New Roman"/>
                        </a:rPr>
                        <a:t>	import package_name</a:t>
                      </a:r>
                      <a:r>
                        <a:rPr lang="en-US" sz="1600" b="1">
                          <a:latin typeface="Times New Roman"/>
                          <a:ea typeface="Times New Roman"/>
                          <a:cs typeface="Times New Roman"/>
                        </a:rPr>
                        <a:t>.</a:t>
                      </a:r>
                      <a:r>
                        <a:rPr lang="en-US" sz="1600">
                          <a:latin typeface="Times New Roman"/>
                          <a:ea typeface="Times New Roman"/>
                          <a:cs typeface="Times New Roman"/>
                        </a:rPr>
                        <a:t>class_name;</a:t>
                      </a:r>
                      <a:endParaRPr lang="en-IN" sz="1600">
                        <a:latin typeface="Calibri"/>
                        <a:ea typeface="Times New Roman"/>
                        <a:cs typeface="Times New Roman"/>
                      </a:endParaRPr>
                    </a:p>
                    <a:p>
                      <a:pPr algn="just">
                        <a:lnSpc>
                          <a:spcPct val="115000"/>
                        </a:lnSpc>
                        <a:spcAft>
                          <a:spcPts val="0"/>
                        </a:spcAft>
                        <a:tabLst>
                          <a:tab pos="285750" algn="l"/>
                        </a:tabLst>
                      </a:pPr>
                      <a:r>
                        <a:rPr lang="en-US" sz="1600">
                          <a:latin typeface="Times New Roman"/>
                          <a:ea typeface="Times New Roman"/>
                          <a:cs typeface="Times New Roman"/>
                        </a:rPr>
                        <a:t>			import java.awt.Color;</a:t>
                      </a:r>
                      <a:endParaRPr lang="en-IN" sz="1600">
                        <a:latin typeface="Calibri"/>
                        <a:ea typeface="Times New Roman"/>
                        <a:cs typeface="Times New Roman"/>
                      </a:endParaRPr>
                    </a:p>
                    <a:p>
                      <a:pPr algn="just">
                        <a:lnSpc>
                          <a:spcPct val="115000"/>
                        </a:lnSpc>
                        <a:spcAft>
                          <a:spcPts val="0"/>
                        </a:spcAft>
                        <a:tabLst>
                          <a:tab pos="285750" algn="l"/>
                        </a:tabLst>
                      </a:pPr>
                      <a:r>
                        <a:rPr lang="en-US" sz="1600">
                          <a:latin typeface="Times New Roman"/>
                          <a:ea typeface="Times New Roman"/>
                          <a:cs typeface="Times New Roman"/>
                        </a:rPr>
                        <a:t>			import java.util.Scanner;</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8403">
                <a:tc>
                  <a:txBody>
                    <a:bodyPr/>
                    <a:lstStyle/>
                    <a:p>
                      <a:pPr algn="just">
                        <a:lnSpc>
                          <a:spcPct val="115000"/>
                        </a:lnSpc>
                        <a:spcAft>
                          <a:spcPts val="0"/>
                        </a:spcAft>
                        <a:tabLst>
                          <a:tab pos="285750" algn="l"/>
                        </a:tabLst>
                      </a:pPr>
                      <a:r>
                        <a:rPr lang="en-US" sz="1600">
                          <a:latin typeface="Times New Roman"/>
                          <a:ea typeface="Times New Roman"/>
                          <a:cs typeface="Times New Roman"/>
                        </a:rPr>
                        <a:t>In many situations, we may like to use more number of classes contained in a single package then we have to use ‘</a:t>
                      </a:r>
                      <a:r>
                        <a:rPr lang="en-US" sz="1600" b="1">
                          <a:latin typeface="Times New Roman"/>
                          <a:ea typeface="Times New Roman"/>
                          <a:cs typeface="Times New Roman"/>
                        </a:rPr>
                        <a:t>*</a:t>
                      </a:r>
                      <a:r>
                        <a:rPr lang="en-US" sz="1600">
                          <a:latin typeface="Times New Roman"/>
                          <a:ea typeface="Times New Roman"/>
                          <a:cs typeface="Times New Roman"/>
                        </a:rPr>
                        <a:t>’ after the package name which will bring all classes of particular package.</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32604">
                <a:tc>
                  <a:txBody>
                    <a:bodyPr/>
                    <a:lstStyle/>
                    <a:p>
                      <a:pPr algn="just">
                        <a:lnSpc>
                          <a:spcPct val="115000"/>
                        </a:lnSpc>
                        <a:spcAft>
                          <a:spcPts val="0"/>
                        </a:spcAft>
                        <a:tabLst>
                          <a:tab pos="285750" algn="l"/>
                        </a:tabLst>
                      </a:pPr>
                      <a:r>
                        <a:rPr lang="en-US" sz="1600" b="1" dirty="0">
                          <a:latin typeface="Times New Roman"/>
                          <a:ea typeface="Times New Roman"/>
                          <a:cs typeface="Times New Roman"/>
                        </a:rPr>
                        <a:t>Syntax 2 :</a:t>
                      </a:r>
                      <a:r>
                        <a:rPr lang="en-US" sz="1600" dirty="0">
                          <a:latin typeface="Times New Roman"/>
                          <a:ea typeface="Times New Roman"/>
                          <a:cs typeface="Times New Roman"/>
                        </a:rPr>
                        <a:t>	import package_name.*;</a:t>
                      </a:r>
                      <a:endParaRPr lang="en-IN" sz="1600" dirty="0">
                        <a:latin typeface="Calibri"/>
                        <a:ea typeface="Times New Roman"/>
                        <a:cs typeface="Times New Roman"/>
                      </a:endParaRPr>
                    </a:p>
                    <a:p>
                      <a:pPr algn="just">
                        <a:lnSpc>
                          <a:spcPct val="115000"/>
                        </a:lnSpc>
                        <a:spcAft>
                          <a:spcPts val="0"/>
                        </a:spcAft>
                        <a:tabLst>
                          <a:tab pos="285750" algn="l"/>
                        </a:tabLst>
                      </a:pPr>
                      <a:r>
                        <a:rPr lang="en-US" sz="1600" dirty="0">
                          <a:latin typeface="Times New Roman"/>
                          <a:ea typeface="Times New Roman"/>
                          <a:cs typeface="Times New Roman"/>
                        </a:rPr>
                        <a:t>			import java.awt.*;</a:t>
                      </a:r>
                      <a:endParaRPr lang="en-IN" sz="1600" dirty="0">
                        <a:latin typeface="Calibri"/>
                        <a:ea typeface="Times New Roman"/>
                        <a:cs typeface="Times New Roman"/>
                      </a:endParaRPr>
                    </a:p>
                    <a:p>
                      <a:pPr algn="just">
                        <a:lnSpc>
                          <a:spcPct val="115000"/>
                        </a:lnSpc>
                        <a:spcAft>
                          <a:spcPts val="0"/>
                        </a:spcAft>
                        <a:tabLst>
                          <a:tab pos="285750" algn="l"/>
                        </a:tabLst>
                      </a:pPr>
                      <a:r>
                        <a:rPr lang="en-US" sz="1600" dirty="0">
                          <a:latin typeface="Times New Roman"/>
                          <a:ea typeface="Times New Roman"/>
                          <a:cs typeface="Times New Roman"/>
                        </a:rPr>
                        <a:t>			import </a:t>
                      </a:r>
                      <a:r>
                        <a:rPr lang="en-US" sz="1600" dirty="0" err="1">
                          <a:latin typeface="Times New Roman"/>
                          <a:ea typeface="Times New Roman"/>
                          <a:cs typeface="Times New Roman"/>
                        </a:rPr>
                        <a:t>java.util</a:t>
                      </a:r>
                      <a:r>
                        <a:rPr lang="en-US" sz="1600" dirty="0">
                          <a:latin typeface="Times New Roman"/>
                          <a:ea typeface="Times New Roman"/>
                          <a:cs typeface="Times New Roman"/>
                        </a:rPr>
                        <a:t>.*;</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 name="TextBox 11"/>
          <p:cNvSpPr txBox="1"/>
          <p:nvPr/>
        </p:nvSpPr>
        <p:spPr>
          <a:xfrm>
            <a:off x="642910" y="5715016"/>
            <a:ext cx="8286808" cy="369332"/>
          </a:xfrm>
          <a:prstGeom prst="rect">
            <a:avLst/>
          </a:prstGeom>
          <a:noFill/>
        </p:spPr>
        <p:txBody>
          <a:bodyPr wrap="square" rtlCol="0">
            <a:spAutoFit/>
          </a:bodyPr>
          <a:lstStyle/>
          <a:p>
            <a:r>
              <a:rPr lang="en-IN" dirty="0" smtClean="0">
                <a:hlinkClick r:id="rId2" action="ppaction://hlinkfile"/>
              </a:rPr>
              <a:t>Program On User Defined Package</a:t>
            </a:r>
            <a:endParaRPr lang="en-IN"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Autofit/>
          </a:bodyPr>
          <a:lstStyle/>
          <a:p>
            <a:pPr marL="514350" indent="-514350">
              <a:buSzPct val="100000"/>
              <a:buAutoNum type="arabicPeriod"/>
            </a:pPr>
            <a:r>
              <a:rPr lang="en-IN" sz="3200" dirty="0" smtClean="0"/>
              <a:t>Exception Handling</a:t>
            </a:r>
          </a:p>
          <a:p>
            <a:pPr marL="514350" indent="-514350">
              <a:buSzPct val="100000"/>
              <a:buAutoNum type="arabicPeriod"/>
            </a:pPr>
            <a:r>
              <a:rPr lang="en-IN" sz="3200" dirty="0" smtClean="0"/>
              <a:t>Multithreading</a:t>
            </a:r>
          </a:p>
        </p:txBody>
      </p:sp>
      <p:sp>
        <p:nvSpPr>
          <p:cNvPr id="3" name="Title 2"/>
          <p:cNvSpPr>
            <a:spLocks noGrp="1"/>
          </p:cNvSpPr>
          <p:nvPr>
            <p:ph type="title"/>
          </p:nvPr>
        </p:nvSpPr>
        <p:spPr/>
        <p:txBody>
          <a:bodyPr/>
          <a:lstStyle/>
          <a:p>
            <a:r>
              <a:rPr lang="en-IN" dirty="0" smtClean="0"/>
              <a:t>Chapter 4</a:t>
            </a:r>
            <a:endParaRPr lang="en-IN"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Exception Handling</a:t>
            </a:r>
            <a:endParaRPr lang="en-IN" dirty="0"/>
          </a:p>
        </p:txBody>
      </p:sp>
      <p:sp>
        <p:nvSpPr>
          <p:cNvPr id="3" name="Content Placeholder 2"/>
          <p:cNvSpPr>
            <a:spLocks noGrp="1"/>
          </p:cNvSpPr>
          <p:nvPr>
            <p:ph sz="quarter" idx="1"/>
          </p:nvPr>
        </p:nvSpPr>
        <p:spPr/>
        <p:txBody>
          <a:bodyPr>
            <a:normAutofit/>
          </a:bodyPr>
          <a:lstStyle/>
          <a:p>
            <a:r>
              <a:rPr lang="en-IN" sz="3200" dirty="0" smtClean="0"/>
              <a:t>Exception &amp; Exception Handling</a:t>
            </a:r>
          </a:p>
          <a:p>
            <a:r>
              <a:rPr lang="en-IN" sz="3200" dirty="0" smtClean="0"/>
              <a:t>Java Exception Handling </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Exception &amp; Exception Handling</a:t>
            </a:r>
          </a:p>
        </p:txBody>
      </p:sp>
      <p:sp>
        <p:nvSpPr>
          <p:cNvPr id="3" name="Content Placeholder 2"/>
          <p:cNvSpPr>
            <a:spLocks noGrp="1"/>
          </p:cNvSpPr>
          <p:nvPr>
            <p:ph sz="quarter" idx="1"/>
          </p:nvPr>
        </p:nvSpPr>
        <p:spPr/>
        <p:txBody>
          <a:bodyPr>
            <a:noAutofit/>
          </a:bodyPr>
          <a:lstStyle/>
          <a:p>
            <a:r>
              <a:rPr lang="en-US" sz="2200" b="1" dirty="0" smtClean="0"/>
              <a:t>“An </a:t>
            </a:r>
            <a:r>
              <a:rPr lang="en-US" sz="2200" b="1" u="sng" dirty="0" smtClean="0"/>
              <a:t>Exception</a:t>
            </a:r>
            <a:r>
              <a:rPr lang="en-US" sz="2200" b="1" dirty="0" smtClean="0"/>
              <a:t> is the condition that is caused by run time error in the program. If it occurred java interpreter creates an exception object and throws it.”</a:t>
            </a:r>
            <a:endParaRPr lang="en-IN" sz="2200" dirty="0" smtClean="0"/>
          </a:p>
          <a:p>
            <a:r>
              <a:rPr lang="en-US" sz="2200" u="sng" dirty="0" smtClean="0"/>
              <a:t>Exception handling</a:t>
            </a:r>
            <a:r>
              <a:rPr lang="en-US" sz="2200" dirty="0" smtClean="0"/>
              <a:t> is a process of handling the Exception object by using try-catch-finally block to prevent the program from abnormal termination and continue with the remaining code.</a:t>
            </a:r>
          </a:p>
          <a:p>
            <a:r>
              <a:rPr lang="en-US" sz="2200" b="1" dirty="0" smtClean="0"/>
              <a:t>There are two types of Exceptions:</a:t>
            </a:r>
            <a:endParaRPr lang="en-IN" sz="2200" dirty="0" smtClean="0"/>
          </a:p>
          <a:p>
            <a:pPr lvl="1"/>
            <a:r>
              <a:rPr lang="en-US" sz="2200" b="1" dirty="0" smtClean="0"/>
              <a:t>Checked Exceptions:</a:t>
            </a:r>
            <a:endParaRPr lang="en-IN" sz="2200" dirty="0" smtClean="0"/>
          </a:p>
          <a:p>
            <a:pPr lvl="2"/>
            <a:r>
              <a:rPr lang="en-US" sz="2200" dirty="0" smtClean="0"/>
              <a:t>The exceptions that are checked at compilation time by Java compiler are called Checked Exceptions.</a:t>
            </a:r>
          </a:p>
          <a:p>
            <a:pPr lvl="1"/>
            <a:r>
              <a:rPr lang="en-US" sz="2200" b="1" dirty="0" smtClean="0"/>
              <a:t>Unchecked Exceptions:</a:t>
            </a:r>
            <a:endParaRPr lang="en-IN" sz="2200" dirty="0" smtClean="0"/>
          </a:p>
          <a:p>
            <a:pPr lvl="2"/>
            <a:r>
              <a:rPr lang="en-US" sz="2200" dirty="0" smtClean="0"/>
              <a:t>The exceptions that are checked by the JVM are called Unchecked Exceptions.</a:t>
            </a:r>
            <a:endParaRPr lang="en-IN" sz="2200" dirty="0" smtClean="0"/>
          </a:p>
          <a:p>
            <a:pPr lvl="2"/>
            <a:endParaRPr lang="en-IN" sz="2200"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Exception Handling </a:t>
            </a:r>
          </a:p>
        </p:txBody>
      </p:sp>
      <p:sp>
        <p:nvSpPr>
          <p:cNvPr id="3" name="Content Placeholder 2"/>
          <p:cNvSpPr>
            <a:spLocks noGrp="1"/>
          </p:cNvSpPr>
          <p:nvPr>
            <p:ph sz="quarter" idx="1"/>
          </p:nvPr>
        </p:nvSpPr>
        <p:spPr/>
        <p:txBody>
          <a:bodyPr>
            <a:noAutofit/>
          </a:bodyPr>
          <a:lstStyle/>
          <a:p>
            <a:r>
              <a:rPr lang="en-US" dirty="0" smtClean="0"/>
              <a:t>Java exception handling is managed via five keywords:</a:t>
            </a:r>
            <a:endParaRPr lang="en-IN" dirty="0" smtClean="0"/>
          </a:p>
          <a:p>
            <a:endParaRPr lang="en-IN" sz="2800" dirty="0"/>
          </a:p>
        </p:txBody>
      </p:sp>
      <p:graphicFrame>
        <p:nvGraphicFramePr>
          <p:cNvPr id="4" name="Table 3"/>
          <p:cNvGraphicFramePr>
            <a:graphicFrameLocks noGrp="1"/>
          </p:cNvGraphicFramePr>
          <p:nvPr/>
        </p:nvGraphicFramePr>
        <p:xfrm>
          <a:off x="1000100" y="2714620"/>
          <a:ext cx="7786742" cy="3571899"/>
        </p:xfrm>
        <a:graphic>
          <a:graphicData uri="http://schemas.openxmlformats.org/drawingml/2006/table">
            <a:tbl>
              <a:tblPr/>
              <a:tblGrid>
                <a:gridCol w="1543332"/>
                <a:gridCol w="6243410"/>
              </a:tblGrid>
              <a:tr h="597481">
                <a:tc>
                  <a:txBody>
                    <a:bodyPr/>
                    <a:lstStyle/>
                    <a:p>
                      <a:pPr marL="457200" algn="ctr">
                        <a:lnSpc>
                          <a:spcPct val="115000"/>
                        </a:lnSpc>
                        <a:spcAft>
                          <a:spcPts val="0"/>
                        </a:spcAft>
                      </a:pPr>
                      <a:r>
                        <a:rPr lang="en-US" sz="1400" b="1">
                          <a:latin typeface="Times New Roman"/>
                          <a:ea typeface="Times New Roman"/>
                          <a:cs typeface="Times New Roman"/>
                        </a:rPr>
                        <a:t>Keywords</a:t>
                      </a:r>
                      <a:endParaRPr lang="en-IN" sz="14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1400" b="1">
                          <a:latin typeface="Times New Roman"/>
                          <a:ea typeface="Times New Roman"/>
                          <a:cs typeface="Times New Roman"/>
                        </a:rPr>
                        <a:t>Meaning</a:t>
                      </a:r>
                      <a:endParaRPr lang="en-IN" sz="14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96222">
                <a:tc>
                  <a:txBody>
                    <a:bodyPr/>
                    <a:lstStyle/>
                    <a:p>
                      <a:pPr marL="0" indent="0" algn="ctr">
                        <a:lnSpc>
                          <a:spcPct val="115000"/>
                        </a:lnSpc>
                        <a:spcAft>
                          <a:spcPts val="0"/>
                        </a:spcAft>
                      </a:pPr>
                      <a:r>
                        <a:rPr lang="en-US" sz="1400" b="1" dirty="0">
                          <a:latin typeface="Times New Roman"/>
                          <a:ea typeface="Times New Roman"/>
                          <a:cs typeface="Times New Roman"/>
                        </a:rPr>
                        <a:t>try</a:t>
                      </a:r>
                      <a:endParaRPr lang="en-IN" sz="14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nSpc>
                          <a:spcPct val="115000"/>
                        </a:lnSpc>
                        <a:spcAft>
                          <a:spcPts val="0"/>
                        </a:spcAft>
                      </a:pPr>
                      <a:r>
                        <a:rPr lang="en-US" sz="1400" dirty="0">
                          <a:latin typeface="Times New Roman"/>
                          <a:ea typeface="Times New Roman"/>
                          <a:cs typeface="Times New Roman"/>
                        </a:rPr>
                        <a:t>Program statements that you want to monitor for exceptions are contained within a try block. If an exception occurs within the try block, it is thrown.</a:t>
                      </a:r>
                      <a:endParaRPr lang="en-IN" sz="14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9549">
                <a:tc>
                  <a:txBody>
                    <a:bodyPr/>
                    <a:lstStyle/>
                    <a:p>
                      <a:pPr algn="ctr"/>
                      <a:r>
                        <a:rPr lang="en-US" sz="1400" b="1" dirty="0">
                          <a:solidFill>
                            <a:srgbClr val="000000"/>
                          </a:solidFill>
                          <a:latin typeface="Times New Roman"/>
                          <a:cs typeface="Times New Roman"/>
                        </a:rPr>
                        <a:t>catch</a:t>
                      </a:r>
                      <a:endParaRPr lang="en-IN" sz="1400" dirty="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400">
                          <a:solidFill>
                            <a:srgbClr val="000000"/>
                          </a:solidFill>
                          <a:latin typeface="Times New Roman"/>
                          <a:cs typeface="Times New Roman"/>
                        </a:rPr>
                        <a:t>Your code can catch the exception thrown by try block and handle the exception.</a:t>
                      </a:r>
                      <a:endParaRPr lang="en-IN" sz="140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9549">
                <a:tc>
                  <a:txBody>
                    <a:bodyPr/>
                    <a:lstStyle/>
                    <a:p>
                      <a:pPr algn="ctr"/>
                      <a:r>
                        <a:rPr lang="en-US" sz="1400" b="1">
                          <a:solidFill>
                            <a:srgbClr val="000000"/>
                          </a:solidFill>
                          <a:latin typeface="Times New Roman"/>
                          <a:cs typeface="Times New Roman"/>
                        </a:rPr>
                        <a:t>throw</a:t>
                      </a:r>
                      <a:endParaRPr lang="en-IN" sz="140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400">
                          <a:solidFill>
                            <a:srgbClr val="000000"/>
                          </a:solidFill>
                          <a:latin typeface="Times New Roman"/>
                          <a:cs typeface="Times New Roman"/>
                        </a:rPr>
                        <a:t>System generated exceptions are automatically thrown by Java run-time system. To manually throw an exception, use the keyword throw.</a:t>
                      </a:r>
                      <a:endParaRPr lang="en-IN" sz="140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9549">
                <a:tc>
                  <a:txBody>
                    <a:bodyPr/>
                    <a:lstStyle/>
                    <a:p>
                      <a:pPr algn="ctr"/>
                      <a:r>
                        <a:rPr lang="en-US" sz="1400" b="1">
                          <a:solidFill>
                            <a:srgbClr val="000000"/>
                          </a:solidFill>
                          <a:latin typeface="Times New Roman"/>
                          <a:cs typeface="Times New Roman"/>
                        </a:rPr>
                        <a:t>throws</a:t>
                      </a:r>
                      <a:endParaRPr lang="en-IN" sz="140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400" dirty="0">
                          <a:solidFill>
                            <a:srgbClr val="000000"/>
                          </a:solidFill>
                          <a:latin typeface="Times New Roman"/>
                          <a:cs typeface="Times New Roman"/>
                        </a:rPr>
                        <a:t>Any exception that is thrown out of method must be specified by throws clause.</a:t>
                      </a:r>
                      <a:endParaRPr lang="en-IN" sz="1400" dirty="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9549">
                <a:tc>
                  <a:txBody>
                    <a:bodyPr/>
                    <a:lstStyle/>
                    <a:p>
                      <a:pPr algn="ctr"/>
                      <a:r>
                        <a:rPr lang="en-US" sz="1400" b="1" dirty="0">
                          <a:solidFill>
                            <a:srgbClr val="000000"/>
                          </a:solidFill>
                          <a:latin typeface="Times New Roman"/>
                          <a:cs typeface="Times New Roman"/>
                        </a:rPr>
                        <a:t>finally</a:t>
                      </a:r>
                      <a:endParaRPr lang="en-IN" sz="1400" dirty="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400" dirty="0">
                          <a:solidFill>
                            <a:srgbClr val="000000"/>
                          </a:solidFill>
                          <a:latin typeface="Times New Roman"/>
                          <a:cs typeface="Times New Roman"/>
                        </a:rPr>
                        <a:t>Any code that must be executed before a method returns is put in a finally block.</a:t>
                      </a:r>
                      <a:endParaRPr lang="en-IN" sz="1400" dirty="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Exception Handling </a:t>
            </a:r>
          </a:p>
        </p:txBody>
      </p:sp>
      <p:sp>
        <p:nvSpPr>
          <p:cNvPr id="3" name="Content Placeholder 2"/>
          <p:cNvSpPr>
            <a:spLocks noGrp="1"/>
          </p:cNvSpPr>
          <p:nvPr>
            <p:ph sz="quarter" idx="1"/>
          </p:nvPr>
        </p:nvSpPr>
        <p:spPr/>
        <p:txBody>
          <a:bodyPr>
            <a:noAutofit/>
          </a:bodyPr>
          <a:lstStyle/>
          <a:p>
            <a:r>
              <a:rPr lang="en-IN" sz="2200" b="1" dirty="0" smtClean="0">
                <a:hlinkClick r:id="rId3" action="ppaction://hlinkfile"/>
              </a:rPr>
              <a:t>Try and catch keyword</a:t>
            </a:r>
            <a:endParaRPr lang="en-IN" sz="2200" b="1" dirty="0" smtClean="0"/>
          </a:p>
          <a:p>
            <a:pPr lvl="1"/>
            <a:r>
              <a:rPr lang="en-US" sz="2200" dirty="0" smtClean="0"/>
              <a:t>A block of codes that are likely to cause an error condition and throw an exception should be enclosed ‘try’ block. An exception thrown by ‘try’ block should be caught and this statement enclosed under catch block.</a:t>
            </a:r>
            <a:endParaRPr lang="en-IN" sz="2200" dirty="0" smtClean="0"/>
          </a:p>
          <a:p>
            <a:pPr lvl="1"/>
            <a:endParaRPr lang="en-IN" sz="2200" dirty="0" smtClean="0"/>
          </a:p>
          <a:p>
            <a:pPr lvl="1"/>
            <a:endParaRPr lang="en-IN" sz="2200" dirty="0" smtClean="0"/>
          </a:p>
          <a:p>
            <a:pPr lvl="1"/>
            <a:endParaRPr lang="en-IN" sz="2200" dirty="0" smtClean="0"/>
          </a:p>
          <a:p>
            <a:pPr lvl="1"/>
            <a:endParaRPr lang="en-IN" sz="2200" dirty="0" smtClean="0"/>
          </a:p>
          <a:p>
            <a:pPr lvl="1"/>
            <a:endParaRPr lang="en-IN" sz="2200" dirty="0" smtClean="0"/>
          </a:p>
          <a:p>
            <a:pPr lvl="1"/>
            <a:endParaRPr lang="en-IN" sz="2200" dirty="0" smtClean="0"/>
          </a:p>
          <a:p>
            <a:pPr lvl="1"/>
            <a:endParaRPr lang="en-IN" sz="2200" dirty="0" smtClean="0"/>
          </a:p>
          <a:p>
            <a:pPr lvl="1"/>
            <a:endParaRPr lang="en-IN" sz="2200" dirty="0" smtClean="0"/>
          </a:p>
          <a:p>
            <a:pPr lvl="1">
              <a:buNone/>
            </a:pPr>
            <a:endParaRPr lang="en-IN" sz="2200" dirty="0" smtClean="0"/>
          </a:p>
          <a:p>
            <a:pPr>
              <a:buNone/>
            </a:pPr>
            <a:endParaRPr lang="en-IN" sz="2200" dirty="0"/>
          </a:p>
        </p:txBody>
      </p:sp>
      <p:graphicFrame>
        <p:nvGraphicFramePr>
          <p:cNvPr id="5" name="Table 4"/>
          <p:cNvGraphicFramePr>
            <a:graphicFrameLocks noGrp="1"/>
          </p:cNvGraphicFramePr>
          <p:nvPr/>
        </p:nvGraphicFramePr>
        <p:xfrm>
          <a:off x="1357290" y="3571876"/>
          <a:ext cx="7286676" cy="2944368"/>
        </p:xfrm>
        <a:graphic>
          <a:graphicData uri="http://schemas.openxmlformats.org/drawingml/2006/table">
            <a:tbl>
              <a:tblPr/>
              <a:tblGrid>
                <a:gridCol w="1896891"/>
                <a:gridCol w="5389785"/>
              </a:tblGrid>
              <a:tr h="203138">
                <a:tc>
                  <a:txBody>
                    <a:bodyPr/>
                    <a:lstStyle/>
                    <a:p>
                      <a:pPr marL="457200" algn="just">
                        <a:lnSpc>
                          <a:spcPct val="115000"/>
                        </a:lnSpc>
                        <a:spcAft>
                          <a:spcPts val="0"/>
                        </a:spcAft>
                        <a:tabLst>
                          <a:tab pos="285750" algn="l"/>
                        </a:tabLst>
                      </a:pPr>
                      <a:r>
                        <a:rPr lang="en-US" sz="1400" b="1" dirty="0">
                          <a:latin typeface="Times New Roman"/>
                          <a:ea typeface="Times New Roman"/>
                          <a:cs typeface="Times New Roman"/>
                        </a:rPr>
                        <a:t>Syntax:</a:t>
                      </a:r>
                      <a:endParaRPr lang="en-IN" sz="1400" dirty="0">
                        <a:latin typeface="Calibri"/>
                        <a:ea typeface="Times New Roman"/>
                        <a:cs typeface="Times New Roman"/>
                      </a:endParaRPr>
                    </a:p>
                  </a:txBody>
                  <a:tcPr marL="65666" marR="656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endParaRPr lang="en-IN" sz="1100">
                        <a:latin typeface="Calibri"/>
                        <a:ea typeface="Times New Roman"/>
                        <a:cs typeface="Times New Roman"/>
                      </a:endParaRPr>
                    </a:p>
                  </a:txBody>
                  <a:tcPr marL="65666" marR="656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72040">
                <a:tc>
                  <a:txBody>
                    <a:bodyPr/>
                    <a:lstStyle/>
                    <a:p>
                      <a:pPr marL="179388" indent="0" algn="just">
                        <a:lnSpc>
                          <a:spcPct val="115000"/>
                        </a:lnSpc>
                        <a:spcAft>
                          <a:spcPts val="0"/>
                        </a:spcAft>
                        <a:tabLst>
                          <a:tab pos="285750" algn="l"/>
                        </a:tabLst>
                      </a:pPr>
                      <a:r>
                        <a:rPr lang="en-US" sz="1400" dirty="0">
                          <a:latin typeface="Times New Roman"/>
                          <a:ea typeface="Times New Roman"/>
                          <a:cs typeface="Times New Roman"/>
                        </a:rPr>
                        <a:t>try</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Statement 1;</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Statement 2;</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Statement3;</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catch(Exception e)</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Statement X;</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a:t>
                      </a:r>
                      <a:endParaRPr lang="en-IN" sz="1400" dirty="0">
                        <a:latin typeface="Calibri"/>
                        <a:ea typeface="Times New Roman"/>
                        <a:cs typeface="Times New Roman"/>
                      </a:endParaRPr>
                    </a:p>
                    <a:p>
                      <a:pPr marL="179388" indent="0" algn="just">
                        <a:lnSpc>
                          <a:spcPct val="115000"/>
                        </a:lnSpc>
                        <a:spcAft>
                          <a:spcPts val="0"/>
                        </a:spcAft>
                        <a:tabLst>
                          <a:tab pos="285750" algn="l"/>
                        </a:tabLst>
                      </a:pPr>
                      <a:r>
                        <a:rPr lang="en-US" sz="1400" dirty="0">
                          <a:latin typeface="Times New Roman"/>
                          <a:ea typeface="Times New Roman"/>
                          <a:cs typeface="Times New Roman"/>
                        </a:rPr>
                        <a:t>Statement Y;</a:t>
                      </a:r>
                      <a:endParaRPr lang="en-IN" sz="1400" dirty="0">
                        <a:latin typeface="Calibri"/>
                        <a:ea typeface="Times New Roman"/>
                        <a:cs typeface="Times New Roman"/>
                      </a:endParaRPr>
                    </a:p>
                  </a:txBody>
                  <a:tcPr marL="65666" marR="656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endParaRPr lang="en-US" sz="1100" dirty="0">
                        <a:latin typeface="Times New Roman"/>
                        <a:ea typeface="Times New Roman"/>
                        <a:cs typeface="Times New Roman"/>
                      </a:endParaRPr>
                    </a:p>
                  </a:txBody>
                  <a:tcPr marL="65666" marR="656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63169" name="Object 1"/>
          <p:cNvGraphicFramePr>
            <a:graphicFrameLocks noChangeAspect="1"/>
          </p:cNvGraphicFramePr>
          <p:nvPr/>
        </p:nvGraphicFramePr>
        <p:xfrm>
          <a:off x="3643306" y="4214818"/>
          <a:ext cx="3552825" cy="1971675"/>
        </p:xfrm>
        <a:graphic>
          <a:graphicData uri="http://schemas.openxmlformats.org/presentationml/2006/ole">
            <mc:AlternateContent xmlns:mc="http://schemas.openxmlformats.org/markup-compatibility/2006">
              <mc:Choice xmlns:v="urn:schemas-microsoft-com:vml" Requires="v">
                <p:oleObj spid="_x0000_s263170" name="Bitmap Image" r:id="rId4" imgW="3552381" imgH="1961905" progId="Paint.Picture">
                  <p:embed/>
                </p:oleObj>
              </mc:Choice>
              <mc:Fallback>
                <p:oleObj name="Bitmap Image" r:id="rId4" imgW="3552381" imgH="1961905" progId="Paint.Picture">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3306" y="4214818"/>
                        <a:ext cx="3552825" cy="197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Exception Handling </a:t>
            </a:r>
          </a:p>
        </p:txBody>
      </p:sp>
      <p:sp>
        <p:nvSpPr>
          <p:cNvPr id="3" name="Content Placeholder 2"/>
          <p:cNvSpPr>
            <a:spLocks noGrp="1"/>
          </p:cNvSpPr>
          <p:nvPr>
            <p:ph sz="quarter" idx="1"/>
          </p:nvPr>
        </p:nvSpPr>
        <p:spPr/>
        <p:txBody>
          <a:bodyPr>
            <a:noAutofit/>
          </a:bodyPr>
          <a:lstStyle/>
          <a:p>
            <a:r>
              <a:rPr lang="en-US" sz="2200" b="1" dirty="0" smtClean="0">
                <a:hlinkClick r:id="rId2" action="ppaction://hlinkfile"/>
              </a:rPr>
              <a:t>Nested try-catch block</a:t>
            </a:r>
            <a:endParaRPr lang="en-US" sz="2200" b="1" dirty="0" smtClean="0"/>
          </a:p>
          <a:p>
            <a:pPr lvl="1"/>
            <a:r>
              <a:rPr lang="en-US" sz="2200" dirty="0" smtClean="0"/>
              <a:t>When a try catch block is a part of another try catch block, then such a block is called nested try-catch block. </a:t>
            </a:r>
            <a:endParaRPr lang="en-IN" sz="2200" dirty="0" smtClean="0"/>
          </a:p>
          <a:p>
            <a:r>
              <a:rPr lang="en-US" sz="2200" b="1" dirty="0" smtClean="0">
                <a:hlinkClick r:id="rId3" action="ppaction://hlinkfile"/>
              </a:rPr>
              <a:t>Multiple catch blocks</a:t>
            </a:r>
            <a:endParaRPr lang="en-US" sz="2200" b="1" dirty="0" smtClean="0"/>
          </a:p>
          <a:p>
            <a:pPr lvl="1"/>
            <a:r>
              <a:rPr lang="en-US" sz="2200" dirty="0" smtClean="0"/>
              <a:t>There can be cases in which more than one exception could be raised by a single piece of code. To handle this type of situation, we can specify two or more catch clauses, each catching a different type of exception.</a:t>
            </a:r>
          </a:p>
          <a:p>
            <a:r>
              <a:rPr lang="en-US" sz="2200" b="1" dirty="0" smtClean="0">
                <a:hlinkClick r:id="rId4" action="ppaction://hlinkfile"/>
              </a:rPr>
              <a:t>‘finally’ keyword</a:t>
            </a:r>
            <a:endParaRPr lang="en-US" sz="2200" b="1" dirty="0" smtClean="0"/>
          </a:p>
          <a:p>
            <a:pPr lvl="1"/>
            <a:r>
              <a:rPr lang="en-US" sz="2200" dirty="0" smtClean="0"/>
              <a:t>When exceptions are thrown, execution in method takes non-linear path that alters the normal flow through the method. The finally block will execute whether or not an exception is thrown. The finally clause can be useful for closing file handles and freeing up any other non java resources.</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Exception Handling </a:t>
            </a:r>
          </a:p>
        </p:txBody>
      </p:sp>
      <p:sp>
        <p:nvSpPr>
          <p:cNvPr id="3" name="Content Placeholder 2"/>
          <p:cNvSpPr>
            <a:spLocks noGrp="1"/>
          </p:cNvSpPr>
          <p:nvPr>
            <p:ph sz="quarter" idx="1"/>
          </p:nvPr>
        </p:nvSpPr>
        <p:spPr/>
        <p:txBody>
          <a:bodyPr>
            <a:noAutofit/>
          </a:bodyPr>
          <a:lstStyle/>
          <a:p>
            <a:r>
              <a:rPr lang="en-US" sz="2200" b="1" dirty="0" smtClean="0">
                <a:hlinkClick r:id="rId2" action="ppaction://hlinkfile"/>
              </a:rPr>
              <a:t>‘throw’ keyword</a:t>
            </a:r>
            <a:endParaRPr lang="en-US" sz="2200" b="1" dirty="0" smtClean="0"/>
          </a:p>
          <a:p>
            <a:pPr lvl="1"/>
            <a:r>
              <a:rPr lang="en-US" sz="2200" dirty="0" smtClean="0"/>
              <a:t>Sometimes we would like to throw our own exception. It is possible explicitly using throw statement. </a:t>
            </a:r>
          </a:p>
          <a:p>
            <a:pPr lvl="1"/>
            <a:endParaRPr lang="en-US" sz="2200" dirty="0" smtClean="0"/>
          </a:p>
          <a:p>
            <a:pPr lvl="0"/>
            <a:r>
              <a:rPr lang="en-US" sz="2200" b="1" dirty="0" smtClean="0">
                <a:hlinkClick r:id="rId3" action="ppaction://hlinkfile"/>
              </a:rPr>
              <a:t>‘throws’ keyword</a:t>
            </a:r>
            <a:endParaRPr lang="en-IN" sz="2200" dirty="0" smtClean="0"/>
          </a:p>
          <a:p>
            <a:pPr lvl="1"/>
            <a:r>
              <a:rPr lang="en-US" sz="2200" dirty="0" smtClean="0"/>
              <a:t>Throws clause list all types of Exceptions that a method might throws. If a method is capable of causing an exception that it does not handle, then it must be specified the behavior, so that caller of method can guard themselves against that exception.</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Multithreading</a:t>
            </a:r>
            <a:endParaRPr lang="en-IN" dirty="0"/>
          </a:p>
        </p:txBody>
      </p:sp>
      <p:sp>
        <p:nvSpPr>
          <p:cNvPr id="3" name="Content Placeholder 2"/>
          <p:cNvSpPr>
            <a:spLocks noGrp="1"/>
          </p:cNvSpPr>
          <p:nvPr>
            <p:ph sz="quarter" idx="1"/>
          </p:nvPr>
        </p:nvSpPr>
        <p:spPr/>
        <p:txBody>
          <a:bodyPr>
            <a:normAutofit/>
          </a:bodyPr>
          <a:lstStyle/>
          <a:p>
            <a:r>
              <a:rPr lang="en-IN" sz="3200" dirty="0" smtClean="0"/>
              <a:t>Thread</a:t>
            </a:r>
          </a:p>
          <a:p>
            <a:r>
              <a:rPr lang="en-IN" sz="3200" dirty="0" smtClean="0"/>
              <a:t>Extending &amp; Implementing Thread</a:t>
            </a:r>
          </a:p>
          <a:p>
            <a:r>
              <a:rPr lang="en-IN" sz="3200" dirty="0" smtClean="0"/>
              <a:t>Thread Life Cycle</a:t>
            </a:r>
          </a:p>
          <a:p>
            <a:r>
              <a:rPr lang="en-IN" sz="3200" dirty="0" smtClean="0"/>
              <a:t>Thread Priority</a:t>
            </a:r>
          </a:p>
          <a:p>
            <a:r>
              <a:rPr lang="en-IN" sz="3200" dirty="0" smtClean="0"/>
              <a:t>Thread </a:t>
            </a:r>
            <a:r>
              <a:rPr lang="en-IN" sz="3200" dirty="0" err="1" smtClean="0"/>
              <a:t>Synchrolization</a:t>
            </a:r>
            <a:endParaRPr lang="en-IN" sz="3200" dirty="0" smtClean="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Thread</a:t>
            </a:r>
            <a:endParaRPr lang="en-IN" dirty="0"/>
          </a:p>
        </p:txBody>
      </p:sp>
      <p:sp>
        <p:nvSpPr>
          <p:cNvPr id="3" name="Content Placeholder 2"/>
          <p:cNvSpPr>
            <a:spLocks noGrp="1"/>
          </p:cNvSpPr>
          <p:nvPr>
            <p:ph sz="quarter" idx="1"/>
          </p:nvPr>
        </p:nvSpPr>
        <p:spPr/>
        <p:txBody>
          <a:bodyPr>
            <a:normAutofit/>
          </a:bodyPr>
          <a:lstStyle/>
          <a:p>
            <a:r>
              <a:rPr lang="en-US" sz="2200" dirty="0" smtClean="0"/>
              <a:t>In multithreading, the </a:t>
            </a:r>
            <a:r>
              <a:rPr lang="en-US" sz="2200" b="1" dirty="0" smtClean="0"/>
              <a:t>thread</a:t>
            </a:r>
            <a:r>
              <a:rPr lang="en-US" sz="2200" dirty="0" smtClean="0"/>
              <a:t> is a smallest unit of </a:t>
            </a:r>
            <a:r>
              <a:rPr lang="en-US" sz="2200" dirty="0" err="1" smtClean="0"/>
              <a:t>dispatchable</a:t>
            </a:r>
            <a:r>
              <a:rPr lang="en-US" sz="2200" dirty="0" smtClean="0"/>
              <a:t> code or light weight process. </a:t>
            </a:r>
          </a:p>
          <a:p>
            <a:r>
              <a:rPr lang="en-US" sz="2200" dirty="0" smtClean="0"/>
              <a:t>Since Thread in java are subprograms of a main application program and share the same memory space. </a:t>
            </a:r>
          </a:p>
          <a:p>
            <a:r>
              <a:rPr lang="en-US" sz="2200" dirty="0" smtClean="0"/>
              <a:t>Multithreading is a conceptual program technique where a process is divided into two or more sub process, which can be implemented at same time in parallel.</a:t>
            </a:r>
            <a:endParaRPr lang="en-IN" sz="2200" dirty="0"/>
          </a:p>
        </p:txBody>
      </p:sp>
      <p:pic>
        <p:nvPicPr>
          <p:cNvPr id="4" name="Picture 3"/>
          <p:cNvPicPr/>
          <p:nvPr/>
        </p:nvPicPr>
        <p:blipFill>
          <a:blip r:embed="rId2"/>
          <a:srcRect/>
          <a:stretch>
            <a:fillRect/>
          </a:stretch>
        </p:blipFill>
        <p:spPr bwMode="auto">
          <a:xfrm>
            <a:off x="3214678" y="4143380"/>
            <a:ext cx="2590800" cy="26727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Extending &amp; Implementing Thread</a:t>
            </a:r>
          </a:p>
        </p:txBody>
      </p:sp>
      <p:sp>
        <p:nvSpPr>
          <p:cNvPr id="3" name="Content Placeholder 2"/>
          <p:cNvSpPr>
            <a:spLocks noGrp="1"/>
          </p:cNvSpPr>
          <p:nvPr>
            <p:ph sz="quarter" idx="1"/>
          </p:nvPr>
        </p:nvSpPr>
        <p:spPr/>
        <p:txBody>
          <a:bodyPr>
            <a:noAutofit/>
          </a:bodyPr>
          <a:lstStyle/>
          <a:p>
            <a:pPr lvl="0"/>
            <a:r>
              <a:rPr lang="en-US" sz="2200" b="1" dirty="0" smtClean="0"/>
              <a:t>Java Thread Model:</a:t>
            </a:r>
            <a:endParaRPr lang="en-IN" sz="2200" dirty="0" smtClean="0"/>
          </a:p>
          <a:p>
            <a:pPr lvl="1"/>
            <a:r>
              <a:rPr lang="en-US" sz="2200" b="1" dirty="0" smtClean="0"/>
              <a:t>Creating a new Thread: </a:t>
            </a:r>
            <a:r>
              <a:rPr lang="en-US" sz="2200" dirty="0" smtClean="0"/>
              <a:t>Java is multithreading system, it is built upon thread class and its companion interface called </a:t>
            </a:r>
            <a:r>
              <a:rPr lang="en-US" sz="2200" dirty="0" err="1" smtClean="0"/>
              <a:t>Runnable</a:t>
            </a:r>
            <a:r>
              <a:rPr lang="en-US" sz="2200" dirty="0" smtClean="0"/>
              <a:t>. </a:t>
            </a:r>
          </a:p>
          <a:p>
            <a:pPr lvl="2"/>
            <a:r>
              <a:rPr lang="en-US" sz="2200" dirty="0" smtClean="0"/>
              <a:t>A new thread cab be created in two ways.</a:t>
            </a:r>
            <a:endParaRPr lang="en-IN" sz="2200" dirty="0" smtClean="0"/>
          </a:p>
          <a:p>
            <a:pPr lvl="3"/>
            <a:r>
              <a:rPr lang="en-US" sz="2200" b="1" dirty="0" smtClean="0"/>
              <a:t>By creating a thread class, i.e. defined a class that extends thread</a:t>
            </a:r>
            <a:endParaRPr lang="en-IN" sz="2200" dirty="0" smtClean="0"/>
          </a:p>
          <a:p>
            <a:pPr lvl="4"/>
            <a:r>
              <a:rPr lang="en-US" sz="2200" b="1" dirty="0" smtClean="0"/>
              <a:t>Syntax: </a:t>
            </a:r>
            <a:r>
              <a:rPr lang="en-US" sz="2200" dirty="0" smtClean="0"/>
              <a:t>class </a:t>
            </a:r>
            <a:r>
              <a:rPr lang="en-US" sz="2200" dirty="0" err="1" smtClean="0"/>
              <a:t>ClassName</a:t>
            </a:r>
            <a:r>
              <a:rPr lang="en-US" sz="2200" dirty="0" smtClean="0"/>
              <a:t> extends Thread</a:t>
            </a:r>
            <a:endParaRPr lang="en-IN" sz="2200" dirty="0" smtClean="0"/>
          </a:p>
          <a:p>
            <a:pPr lvl="3"/>
            <a:r>
              <a:rPr lang="en-US" sz="2200" b="1" dirty="0" smtClean="0"/>
              <a:t>By converting a class in to a thread that implements </a:t>
            </a:r>
            <a:r>
              <a:rPr lang="en-US" sz="2200" b="1" dirty="0" err="1" smtClean="0"/>
              <a:t>Runnable</a:t>
            </a:r>
            <a:r>
              <a:rPr lang="en-US" sz="2200" b="1" dirty="0" smtClean="0"/>
              <a:t> Interface.</a:t>
            </a:r>
            <a:endParaRPr lang="en-IN" sz="2200" dirty="0" smtClean="0"/>
          </a:p>
          <a:p>
            <a:pPr lvl="4"/>
            <a:r>
              <a:rPr lang="en-US" sz="2200" b="1" dirty="0" smtClean="0"/>
              <a:t>Syntax: </a:t>
            </a:r>
            <a:r>
              <a:rPr lang="en-US" sz="2200" dirty="0" smtClean="0"/>
              <a:t>class </a:t>
            </a:r>
            <a:r>
              <a:rPr lang="en-US" sz="2200" dirty="0" err="1" smtClean="0"/>
              <a:t>ClassName</a:t>
            </a:r>
            <a:r>
              <a:rPr lang="en-US" sz="2200" dirty="0" smtClean="0"/>
              <a:t> implements </a:t>
            </a:r>
            <a:r>
              <a:rPr lang="en-US" sz="2200" dirty="0" err="1" smtClean="0"/>
              <a:t>Runnable</a:t>
            </a:r>
            <a:endParaRPr lang="en-IN" sz="2200" dirty="0" smtClean="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Extending &amp; Implementing Thread</a:t>
            </a:r>
          </a:p>
        </p:txBody>
      </p:sp>
      <p:sp>
        <p:nvSpPr>
          <p:cNvPr id="3" name="Content Placeholder 2"/>
          <p:cNvSpPr>
            <a:spLocks noGrp="1"/>
          </p:cNvSpPr>
          <p:nvPr>
            <p:ph sz="quarter" idx="1"/>
          </p:nvPr>
        </p:nvSpPr>
        <p:spPr/>
        <p:txBody>
          <a:bodyPr>
            <a:noAutofit/>
          </a:bodyPr>
          <a:lstStyle/>
          <a:p>
            <a:pPr lvl="0"/>
            <a:r>
              <a:rPr lang="en-US" sz="2200" b="1" dirty="0" smtClean="0">
                <a:hlinkClick r:id="rId2" action="ppaction://hlinkfile"/>
              </a:rPr>
              <a:t>Extending Thread Class</a:t>
            </a:r>
            <a:r>
              <a:rPr lang="en-US" sz="2200" b="1" dirty="0" smtClean="0"/>
              <a:t>:</a:t>
            </a:r>
            <a:endParaRPr lang="en-IN" sz="2200" dirty="0" smtClean="0"/>
          </a:p>
          <a:p>
            <a:pPr lvl="1"/>
            <a:r>
              <a:rPr lang="en-US" sz="2200" dirty="0" smtClean="0"/>
              <a:t>It include following Steps</a:t>
            </a:r>
            <a:endParaRPr lang="en-IN" sz="2200" dirty="0" smtClean="0"/>
          </a:p>
          <a:p>
            <a:pPr marL="1028700" lvl="2" indent="-342900">
              <a:buFont typeface="+mj-lt"/>
              <a:buAutoNum type="arabicPeriod"/>
            </a:pPr>
            <a:r>
              <a:rPr lang="en-US" sz="2200" dirty="0" smtClean="0"/>
              <a:t>Declare class as extending thread class</a:t>
            </a:r>
            <a:endParaRPr lang="en-IN" sz="2200" dirty="0" smtClean="0"/>
          </a:p>
          <a:p>
            <a:pPr marL="1028700" lvl="2" indent="-342900">
              <a:buFont typeface="+mj-lt"/>
              <a:buAutoNum type="arabicPeriod"/>
            </a:pPr>
            <a:r>
              <a:rPr lang="en-US" sz="2200" dirty="0" smtClean="0"/>
              <a:t>Implement run method that thread will execute</a:t>
            </a:r>
            <a:endParaRPr lang="en-IN" sz="2200" dirty="0" smtClean="0"/>
          </a:p>
          <a:p>
            <a:pPr marL="1028700" lvl="2" indent="-342900">
              <a:buFont typeface="+mj-lt"/>
              <a:buAutoNum type="arabicPeriod"/>
            </a:pPr>
            <a:r>
              <a:rPr lang="en-US" sz="2200" dirty="0" smtClean="0"/>
              <a:t>Create thread object in main program </a:t>
            </a:r>
            <a:r>
              <a:rPr lang="en-US" sz="2200" b="1" dirty="0" smtClean="0"/>
              <a:t>OR</a:t>
            </a:r>
            <a:r>
              <a:rPr lang="en-US" sz="2200" dirty="0" smtClean="0"/>
              <a:t> Pass an object that extends Thread class as a parameter to the constructor of an object type Thread.</a:t>
            </a:r>
            <a:endParaRPr lang="en-IN" sz="2200" dirty="0" smtClean="0"/>
          </a:p>
          <a:p>
            <a:pPr marL="1028700" lvl="2" indent="-342900">
              <a:buFont typeface="+mj-lt"/>
              <a:buAutoNum type="arabicPeriod"/>
            </a:pPr>
            <a:r>
              <a:rPr lang="en-US" sz="2200" dirty="0" smtClean="0"/>
              <a:t>Call start() method using thread reference.</a:t>
            </a:r>
          </a:p>
          <a:p>
            <a:pPr marL="1028700" lvl="2" indent="-342900">
              <a:buFont typeface="+mj-lt"/>
              <a:buAutoNum type="arabicPeriod"/>
            </a:pPr>
            <a:endParaRPr lang="en-IN" sz="2200" dirty="0" smtClean="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Extending &amp; Implementing Thread</a:t>
            </a:r>
          </a:p>
        </p:txBody>
      </p:sp>
      <p:sp>
        <p:nvSpPr>
          <p:cNvPr id="3" name="Content Placeholder 2"/>
          <p:cNvSpPr>
            <a:spLocks noGrp="1"/>
          </p:cNvSpPr>
          <p:nvPr>
            <p:ph sz="quarter" idx="1"/>
          </p:nvPr>
        </p:nvSpPr>
        <p:spPr/>
        <p:txBody>
          <a:bodyPr>
            <a:noAutofit/>
          </a:bodyPr>
          <a:lstStyle/>
          <a:p>
            <a:pPr lvl="0"/>
            <a:r>
              <a:rPr lang="en-US" sz="2200" b="1" dirty="0" smtClean="0">
                <a:hlinkClick r:id="rId2" action="ppaction://hlinkfile"/>
              </a:rPr>
              <a:t>Implementing </a:t>
            </a:r>
            <a:r>
              <a:rPr lang="en-US" sz="2200" b="1" dirty="0" err="1" smtClean="0">
                <a:hlinkClick r:id="rId2" action="ppaction://hlinkfile"/>
              </a:rPr>
              <a:t>Runnable</a:t>
            </a:r>
            <a:r>
              <a:rPr lang="en-US" sz="2200" b="1" dirty="0" smtClean="0">
                <a:hlinkClick r:id="rId2" action="ppaction://hlinkfile"/>
              </a:rPr>
              <a:t> Interface</a:t>
            </a:r>
            <a:endParaRPr lang="en-IN" sz="2200" dirty="0" smtClean="0"/>
          </a:p>
          <a:p>
            <a:pPr lvl="1"/>
            <a:r>
              <a:rPr lang="en-US" sz="2200" dirty="0" smtClean="0"/>
              <a:t>It include following Steps</a:t>
            </a:r>
            <a:endParaRPr lang="en-IN" sz="2200" dirty="0" smtClean="0"/>
          </a:p>
          <a:p>
            <a:pPr marL="1143000" lvl="2" indent="-457200">
              <a:buFont typeface="+mj-lt"/>
              <a:buAutoNum type="arabicPeriod"/>
            </a:pPr>
            <a:r>
              <a:rPr lang="en-US" sz="2200" dirty="0" smtClean="0"/>
              <a:t>Declare class as implementing </a:t>
            </a:r>
            <a:r>
              <a:rPr lang="en-US" sz="2200" dirty="0" err="1" smtClean="0"/>
              <a:t>Runnable</a:t>
            </a:r>
            <a:r>
              <a:rPr lang="en-US" sz="2200" dirty="0" smtClean="0"/>
              <a:t> interface</a:t>
            </a:r>
            <a:endParaRPr lang="en-IN" sz="2200" dirty="0" smtClean="0"/>
          </a:p>
          <a:p>
            <a:pPr marL="1143000" lvl="2" indent="-457200">
              <a:buFont typeface="+mj-lt"/>
              <a:buAutoNum type="arabicPeriod"/>
            </a:pPr>
            <a:r>
              <a:rPr lang="en-US" sz="2200" dirty="0" smtClean="0"/>
              <a:t>Implement run() method that thread will execute</a:t>
            </a:r>
            <a:endParaRPr lang="en-IN" sz="2200" dirty="0" smtClean="0"/>
          </a:p>
          <a:p>
            <a:pPr marL="1143000" lvl="2" indent="-457200">
              <a:buFont typeface="+mj-lt"/>
              <a:buAutoNum type="arabicPeriod"/>
            </a:pPr>
            <a:r>
              <a:rPr lang="en-US" sz="2200" dirty="0" smtClean="0"/>
              <a:t>Create Thread object.</a:t>
            </a:r>
            <a:endParaRPr lang="en-IN" sz="2200" dirty="0" smtClean="0"/>
          </a:p>
          <a:p>
            <a:pPr marL="1143000" lvl="2" indent="-457200">
              <a:buFont typeface="+mj-lt"/>
              <a:buAutoNum type="arabicPeriod"/>
            </a:pPr>
            <a:r>
              <a:rPr lang="en-US" sz="2200" dirty="0" smtClean="0"/>
              <a:t>Pass an object that implements the </a:t>
            </a:r>
            <a:r>
              <a:rPr lang="en-US" sz="2200" dirty="0" err="1" smtClean="0"/>
              <a:t>Runnable</a:t>
            </a:r>
            <a:r>
              <a:rPr lang="en-US" sz="2200" dirty="0" smtClean="0"/>
              <a:t> interface as a parameter to the constructor of an object of type Thread.</a:t>
            </a:r>
            <a:endParaRPr lang="en-IN" sz="2200" dirty="0" smtClean="0"/>
          </a:p>
          <a:p>
            <a:pPr marL="1143000" lvl="2" indent="-457200">
              <a:buFont typeface="+mj-lt"/>
              <a:buAutoNum type="arabicPeriod"/>
            </a:pPr>
            <a:r>
              <a:rPr lang="en-US" sz="2200" dirty="0" smtClean="0"/>
              <a:t>Call start() method using thread reference.</a:t>
            </a:r>
            <a:endParaRPr lang="en-IN" sz="2200" dirty="0" smtClean="0"/>
          </a:p>
          <a:p>
            <a:pPr marL="1028700" lvl="2" indent="-342900">
              <a:buFont typeface="+mj-lt"/>
              <a:buAutoNum type="arabicPeriod"/>
            </a:pPr>
            <a:endParaRPr lang="en-IN" sz="2200" dirty="0" smtClean="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Thread Life Cycle</a:t>
            </a:r>
          </a:p>
        </p:txBody>
      </p:sp>
      <p:sp>
        <p:nvSpPr>
          <p:cNvPr id="3" name="Content Placeholder 2"/>
          <p:cNvSpPr>
            <a:spLocks noGrp="1"/>
          </p:cNvSpPr>
          <p:nvPr>
            <p:ph sz="quarter" idx="1"/>
          </p:nvPr>
        </p:nvSpPr>
        <p:spPr/>
        <p:txBody>
          <a:bodyPr>
            <a:noAutofit/>
          </a:bodyPr>
          <a:lstStyle/>
          <a:p>
            <a:r>
              <a:rPr lang="en-US" sz="2200" dirty="0" smtClean="0"/>
              <a:t>Thread may be in one of the five states:</a:t>
            </a:r>
            <a:endParaRPr lang="en-IN" sz="2200" dirty="0" smtClean="0"/>
          </a:p>
          <a:p>
            <a:pPr marL="822960" lvl="1" indent="-457200">
              <a:buFont typeface="+mj-lt"/>
              <a:buAutoNum type="arabicPeriod"/>
            </a:pPr>
            <a:r>
              <a:rPr lang="en-US" sz="2200" dirty="0" smtClean="0"/>
              <a:t>New State</a:t>
            </a:r>
            <a:endParaRPr lang="en-IN" sz="2200" dirty="0" smtClean="0"/>
          </a:p>
          <a:p>
            <a:pPr marL="822960" lvl="1" indent="-457200">
              <a:buFont typeface="+mj-lt"/>
              <a:buAutoNum type="arabicPeriod"/>
            </a:pPr>
            <a:r>
              <a:rPr lang="en-US" sz="2200" dirty="0" err="1" smtClean="0"/>
              <a:t>Runnable</a:t>
            </a:r>
            <a:r>
              <a:rPr lang="en-US" sz="2200" dirty="0" smtClean="0"/>
              <a:t> State</a:t>
            </a:r>
            <a:endParaRPr lang="en-IN" sz="2200" dirty="0" smtClean="0"/>
          </a:p>
          <a:p>
            <a:pPr marL="822960" lvl="1" indent="-457200">
              <a:buFont typeface="+mj-lt"/>
              <a:buAutoNum type="arabicPeriod"/>
            </a:pPr>
            <a:r>
              <a:rPr lang="en-US" sz="2200" dirty="0" smtClean="0"/>
              <a:t>Running State</a:t>
            </a:r>
            <a:endParaRPr lang="en-IN" sz="2200" dirty="0" smtClean="0"/>
          </a:p>
          <a:p>
            <a:pPr marL="822960" lvl="1" indent="-457200">
              <a:buFont typeface="+mj-lt"/>
              <a:buAutoNum type="arabicPeriod"/>
            </a:pPr>
            <a:r>
              <a:rPr lang="en-US" sz="2200" dirty="0" smtClean="0"/>
              <a:t>Blocked State (Waiting / sleeping)</a:t>
            </a:r>
            <a:endParaRPr lang="en-IN" sz="2200" dirty="0" smtClean="0"/>
          </a:p>
          <a:p>
            <a:pPr marL="822960" lvl="1" indent="-457200">
              <a:buFont typeface="+mj-lt"/>
              <a:buAutoNum type="arabicPeriod"/>
            </a:pPr>
            <a:r>
              <a:rPr lang="en-US" sz="2200" dirty="0" smtClean="0"/>
              <a:t>Terminated / Dead State</a:t>
            </a:r>
            <a:endParaRPr lang="en-IN" sz="2200" dirty="0" smtClean="0"/>
          </a:p>
        </p:txBody>
      </p:sp>
      <p:pic>
        <p:nvPicPr>
          <p:cNvPr id="4" name="Picture 3"/>
          <p:cNvPicPr/>
          <p:nvPr/>
        </p:nvPicPr>
        <p:blipFill>
          <a:blip r:embed="rId2"/>
          <a:srcRect/>
          <a:stretch>
            <a:fillRect/>
          </a:stretch>
        </p:blipFill>
        <p:spPr bwMode="auto">
          <a:xfrm>
            <a:off x="2143108" y="4000504"/>
            <a:ext cx="4643470" cy="28574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hlinkClick r:id="rId2" action="ppaction://hlinkfile"/>
              </a:rPr>
              <a:t>Thread Priorities</a:t>
            </a:r>
            <a:endParaRPr lang="en-IN" dirty="0" smtClean="0"/>
          </a:p>
        </p:txBody>
      </p:sp>
      <p:sp>
        <p:nvSpPr>
          <p:cNvPr id="3" name="Content Placeholder 2"/>
          <p:cNvSpPr>
            <a:spLocks noGrp="1"/>
          </p:cNvSpPr>
          <p:nvPr>
            <p:ph sz="quarter" idx="1"/>
          </p:nvPr>
        </p:nvSpPr>
        <p:spPr/>
        <p:txBody>
          <a:bodyPr>
            <a:noAutofit/>
          </a:bodyPr>
          <a:lstStyle/>
          <a:p>
            <a:r>
              <a:rPr lang="en-US" sz="2200" dirty="0" smtClean="0"/>
              <a:t>Priorities are used by thread scheduler to decide when each thread allowed to be allowed run. In java, each thread automatically gets equal priority (By default=5). Therefore they share the processor on FCFS basis. But practically higher priority threads are executed first.</a:t>
            </a:r>
          </a:p>
          <a:p>
            <a:r>
              <a:rPr lang="en-US" sz="2200" dirty="0" smtClean="0"/>
              <a:t>To set the priority, we make use of </a:t>
            </a:r>
            <a:r>
              <a:rPr lang="en-US" sz="2200" b="1" dirty="0" err="1" smtClean="0"/>
              <a:t>setPriority</a:t>
            </a:r>
            <a:r>
              <a:rPr lang="en-US" sz="2200" b="1" dirty="0" smtClean="0"/>
              <a:t>()</a:t>
            </a:r>
            <a:r>
              <a:rPr lang="en-US" sz="2200" dirty="0" smtClean="0"/>
              <a:t> method.</a:t>
            </a:r>
            <a:endParaRPr lang="en-IN" sz="2200" dirty="0" smtClean="0"/>
          </a:p>
          <a:p>
            <a:r>
              <a:rPr lang="en-US" sz="2200" b="1" dirty="0" smtClean="0"/>
              <a:t>Syntax:</a:t>
            </a:r>
            <a:r>
              <a:rPr lang="en-US" sz="2200" dirty="0" smtClean="0"/>
              <a:t> </a:t>
            </a:r>
            <a:r>
              <a:rPr lang="en-US" sz="2200" dirty="0" err="1" smtClean="0"/>
              <a:t>Threadname.setPriority</a:t>
            </a:r>
            <a:r>
              <a:rPr lang="en-US" sz="2200" dirty="0" smtClean="0"/>
              <a:t>(</a:t>
            </a:r>
            <a:r>
              <a:rPr lang="en-US" sz="2200" dirty="0" err="1" smtClean="0"/>
              <a:t>int</a:t>
            </a:r>
            <a:r>
              <a:rPr lang="en-US" sz="2200" dirty="0" smtClean="0"/>
              <a:t> number);</a:t>
            </a:r>
            <a:endParaRPr lang="en-IN" sz="2200" dirty="0" smtClean="0"/>
          </a:p>
          <a:p>
            <a:pPr lvl="1"/>
            <a:r>
              <a:rPr lang="en-US" sz="2200" dirty="0" smtClean="0"/>
              <a:t>‘number’</a:t>
            </a:r>
            <a:r>
              <a:rPr lang="en-US" sz="2200" b="1" dirty="0" smtClean="0"/>
              <a:t> </a:t>
            </a:r>
            <a:r>
              <a:rPr lang="en-US" sz="2200" dirty="0" smtClean="0"/>
              <a:t>specify the new priority settings, the Thread class defines following constant </a:t>
            </a:r>
          </a:p>
          <a:p>
            <a:pPr lvl="1"/>
            <a:endParaRPr lang="en-IN" sz="2200" dirty="0" smtClean="0"/>
          </a:p>
          <a:p>
            <a:pPr lvl="1">
              <a:buNone/>
            </a:pPr>
            <a:r>
              <a:rPr lang="en-US" sz="2200" dirty="0" err="1" smtClean="0"/>
              <a:t>Thread.setPriority</a:t>
            </a:r>
            <a:r>
              <a:rPr lang="en-US" sz="2200" dirty="0" smtClean="0"/>
              <a:t>(</a:t>
            </a:r>
            <a:r>
              <a:rPr lang="en-US" sz="2200" dirty="0" err="1" smtClean="0"/>
              <a:t>Thread.MIN_PRIORITY</a:t>
            </a:r>
            <a:r>
              <a:rPr lang="en-US" sz="2200" dirty="0" smtClean="0"/>
              <a:t>)=1</a:t>
            </a:r>
            <a:endParaRPr lang="en-IN" sz="2200" dirty="0" smtClean="0"/>
          </a:p>
          <a:p>
            <a:pPr lvl="1">
              <a:buNone/>
            </a:pPr>
            <a:r>
              <a:rPr lang="en-US" sz="2200" dirty="0" err="1" smtClean="0"/>
              <a:t>Thread.setPriority</a:t>
            </a:r>
            <a:r>
              <a:rPr lang="en-US" sz="2200" dirty="0" smtClean="0"/>
              <a:t>(</a:t>
            </a:r>
            <a:r>
              <a:rPr lang="en-US" sz="2200" dirty="0" err="1" smtClean="0"/>
              <a:t>Thread.NORM_PRIORITY</a:t>
            </a:r>
            <a:r>
              <a:rPr lang="en-US" sz="2200" dirty="0" smtClean="0"/>
              <a:t>)=5</a:t>
            </a:r>
            <a:endParaRPr lang="en-IN" sz="2200" dirty="0" smtClean="0"/>
          </a:p>
          <a:p>
            <a:pPr lvl="1">
              <a:buNone/>
            </a:pPr>
            <a:r>
              <a:rPr lang="en-US" sz="2200" dirty="0" err="1" smtClean="0"/>
              <a:t>Thread.setPriority</a:t>
            </a:r>
            <a:r>
              <a:rPr lang="en-US" sz="2200" dirty="0" smtClean="0"/>
              <a:t>(</a:t>
            </a:r>
            <a:r>
              <a:rPr lang="en-US" sz="2200" dirty="0" err="1" smtClean="0"/>
              <a:t>Thread.MAX_PRIORITY</a:t>
            </a:r>
            <a:r>
              <a:rPr lang="en-US" sz="2200" dirty="0" smtClean="0"/>
              <a:t>)=10</a:t>
            </a:r>
            <a:endParaRPr lang="en-IN" sz="2200" dirty="0" smtClean="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hlinkClick r:id="rId2" action="ppaction://hlinkfile"/>
              </a:rPr>
              <a:t>Thread Synchronization</a:t>
            </a:r>
            <a:endParaRPr lang="en-IN" dirty="0" smtClean="0"/>
          </a:p>
        </p:txBody>
      </p:sp>
      <p:sp>
        <p:nvSpPr>
          <p:cNvPr id="3" name="Content Placeholder 2"/>
          <p:cNvSpPr>
            <a:spLocks noGrp="1"/>
          </p:cNvSpPr>
          <p:nvPr>
            <p:ph sz="quarter" idx="1"/>
          </p:nvPr>
        </p:nvSpPr>
        <p:spPr/>
        <p:txBody>
          <a:bodyPr>
            <a:noAutofit/>
          </a:bodyPr>
          <a:lstStyle/>
          <a:p>
            <a:r>
              <a:rPr lang="en-US" sz="2200" dirty="0" smtClean="0"/>
              <a:t>If two or more threads need to access a shared resource, they need some way to ensure that the resource will be used by only single thread at a time. The process by which is achieved is called </a:t>
            </a:r>
            <a:r>
              <a:rPr lang="en-US" sz="2200" b="1" dirty="0" smtClean="0"/>
              <a:t>Synchronization</a:t>
            </a:r>
            <a:r>
              <a:rPr lang="en-US" sz="2200" dirty="0" smtClean="0"/>
              <a:t>. </a:t>
            </a:r>
          </a:p>
          <a:p>
            <a:r>
              <a:rPr lang="en-US" sz="2200" dirty="0" smtClean="0"/>
              <a:t>Synchronization based on the concept of ‘monitor’. A monitor is an object that is used as a mutually exclusive lock “</a:t>
            </a:r>
            <a:r>
              <a:rPr lang="en-US" sz="2200" dirty="0" err="1" smtClean="0"/>
              <a:t>mutex</a:t>
            </a:r>
            <a:r>
              <a:rPr lang="en-US" sz="2200" dirty="0" smtClean="0"/>
              <a:t>”. Only single thread can own the monitor at a time. When thread gets holds of the lock, it is said to have entered the ‘monitor’ All other threads attempts to entering the locked monitor will be suspended until the first thread exists the monitor.</a:t>
            </a:r>
            <a:endParaRPr lang="en-IN" sz="2200" dirty="0" smtClean="0"/>
          </a:p>
          <a:p>
            <a:r>
              <a:rPr lang="en-US" sz="2200" dirty="0" smtClean="0"/>
              <a:t>In java, the keyword “Synchronized” helps to solve such problems, When we declared a method ‘Synchronized’ java creates a ‘monitor’ and hand it over to thread as long as the thread holds the monitor, no other thread can enter ‘</a:t>
            </a:r>
            <a:r>
              <a:rPr lang="en-US" sz="2200" dirty="0" err="1" smtClean="0"/>
              <a:t>Synchonized</a:t>
            </a:r>
            <a:r>
              <a:rPr lang="en-US" sz="2200" dirty="0" smtClean="0"/>
              <a:t>’ section of code. </a:t>
            </a:r>
            <a:endParaRPr lang="en-IN" sz="2200" dirty="0" smtClean="0"/>
          </a:p>
          <a:p>
            <a:endParaRPr lang="en-IN" sz="2200" dirty="0" smtClean="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Thread Deadlock</a:t>
            </a:r>
          </a:p>
        </p:txBody>
      </p:sp>
      <p:sp>
        <p:nvSpPr>
          <p:cNvPr id="3" name="Content Placeholder 2"/>
          <p:cNvSpPr>
            <a:spLocks noGrp="1"/>
          </p:cNvSpPr>
          <p:nvPr>
            <p:ph sz="quarter" idx="1"/>
          </p:nvPr>
        </p:nvSpPr>
        <p:spPr/>
        <p:txBody>
          <a:bodyPr>
            <a:noAutofit/>
          </a:bodyPr>
          <a:lstStyle/>
          <a:p>
            <a:r>
              <a:rPr lang="en-US" sz="2200" dirty="0" smtClean="0"/>
              <a:t>Deadlock occurs when two threads are blocked, with each waiting for the other’s lock. Neither can run until the other gives up its lock, so they will sit there forever.</a:t>
            </a:r>
          </a:p>
          <a:p>
            <a:r>
              <a:rPr lang="en-US" sz="2200" dirty="0" smtClean="0"/>
              <a:t>For a Deadlock to occur the following four conditions should be satisfied:</a:t>
            </a:r>
            <a:endParaRPr lang="en-IN" sz="2200" dirty="0" smtClean="0"/>
          </a:p>
          <a:p>
            <a:pPr marL="822960" lvl="1" indent="-457200">
              <a:buFont typeface="+mj-lt"/>
              <a:buAutoNum type="arabicPeriod"/>
            </a:pPr>
            <a:r>
              <a:rPr lang="en-US" sz="2200" dirty="0" smtClean="0"/>
              <a:t>Mutual Exclusion</a:t>
            </a:r>
            <a:endParaRPr lang="en-IN" sz="2200" dirty="0" smtClean="0"/>
          </a:p>
          <a:p>
            <a:pPr marL="822960" lvl="1" indent="-457200">
              <a:buFont typeface="+mj-lt"/>
              <a:buAutoNum type="arabicPeriod"/>
            </a:pPr>
            <a:r>
              <a:rPr lang="en-US" sz="2200" dirty="0" smtClean="0"/>
              <a:t>Hold and Wait</a:t>
            </a:r>
            <a:endParaRPr lang="en-IN" sz="2200" dirty="0" smtClean="0"/>
          </a:p>
          <a:p>
            <a:pPr marL="822960" lvl="1" indent="-457200">
              <a:buFont typeface="+mj-lt"/>
              <a:buAutoNum type="arabicPeriod"/>
            </a:pPr>
            <a:r>
              <a:rPr lang="en-US" sz="2200" dirty="0" smtClean="0"/>
              <a:t>No Preemption</a:t>
            </a:r>
            <a:endParaRPr lang="en-IN" sz="2200" dirty="0" smtClean="0"/>
          </a:p>
          <a:p>
            <a:pPr marL="822960" lvl="1" indent="-457200">
              <a:buFont typeface="+mj-lt"/>
              <a:buAutoNum type="arabicPeriod"/>
            </a:pPr>
            <a:r>
              <a:rPr lang="en-US" sz="2200" dirty="0" smtClean="0"/>
              <a:t>Circular wait</a:t>
            </a:r>
            <a:endParaRPr lang="en-IN" sz="2200" dirty="0" smtClean="0"/>
          </a:p>
          <a:p>
            <a:endParaRPr lang="en-IN" sz="2200"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Autofit/>
          </a:bodyPr>
          <a:lstStyle/>
          <a:p>
            <a:pPr marL="514350" indent="-514350">
              <a:buSzPct val="100000"/>
              <a:buAutoNum type="arabicPeriod"/>
            </a:pPr>
            <a:r>
              <a:rPr lang="en-IN" sz="3200" dirty="0" smtClean="0"/>
              <a:t>Java Applets &amp; Graphics Programming</a:t>
            </a:r>
          </a:p>
          <a:p>
            <a:pPr marL="514350" indent="-514350">
              <a:buSzPct val="100000"/>
              <a:buAutoNum type="arabicPeriod"/>
            </a:pPr>
            <a:endParaRPr lang="en-IN" sz="3200" dirty="0" smtClean="0"/>
          </a:p>
        </p:txBody>
      </p:sp>
      <p:sp>
        <p:nvSpPr>
          <p:cNvPr id="3" name="Title 2"/>
          <p:cNvSpPr>
            <a:spLocks noGrp="1"/>
          </p:cNvSpPr>
          <p:nvPr>
            <p:ph type="title"/>
          </p:nvPr>
        </p:nvSpPr>
        <p:spPr/>
        <p:txBody>
          <a:bodyPr/>
          <a:lstStyle/>
          <a:p>
            <a:r>
              <a:rPr lang="en-IN" dirty="0" smtClean="0"/>
              <a:t>Chapter 5</a:t>
            </a:r>
            <a:endParaRPr lang="en-IN"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14350" indent="-514350"/>
            <a:r>
              <a:rPr lang="en-IN" dirty="0" smtClean="0"/>
              <a:t>Java Applets &amp; Graphics Programming</a:t>
            </a:r>
          </a:p>
        </p:txBody>
      </p:sp>
      <p:sp>
        <p:nvSpPr>
          <p:cNvPr id="3" name="Content Placeholder 2"/>
          <p:cNvSpPr>
            <a:spLocks noGrp="1"/>
          </p:cNvSpPr>
          <p:nvPr>
            <p:ph sz="quarter" idx="1"/>
          </p:nvPr>
        </p:nvSpPr>
        <p:spPr/>
        <p:txBody>
          <a:bodyPr>
            <a:normAutofit/>
          </a:bodyPr>
          <a:lstStyle/>
          <a:p>
            <a:r>
              <a:rPr lang="en-IN" sz="3200" dirty="0" smtClean="0"/>
              <a:t>Applet</a:t>
            </a:r>
          </a:p>
          <a:p>
            <a:r>
              <a:rPr lang="en-IN" sz="3200" dirty="0" smtClean="0"/>
              <a:t>Life Cycle of Applet </a:t>
            </a:r>
          </a:p>
          <a:p>
            <a:r>
              <a:rPr lang="en-IN" sz="3200" dirty="0" smtClean="0"/>
              <a:t>Passing Parameter to an Applet</a:t>
            </a:r>
          </a:p>
          <a:p>
            <a:r>
              <a:rPr lang="en-IN" sz="3200" dirty="0" smtClean="0"/>
              <a:t>Working with </a:t>
            </a:r>
            <a:r>
              <a:rPr lang="en-IN" sz="3200" dirty="0" err="1" smtClean="0"/>
              <a:t>Colors</a:t>
            </a:r>
            <a:endParaRPr lang="en-IN" sz="3200" dirty="0" smtClean="0"/>
          </a:p>
          <a:p>
            <a:r>
              <a:rPr lang="en-IN" sz="3200" dirty="0" smtClean="0"/>
              <a:t>Working with Font</a:t>
            </a:r>
          </a:p>
          <a:p>
            <a:r>
              <a:rPr lang="en-IN" sz="3200" dirty="0" smtClean="0"/>
              <a:t>Working with Graphics </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IN" dirty="0" smtClean="0"/>
              <a:t>Java Applet</a:t>
            </a:r>
          </a:p>
        </p:txBody>
      </p:sp>
      <p:sp>
        <p:nvSpPr>
          <p:cNvPr id="3" name="Content Placeholder 2"/>
          <p:cNvSpPr>
            <a:spLocks noGrp="1"/>
          </p:cNvSpPr>
          <p:nvPr>
            <p:ph sz="quarter" idx="1"/>
          </p:nvPr>
        </p:nvSpPr>
        <p:spPr/>
        <p:txBody>
          <a:bodyPr>
            <a:normAutofit/>
          </a:bodyPr>
          <a:lstStyle/>
          <a:p>
            <a:r>
              <a:rPr lang="en-US" sz="2200" dirty="0" smtClean="0"/>
              <a:t>Applets are basically small Java programs, which can be easily transported over the network from one computer to other. </a:t>
            </a:r>
          </a:p>
          <a:p>
            <a:r>
              <a:rPr lang="en-US" sz="2200" dirty="0" smtClean="0"/>
              <a:t>This is the reason why applets are used in Internet applications, where these applets (i.e. small Java Program), embedded in an HTML page, can be downloaded from the server and run on the client, so as to do a specific kind of job. </a:t>
            </a:r>
            <a:endParaRPr lang="en-IN" sz="2200" dirty="0" smtClean="0"/>
          </a:p>
        </p:txBody>
      </p:sp>
      <p:pic>
        <p:nvPicPr>
          <p:cNvPr id="4" name="Picture 3"/>
          <p:cNvPicPr/>
          <p:nvPr/>
        </p:nvPicPr>
        <p:blipFill>
          <a:blip r:embed="rId2"/>
          <a:srcRect/>
          <a:stretch>
            <a:fillRect/>
          </a:stretch>
        </p:blipFill>
        <p:spPr bwMode="auto">
          <a:xfrm>
            <a:off x="1000100" y="3929066"/>
            <a:ext cx="7000924" cy="25003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IN" dirty="0" smtClean="0"/>
              <a:t>Java Applet</a:t>
            </a:r>
          </a:p>
        </p:txBody>
      </p:sp>
      <p:graphicFrame>
        <p:nvGraphicFramePr>
          <p:cNvPr id="5" name="Content Placeholder 4"/>
          <p:cNvGraphicFramePr>
            <a:graphicFrameLocks noGrp="1"/>
          </p:cNvGraphicFramePr>
          <p:nvPr>
            <p:ph sz="quarter" idx="1"/>
          </p:nvPr>
        </p:nvGraphicFramePr>
        <p:xfrm>
          <a:off x="642910" y="1785926"/>
          <a:ext cx="8143932" cy="4500595"/>
        </p:xfrm>
        <a:graphic>
          <a:graphicData uri="http://schemas.openxmlformats.org/drawingml/2006/table">
            <a:tbl>
              <a:tblPr/>
              <a:tblGrid>
                <a:gridCol w="4071966"/>
                <a:gridCol w="4071966"/>
              </a:tblGrid>
              <a:tr h="300040">
                <a:tc>
                  <a:txBody>
                    <a:bodyPr/>
                    <a:lstStyle/>
                    <a:p>
                      <a:pPr marL="457200" algn="ctr">
                        <a:lnSpc>
                          <a:spcPct val="115000"/>
                        </a:lnSpc>
                        <a:spcAft>
                          <a:spcPts val="0"/>
                        </a:spcAft>
                      </a:pPr>
                      <a:r>
                        <a:rPr lang="en-US" sz="1200" b="1" dirty="0">
                          <a:latin typeface="Times New Roman"/>
                          <a:ea typeface="Times New Roman"/>
                          <a:cs typeface="Times New Roman"/>
                        </a:rPr>
                        <a:t>Applet</a:t>
                      </a:r>
                      <a:endParaRPr lang="en-IN"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1200" b="1">
                          <a:latin typeface="Times New Roman"/>
                          <a:ea typeface="Times New Roman"/>
                          <a:cs typeface="Times New Roman"/>
                        </a:rPr>
                        <a:t>Application</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0119">
                <a:tc>
                  <a:txBody>
                    <a:bodyPr/>
                    <a:lstStyle/>
                    <a:p>
                      <a:pPr marL="457200" algn="just">
                        <a:lnSpc>
                          <a:spcPct val="115000"/>
                        </a:lnSpc>
                        <a:spcAft>
                          <a:spcPts val="0"/>
                        </a:spcAft>
                      </a:pPr>
                      <a:r>
                        <a:rPr lang="en-US" sz="1200" dirty="0">
                          <a:latin typeface="Times New Roman"/>
                          <a:ea typeface="Times New Roman"/>
                          <a:cs typeface="Times New Roman"/>
                        </a:rPr>
                        <a:t>The execution of the applet does not start from main() method, as it does not have one.</a:t>
                      </a:r>
                      <a:endParaRPr lang="en-IN"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solidFill>
                            <a:srgbClr val="000000"/>
                          </a:solidFill>
                          <a:latin typeface="Times New Roman"/>
                          <a:cs typeface="Times New Roman"/>
                        </a:rPr>
                        <a:t>The execution of an application program start from main().</a:t>
                      </a:r>
                      <a:endParaRPr lang="en-IN" sz="110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0119">
                <a:tc>
                  <a:txBody>
                    <a:bodyPr/>
                    <a:lstStyle/>
                    <a:p>
                      <a:pPr marL="457200" algn="just">
                        <a:lnSpc>
                          <a:spcPct val="115000"/>
                        </a:lnSpc>
                        <a:spcAft>
                          <a:spcPts val="0"/>
                        </a:spcAft>
                      </a:pPr>
                      <a:r>
                        <a:rPr lang="en-US" sz="1200">
                          <a:latin typeface="Times New Roman"/>
                          <a:ea typeface="Times New Roman"/>
                          <a:cs typeface="Times New Roman"/>
                        </a:rPr>
                        <a:t>Applet cannot run on their own, i.e. they have to be embedded inside a web page to get executed.</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solidFill>
                            <a:srgbClr val="000000"/>
                          </a:solidFill>
                          <a:latin typeface="Times New Roman"/>
                          <a:cs typeface="Times New Roman"/>
                        </a:rPr>
                        <a:t>These can run on their own, i.e. in order to get executed, they need not be embedded inside any web page.</a:t>
                      </a:r>
                      <a:endParaRPr lang="en-IN" sz="110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0079">
                <a:tc>
                  <a:txBody>
                    <a:bodyPr/>
                    <a:lstStyle/>
                    <a:p>
                      <a:pPr marL="457200" algn="just">
                        <a:lnSpc>
                          <a:spcPct val="115000"/>
                        </a:lnSpc>
                        <a:spcAft>
                          <a:spcPts val="0"/>
                        </a:spcAft>
                      </a:pPr>
                      <a:r>
                        <a:rPr lang="en-US" sz="1200">
                          <a:latin typeface="Times New Roman"/>
                          <a:ea typeface="Times New Roman"/>
                          <a:cs typeface="Times New Roman"/>
                        </a:rPr>
                        <a:t>Applet can only be executed inside a browser or appletviewer.</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solidFill>
                            <a:srgbClr val="000000"/>
                          </a:solidFill>
                          <a:latin typeface="Times New Roman"/>
                          <a:cs typeface="Times New Roman"/>
                        </a:rPr>
                        <a:t>Applications are executed at command line.</a:t>
                      </a:r>
                      <a:endParaRPr lang="en-IN" sz="110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0119">
                <a:tc>
                  <a:txBody>
                    <a:bodyPr/>
                    <a:lstStyle/>
                    <a:p>
                      <a:pPr marL="457200" algn="just">
                        <a:lnSpc>
                          <a:spcPct val="115000"/>
                        </a:lnSpc>
                        <a:spcAft>
                          <a:spcPts val="0"/>
                        </a:spcAft>
                      </a:pPr>
                      <a:r>
                        <a:rPr lang="en-US" sz="1200" dirty="0">
                          <a:latin typeface="Times New Roman"/>
                          <a:ea typeface="Times New Roman"/>
                          <a:cs typeface="Times New Roman"/>
                        </a:rPr>
                        <a:t>Applets execute under strict security limitations that disallow certain operations (sandbox model security).</a:t>
                      </a:r>
                      <a:endParaRPr lang="en-IN"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solidFill>
                            <a:srgbClr val="000000"/>
                          </a:solidFill>
                          <a:latin typeface="Times New Roman"/>
                          <a:cs typeface="Times New Roman"/>
                        </a:rPr>
                        <a:t>Application have no inherent security restriction.</a:t>
                      </a:r>
                      <a:endParaRPr lang="en-IN" sz="110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0119">
                <a:tc>
                  <a:txBody>
                    <a:bodyPr/>
                    <a:lstStyle/>
                    <a:p>
                      <a:pPr marL="457200" algn="just">
                        <a:lnSpc>
                          <a:spcPct val="115000"/>
                        </a:lnSpc>
                        <a:spcAft>
                          <a:spcPts val="0"/>
                        </a:spcAft>
                      </a:pPr>
                      <a:r>
                        <a:rPr lang="en-US" sz="1200">
                          <a:latin typeface="Times New Roman"/>
                          <a:ea typeface="Times New Roman"/>
                          <a:cs typeface="Times New Roman"/>
                        </a:rPr>
                        <a:t>Applets have their own life cycle init() </a:t>
                      </a:r>
                      <a:r>
                        <a:rPr lang="en-US" sz="1200">
                          <a:latin typeface="Times New Roman"/>
                          <a:ea typeface="Times New Roman"/>
                          <a:cs typeface="Times New Roman"/>
                          <a:sym typeface="Wingdings"/>
                        </a:rPr>
                        <a:t></a:t>
                      </a:r>
                      <a:r>
                        <a:rPr lang="en-US" sz="1200">
                          <a:latin typeface="Times New Roman"/>
                          <a:ea typeface="Times New Roman"/>
                          <a:cs typeface="Times New Roman"/>
                        </a:rPr>
                        <a:t>  start() </a:t>
                      </a:r>
                      <a:r>
                        <a:rPr lang="en-US" sz="1200">
                          <a:latin typeface="Times New Roman"/>
                          <a:ea typeface="Times New Roman"/>
                          <a:cs typeface="Times New Roman"/>
                          <a:sym typeface="Wingdings"/>
                        </a:rPr>
                        <a:t></a:t>
                      </a:r>
                      <a:r>
                        <a:rPr lang="en-US" sz="1200">
                          <a:latin typeface="Times New Roman"/>
                          <a:ea typeface="Times New Roman"/>
                          <a:cs typeface="Times New Roman"/>
                        </a:rPr>
                        <a:t>   paint() </a:t>
                      </a:r>
                      <a:r>
                        <a:rPr lang="en-US" sz="1200">
                          <a:latin typeface="Times New Roman"/>
                          <a:ea typeface="Times New Roman"/>
                          <a:cs typeface="Times New Roman"/>
                          <a:sym typeface="Wingdings"/>
                        </a:rPr>
                        <a:t></a:t>
                      </a:r>
                      <a:r>
                        <a:rPr lang="en-US" sz="1200">
                          <a:latin typeface="Times New Roman"/>
                          <a:ea typeface="Times New Roman"/>
                          <a:cs typeface="Times New Roman"/>
                        </a:rPr>
                        <a:t> stop() </a:t>
                      </a:r>
                      <a:r>
                        <a:rPr lang="en-US" sz="1200">
                          <a:latin typeface="Times New Roman"/>
                          <a:ea typeface="Times New Roman"/>
                          <a:cs typeface="Times New Roman"/>
                          <a:sym typeface="Wingdings"/>
                        </a:rPr>
                        <a:t></a:t>
                      </a:r>
                      <a:r>
                        <a:rPr lang="en-US" sz="1200">
                          <a:latin typeface="Times New Roman"/>
                          <a:ea typeface="Times New Roman"/>
                          <a:cs typeface="Times New Roman"/>
                        </a:rPr>
                        <a:t> destroy().</a:t>
                      </a:r>
                      <a:endParaRPr lang="en-IN" sz="11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dirty="0">
                          <a:solidFill>
                            <a:srgbClr val="000000"/>
                          </a:solidFill>
                          <a:latin typeface="Times New Roman"/>
                          <a:cs typeface="Times New Roman"/>
                        </a:rPr>
                        <a:t>Applications have their own life cycle. Their execution begins at main().</a:t>
                      </a:r>
                      <a:endParaRPr lang="en-IN" sz="1100" dirty="0">
                        <a:latin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IN" dirty="0" smtClean="0">
                <a:hlinkClick r:id="rId2" action="ppaction://hlinkfile"/>
              </a:rPr>
              <a:t>Applet Life Cycle</a:t>
            </a:r>
            <a:r>
              <a:rPr lang="en-IN" dirty="0" smtClean="0"/>
              <a:t> (Applet Skeleton)</a:t>
            </a:r>
          </a:p>
        </p:txBody>
      </p:sp>
      <p:sp>
        <p:nvSpPr>
          <p:cNvPr id="4" name="Content Placeholder 3"/>
          <p:cNvSpPr>
            <a:spLocks noGrp="1"/>
          </p:cNvSpPr>
          <p:nvPr>
            <p:ph sz="quarter" idx="1"/>
          </p:nvPr>
        </p:nvSpPr>
        <p:spPr/>
        <p:txBody>
          <a:bodyPr/>
          <a:lstStyle/>
          <a:p>
            <a:endParaRPr lang="en-IN"/>
          </a:p>
        </p:txBody>
      </p:sp>
      <p:pic>
        <p:nvPicPr>
          <p:cNvPr id="6" name="Picture 5"/>
          <p:cNvPicPr/>
          <p:nvPr/>
        </p:nvPicPr>
        <p:blipFill>
          <a:blip r:embed="rId3"/>
          <a:srcRect/>
          <a:stretch>
            <a:fillRect/>
          </a:stretch>
        </p:blipFill>
        <p:spPr bwMode="auto">
          <a:xfrm>
            <a:off x="714348" y="1643050"/>
            <a:ext cx="7929618" cy="22860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IN" dirty="0" smtClean="0">
                <a:hlinkClick r:id="rId2" action="ppaction://hlinkfile"/>
              </a:rPr>
              <a:t>Passing Parameter</a:t>
            </a:r>
            <a:r>
              <a:rPr lang="en-IN" dirty="0" smtClean="0"/>
              <a:t> to an Applet</a:t>
            </a:r>
          </a:p>
        </p:txBody>
      </p:sp>
      <p:sp>
        <p:nvSpPr>
          <p:cNvPr id="4" name="Content Placeholder 3"/>
          <p:cNvSpPr>
            <a:spLocks noGrp="1"/>
          </p:cNvSpPr>
          <p:nvPr>
            <p:ph sz="quarter" idx="1"/>
          </p:nvPr>
        </p:nvSpPr>
        <p:spPr/>
        <p:txBody>
          <a:bodyPr>
            <a:normAutofit/>
          </a:bodyPr>
          <a:lstStyle/>
          <a:p>
            <a:r>
              <a:rPr lang="en-US" sz="2200" dirty="0" smtClean="0"/>
              <a:t>We can supply user defined parameter to an applet using &lt;PARAM&gt; tag &amp; each &lt;PARAM ..&gt; tag has a name attribute &amp; its value attribute. Inside the applet code, the applet can refer to that parameter by name to find its value.</a:t>
            </a:r>
            <a:endParaRPr lang="en-IN" sz="2200" dirty="0" smtClean="0"/>
          </a:p>
          <a:p>
            <a:endParaRPr lang="en-IN" sz="2200" dirty="0"/>
          </a:p>
        </p:txBody>
      </p:sp>
      <p:graphicFrame>
        <p:nvGraphicFramePr>
          <p:cNvPr id="5" name="Table 4"/>
          <p:cNvGraphicFramePr>
            <a:graphicFrameLocks noGrp="1"/>
          </p:cNvGraphicFramePr>
          <p:nvPr/>
        </p:nvGraphicFramePr>
        <p:xfrm>
          <a:off x="1071538" y="3143248"/>
          <a:ext cx="5643602" cy="1168693"/>
        </p:xfrm>
        <a:graphic>
          <a:graphicData uri="http://schemas.openxmlformats.org/drawingml/2006/table">
            <a:tbl>
              <a:tblPr/>
              <a:tblGrid>
                <a:gridCol w="5643602"/>
              </a:tblGrid>
              <a:tr h="219679">
                <a:tc>
                  <a:txBody>
                    <a:bodyPr/>
                    <a:lstStyle/>
                    <a:p>
                      <a:pPr marL="457200" algn="just">
                        <a:lnSpc>
                          <a:spcPct val="115000"/>
                        </a:lnSpc>
                        <a:spcAft>
                          <a:spcPts val="0"/>
                        </a:spcAft>
                        <a:tabLst>
                          <a:tab pos="285750" algn="l"/>
                        </a:tabLst>
                      </a:pPr>
                      <a:r>
                        <a:rPr lang="en-US" sz="1400" dirty="0">
                          <a:latin typeface="Times New Roman"/>
                          <a:ea typeface="Times New Roman"/>
                          <a:cs typeface="Times New Roman"/>
                        </a:rPr>
                        <a:t>Example:</a:t>
                      </a:r>
                      <a:endParaRPr lang="en-IN" sz="1400" dirty="0">
                        <a:latin typeface="Calibri"/>
                        <a:ea typeface="Times New Roman"/>
                        <a:cs typeface="Times New Roman"/>
                      </a:endParaRPr>
                    </a:p>
                  </a:txBody>
                  <a:tcPr marL="66502" marR="66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23329">
                <a:tc>
                  <a:txBody>
                    <a:bodyPr/>
                    <a:lstStyle/>
                    <a:p>
                      <a:pPr marL="457200" algn="just">
                        <a:lnSpc>
                          <a:spcPct val="115000"/>
                        </a:lnSpc>
                        <a:spcAft>
                          <a:spcPts val="0"/>
                        </a:spcAft>
                        <a:tabLst>
                          <a:tab pos="285750" algn="l"/>
                        </a:tabLst>
                      </a:pPr>
                      <a:r>
                        <a:rPr lang="en-US" sz="1400" dirty="0">
                          <a:latin typeface="Times New Roman"/>
                          <a:ea typeface="Times New Roman"/>
                          <a:cs typeface="Times New Roman"/>
                        </a:rPr>
                        <a:t>&lt;PARAM	</a:t>
                      </a:r>
                      <a:r>
                        <a:rPr lang="en-US" sz="1400" dirty="0" smtClean="0">
                          <a:latin typeface="Times New Roman"/>
                          <a:ea typeface="Times New Roman"/>
                          <a:cs typeface="Times New Roman"/>
                        </a:rPr>
                        <a:t>NAME </a:t>
                      </a:r>
                      <a:r>
                        <a:rPr lang="en-US" sz="1400" dirty="0">
                          <a:latin typeface="Times New Roman"/>
                          <a:ea typeface="Times New Roman"/>
                          <a:cs typeface="Times New Roman"/>
                        </a:rPr>
                        <a:t>= text	</a:t>
                      </a:r>
                      <a:r>
                        <a:rPr lang="en-US" sz="1400" dirty="0" smtClean="0">
                          <a:latin typeface="Times New Roman"/>
                          <a:ea typeface="Times New Roman"/>
                          <a:cs typeface="Times New Roman"/>
                        </a:rPr>
                        <a:t>VALUE </a:t>
                      </a:r>
                      <a:r>
                        <a:rPr lang="en-US" sz="1400" dirty="0">
                          <a:latin typeface="Times New Roman"/>
                          <a:ea typeface="Times New Roman"/>
                          <a:cs typeface="Times New Roman"/>
                        </a:rPr>
                        <a:t>=”Java”&gt;</a:t>
                      </a:r>
                      <a:endParaRPr lang="en-IN" sz="1400" dirty="0">
                        <a:latin typeface="Calibri"/>
                        <a:ea typeface="Times New Roman"/>
                        <a:cs typeface="Times New Roman"/>
                      </a:endParaRPr>
                    </a:p>
                    <a:p>
                      <a:pPr marL="457200" algn="just">
                        <a:lnSpc>
                          <a:spcPct val="115000"/>
                        </a:lnSpc>
                        <a:spcAft>
                          <a:spcPts val="0"/>
                        </a:spcAft>
                        <a:tabLst>
                          <a:tab pos="285750" algn="l"/>
                        </a:tabLst>
                      </a:pPr>
                      <a:r>
                        <a:rPr lang="en-US" sz="1400" dirty="0">
                          <a:latin typeface="Times New Roman"/>
                          <a:ea typeface="Times New Roman"/>
                          <a:cs typeface="Times New Roman"/>
                        </a:rPr>
                        <a:t>&lt;PARAM	</a:t>
                      </a:r>
                      <a:r>
                        <a:rPr lang="en-US" sz="1400" dirty="0" smtClean="0">
                          <a:latin typeface="Times New Roman"/>
                          <a:ea typeface="Times New Roman"/>
                          <a:cs typeface="Times New Roman"/>
                        </a:rPr>
                        <a:t>NAME </a:t>
                      </a:r>
                      <a:r>
                        <a:rPr lang="en-US" sz="1400" dirty="0">
                          <a:latin typeface="Times New Roman"/>
                          <a:ea typeface="Times New Roman"/>
                          <a:cs typeface="Times New Roman"/>
                        </a:rPr>
                        <a:t>= font	</a:t>
                      </a:r>
                      <a:r>
                        <a:rPr lang="en-US" sz="1400" dirty="0" smtClean="0">
                          <a:latin typeface="Times New Roman"/>
                          <a:ea typeface="Times New Roman"/>
                          <a:cs typeface="Times New Roman"/>
                        </a:rPr>
                        <a:t>VALUE </a:t>
                      </a:r>
                      <a:r>
                        <a:rPr lang="en-US" sz="1400" dirty="0">
                          <a:latin typeface="Times New Roman"/>
                          <a:ea typeface="Times New Roman"/>
                          <a:cs typeface="Times New Roman"/>
                        </a:rPr>
                        <a:t>=”Courier”&gt;</a:t>
                      </a:r>
                      <a:endParaRPr lang="en-IN" sz="1400" dirty="0">
                        <a:latin typeface="Calibri"/>
                        <a:ea typeface="Times New Roman"/>
                        <a:cs typeface="Times New Roman"/>
                      </a:endParaRPr>
                    </a:p>
                    <a:p>
                      <a:pPr marL="457200" algn="just">
                        <a:lnSpc>
                          <a:spcPct val="115000"/>
                        </a:lnSpc>
                        <a:spcAft>
                          <a:spcPts val="0"/>
                        </a:spcAft>
                        <a:tabLst>
                          <a:tab pos="285750" algn="l"/>
                        </a:tabLst>
                      </a:pPr>
                      <a:r>
                        <a:rPr lang="en-US" sz="1400" dirty="0">
                          <a:latin typeface="Times New Roman"/>
                          <a:ea typeface="Times New Roman"/>
                          <a:cs typeface="Times New Roman"/>
                        </a:rPr>
                        <a:t>&lt;PARAM	</a:t>
                      </a:r>
                      <a:r>
                        <a:rPr lang="en-US" sz="1400" dirty="0" smtClean="0">
                          <a:latin typeface="Times New Roman"/>
                          <a:ea typeface="Times New Roman"/>
                          <a:cs typeface="Times New Roman"/>
                        </a:rPr>
                        <a:t>NAME </a:t>
                      </a:r>
                      <a:r>
                        <a:rPr lang="en-US" sz="1400" dirty="0">
                          <a:latin typeface="Times New Roman"/>
                          <a:ea typeface="Times New Roman"/>
                          <a:cs typeface="Times New Roman"/>
                        </a:rPr>
                        <a:t>= color	</a:t>
                      </a:r>
                      <a:r>
                        <a:rPr lang="en-US" sz="1400" dirty="0" smtClean="0">
                          <a:latin typeface="Times New Roman"/>
                          <a:ea typeface="Times New Roman"/>
                          <a:cs typeface="Times New Roman"/>
                        </a:rPr>
                        <a:t>VALUE </a:t>
                      </a:r>
                      <a:r>
                        <a:rPr lang="en-US" sz="1400" dirty="0">
                          <a:latin typeface="Times New Roman"/>
                          <a:ea typeface="Times New Roman"/>
                          <a:cs typeface="Times New Roman"/>
                        </a:rPr>
                        <a:t>=”Red”&gt;</a:t>
                      </a:r>
                      <a:endParaRPr lang="en-IN" sz="1400" dirty="0">
                        <a:latin typeface="Calibri"/>
                        <a:ea typeface="Times New Roman"/>
                        <a:cs typeface="Times New Roman"/>
                      </a:endParaRPr>
                    </a:p>
                  </a:txBody>
                  <a:tcPr marL="66502" marR="66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US" dirty="0" smtClean="0">
                <a:hlinkClick r:id="rId2" action="ppaction://hlinkfile"/>
              </a:rPr>
              <a:t>Working with Colors</a:t>
            </a:r>
            <a:endParaRPr lang="en-IN" dirty="0" smtClean="0"/>
          </a:p>
        </p:txBody>
      </p:sp>
      <p:sp>
        <p:nvSpPr>
          <p:cNvPr id="4" name="Content Placeholder 3"/>
          <p:cNvSpPr>
            <a:spLocks noGrp="1"/>
          </p:cNvSpPr>
          <p:nvPr>
            <p:ph sz="quarter" idx="1"/>
          </p:nvPr>
        </p:nvSpPr>
        <p:spPr/>
        <p:txBody>
          <a:bodyPr>
            <a:noAutofit/>
          </a:bodyPr>
          <a:lstStyle/>
          <a:p>
            <a:r>
              <a:rPr lang="en-US" sz="2200" dirty="0" smtClean="0"/>
              <a:t>Java supports a color in an independent fashion. The </a:t>
            </a:r>
            <a:r>
              <a:rPr lang="en-US" sz="2200" dirty="0" err="1" smtClean="0"/>
              <a:t>awt.Color</a:t>
            </a:r>
            <a:r>
              <a:rPr lang="en-US" sz="2200" dirty="0" smtClean="0"/>
              <a:t> system allows the programmer to specify any type of Color. </a:t>
            </a:r>
          </a:p>
          <a:p>
            <a:r>
              <a:rPr lang="en-US" sz="2200" dirty="0" smtClean="0"/>
              <a:t>To set the background &amp; foreground colors in an applet following syntaxes are used.</a:t>
            </a:r>
          </a:p>
          <a:p>
            <a:endParaRPr lang="en-US" sz="2200" dirty="0" smtClean="0"/>
          </a:p>
          <a:p>
            <a:endParaRPr lang="en-US" sz="2200" dirty="0" smtClean="0"/>
          </a:p>
          <a:p>
            <a:endParaRPr lang="en-US" sz="2200" dirty="0" smtClean="0"/>
          </a:p>
          <a:p>
            <a:endParaRPr lang="en-US" sz="2200" dirty="0" smtClean="0"/>
          </a:p>
          <a:p>
            <a:endParaRPr lang="en-US" sz="2200" dirty="0" smtClean="0"/>
          </a:p>
          <a:p>
            <a:endParaRPr lang="en-US" sz="2200" dirty="0" smtClean="0"/>
          </a:p>
          <a:p>
            <a:endParaRPr lang="en-US" sz="2200" dirty="0" smtClean="0"/>
          </a:p>
          <a:p>
            <a:r>
              <a:rPr lang="en-US" sz="2000" dirty="0" smtClean="0"/>
              <a:t>To set the color to an object, the </a:t>
            </a:r>
            <a:r>
              <a:rPr lang="en-US" sz="2000" dirty="0" err="1" smtClean="0"/>
              <a:t>setcolor</a:t>
            </a:r>
            <a:r>
              <a:rPr lang="en-US" sz="2000" dirty="0" smtClean="0"/>
              <a:t>() method found in the Graphics class is used. The </a:t>
            </a:r>
            <a:r>
              <a:rPr lang="en-US" sz="2000" dirty="0" err="1" smtClean="0"/>
              <a:t>getcolor</a:t>
            </a:r>
            <a:r>
              <a:rPr lang="en-US" sz="2000" dirty="0" smtClean="0"/>
              <a:t>() method helps to know present color of applet.</a:t>
            </a:r>
          </a:p>
          <a:p>
            <a:endParaRPr lang="en-US" sz="2200" dirty="0" smtClean="0"/>
          </a:p>
          <a:p>
            <a:endParaRPr lang="en-IN" sz="2200" dirty="0"/>
          </a:p>
        </p:txBody>
      </p:sp>
      <p:graphicFrame>
        <p:nvGraphicFramePr>
          <p:cNvPr id="6" name="Table 5"/>
          <p:cNvGraphicFramePr>
            <a:graphicFrameLocks noGrp="1"/>
          </p:cNvGraphicFramePr>
          <p:nvPr/>
        </p:nvGraphicFramePr>
        <p:xfrm>
          <a:off x="1071538" y="3137322"/>
          <a:ext cx="7000924" cy="630936"/>
        </p:xfrm>
        <a:graphic>
          <a:graphicData uri="http://schemas.openxmlformats.org/drawingml/2006/table">
            <a:tbl>
              <a:tblPr/>
              <a:tblGrid>
                <a:gridCol w="3929090"/>
                <a:gridCol w="3071834"/>
              </a:tblGrid>
              <a:tr h="203939">
                <a:tc>
                  <a:txBody>
                    <a:bodyPr/>
                    <a:lstStyle/>
                    <a:p>
                      <a:pPr marL="457200" algn="just">
                        <a:lnSpc>
                          <a:spcPct val="115000"/>
                        </a:lnSpc>
                        <a:spcAft>
                          <a:spcPts val="0"/>
                        </a:spcAft>
                        <a:tabLst>
                          <a:tab pos="285750" algn="l"/>
                        </a:tabLst>
                      </a:pPr>
                      <a:r>
                        <a:rPr lang="en-US" sz="1200" b="1" dirty="0">
                          <a:latin typeface="Times New Roman"/>
                          <a:ea typeface="Times New Roman"/>
                          <a:cs typeface="Times New Roman"/>
                        </a:rPr>
                        <a:t>Syntax:</a:t>
                      </a:r>
                      <a:endParaRPr lang="en-IN" sz="12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r>
                        <a:rPr lang="en-US" sz="1200" b="1">
                          <a:latin typeface="Times New Roman"/>
                          <a:ea typeface="Times New Roman"/>
                          <a:cs typeface="Times New Roman"/>
                        </a:rPr>
                        <a:t>Example</a:t>
                      </a:r>
                      <a:endParaRPr lang="en-IN" sz="120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878">
                <a:tc>
                  <a:txBody>
                    <a:bodyPr/>
                    <a:lstStyle/>
                    <a:p>
                      <a:pPr marL="457200" algn="just">
                        <a:lnSpc>
                          <a:spcPct val="115000"/>
                        </a:lnSpc>
                        <a:spcAft>
                          <a:spcPts val="0"/>
                        </a:spcAft>
                        <a:tabLst>
                          <a:tab pos="285750" algn="l"/>
                        </a:tabLst>
                      </a:pPr>
                      <a:r>
                        <a:rPr lang="en-US" sz="1200" dirty="0" err="1">
                          <a:latin typeface="Times New Roman"/>
                          <a:ea typeface="Times New Roman"/>
                          <a:cs typeface="Times New Roman"/>
                        </a:rPr>
                        <a:t>setBackground</a:t>
                      </a:r>
                      <a:r>
                        <a:rPr lang="en-US" sz="1200" dirty="0">
                          <a:latin typeface="Times New Roman"/>
                          <a:ea typeface="Times New Roman"/>
                          <a:cs typeface="Times New Roman"/>
                        </a:rPr>
                        <a:t>(</a:t>
                      </a:r>
                      <a:r>
                        <a:rPr lang="en-US" sz="1200" dirty="0" err="1">
                          <a:latin typeface="Times New Roman"/>
                          <a:ea typeface="Times New Roman"/>
                          <a:cs typeface="Times New Roman"/>
                        </a:rPr>
                        <a:t>Color.new</a:t>
                      </a:r>
                      <a:r>
                        <a:rPr lang="en-US" sz="1200" dirty="0">
                          <a:latin typeface="Times New Roman"/>
                          <a:ea typeface="Times New Roman"/>
                          <a:cs typeface="Times New Roman"/>
                        </a:rPr>
                        <a:t>)</a:t>
                      </a:r>
                      <a:endParaRPr lang="en-IN" sz="1200" dirty="0">
                        <a:latin typeface="Calibri"/>
                        <a:ea typeface="Times New Roman"/>
                        <a:cs typeface="Times New Roman"/>
                      </a:endParaRPr>
                    </a:p>
                    <a:p>
                      <a:pPr marL="457200" algn="just">
                        <a:lnSpc>
                          <a:spcPct val="115000"/>
                        </a:lnSpc>
                        <a:spcAft>
                          <a:spcPts val="0"/>
                        </a:spcAft>
                        <a:tabLst>
                          <a:tab pos="285750" algn="l"/>
                        </a:tabLst>
                      </a:pPr>
                      <a:r>
                        <a:rPr lang="en-US" sz="1200" dirty="0" err="1">
                          <a:latin typeface="Times New Roman"/>
                          <a:ea typeface="Times New Roman"/>
                          <a:cs typeface="Times New Roman"/>
                        </a:rPr>
                        <a:t>setForeground</a:t>
                      </a:r>
                      <a:r>
                        <a:rPr lang="en-US" sz="1200" dirty="0">
                          <a:latin typeface="Times New Roman"/>
                          <a:ea typeface="Times New Roman"/>
                          <a:cs typeface="Times New Roman"/>
                        </a:rPr>
                        <a:t>(</a:t>
                      </a:r>
                      <a:r>
                        <a:rPr lang="en-US" sz="1200" dirty="0" err="1">
                          <a:latin typeface="Times New Roman"/>
                          <a:ea typeface="Times New Roman"/>
                          <a:cs typeface="Times New Roman"/>
                        </a:rPr>
                        <a:t>Color.new</a:t>
                      </a:r>
                      <a:r>
                        <a:rPr lang="en-US" sz="1200" dirty="0">
                          <a:latin typeface="Times New Roman"/>
                          <a:ea typeface="Times New Roman"/>
                          <a:cs typeface="Times New Roman"/>
                        </a:rPr>
                        <a:t>)</a:t>
                      </a:r>
                      <a:endParaRPr lang="en-IN" sz="12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r>
                        <a:rPr lang="en-US" sz="1200" dirty="0" err="1">
                          <a:latin typeface="Times New Roman"/>
                          <a:ea typeface="Times New Roman"/>
                          <a:cs typeface="Times New Roman"/>
                        </a:rPr>
                        <a:t>setBackground</a:t>
                      </a:r>
                      <a:r>
                        <a:rPr lang="en-US" sz="1200" dirty="0">
                          <a:latin typeface="Times New Roman"/>
                          <a:ea typeface="Times New Roman"/>
                          <a:cs typeface="Times New Roman"/>
                        </a:rPr>
                        <a:t>(</a:t>
                      </a:r>
                      <a:r>
                        <a:rPr lang="en-US" sz="1200" dirty="0" err="1">
                          <a:latin typeface="Times New Roman"/>
                          <a:ea typeface="Times New Roman"/>
                          <a:cs typeface="Times New Roman"/>
                        </a:rPr>
                        <a:t>Color.blue</a:t>
                      </a:r>
                      <a:r>
                        <a:rPr lang="en-US" sz="1200" dirty="0">
                          <a:latin typeface="Times New Roman"/>
                          <a:ea typeface="Times New Roman"/>
                          <a:cs typeface="Times New Roman"/>
                        </a:rPr>
                        <a:t>)</a:t>
                      </a:r>
                      <a:endParaRPr lang="en-IN" sz="1200" dirty="0">
                        <a:latin typeface="Calibri"/>
                        <a:ea typeface="Times New Roman"/>
                        <a:cs typeface="Times New Roman"/>
                      </a:endParaRPr>
                    </a:p>
                    <a:p>
                      <a:pPr marL="457200" algn="just">
                        <a:lnSpc>
                          <a:spcPct val="115000"/>
                        </a:lnSpc>
                        <a:spcAft>
                          <a:spcPts val="0"/>
                        </a:spcAft>
                        <a:tabLst>
                          <a:tab pos="285750" algn="l"/>
                        </a:tabLst>
                      </a:pPr>
                      <a:r>
                        <a:rPr lang="en-US" sz="1200" dirty="0" err="1">
                          <a:latin typeface="Times New Roman"/>
                          <a:ea typeface="Times New Roman"/>
                          <a:cs typeface="Times New Roman"/>
                        </a:rPr>
                        <a:t>setForeground</a:t>
                      </a:r>
                      <a:r>
                        <a:rPr lang="en-US" sz="1200" dirty="0">
                          <a:latin typeface="Times New Roman"/>
                          <a:ea typeface="Times New Roman"/>
                          <a:cs typeface="Times New Roman"/>
                        </a:rPr>
                        <a:t>(</a:t>
                      </a:r>
                      <a:r>
                        <a:rPr lang="en-US" sz="1200" dirty="0" err="1">
                          <a:latin typeface="Times New Roman"/>
                          <a:ea typeface="Times New Roman"/>
                          <a:cs typeface="Times New Roman"/>
                        </a:rPr>
                        <a:t>Color.red</a:t>
                      </a:r>
                      <a:r>
                        <a:rPr lang="en-US" sz="1200" dirty="0">
                          <a:latin typeface="Times New Roman"/>
                          <a:ea typeface="Times New Roman"/>
                          <a:cs typeface="Times New Roman"/>
                        </a:rPr>
                        <a:t>)</a:t>
                      </a:r>
                      <a:endParaRPr lang="en-IN" sz="12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1071538" y="3923140"/>
          <a:ext cx="7000924" cy="2077628"/>
        </p:xfrm>
        <a:graphic>
          <a:graphicData uri="http://schemas.openxmlformats.org/drawingml/2006/table">
            <a:tbl>
              <a:tblPr/>
              <a:tblGrid>
                <a:gridCol w="3929090"/>
                <a:gridCol w="3071834"/>
              </a:tblGrid>
              <a:tr h="203939">
                <a:tc>
                  <a:txBody>
                    <a:bodyPr/>
                    <a:lstStyle/>
                    <a:p>
                      <a:pPr marL="457200" algn="just">
                        <a:lnSpc>
                          <a:spcPct val="115000"/>
                        </a:lnSpc>
                        <a:spcAft>
                          <a:spcPts val="0"/>
                        </a:spcAft>
                        <a:tabLst>
                          <a:tab pos="285750" algn="l"/>
                        </a:tabLst>
                      </a:pPr>
                      <a:r>
                        <a:rPr lang="en-US" sz="1200" b="1" dirty="0">
                          <a:latin typeface="Times New Roman"/>
                          <a:ea typeface="Times New Roman"/>
                          <a:cs typeface="Times New Roman"/>
                        </a:rPr>
                        <a:t>Syntax:</a:t>
                      </a:r>
                      <a:endParaRPr lang="en-IN" sz="11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r>
                        <a:rPr lang="en-US" sz="1200" b="1" dirty="0">
                          <a:latin typeface="Times New Roman"/>
                          <a:ea typeface="Times New Roman"/>
                          <a:cs typeface="Times New Roman"/>
                        </a:rPr>
                        <a:t>Example</a:t>
                      </a:r>
                      <a:endParaRPr lang="en-IN" sz="11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878">
                <a:tc>
                  <a:txBody>
                    <a:bodyPr/>
                    <a:lstStyle/>
                    <a:p>
                      <a:pPr marL="457200" algn="just">
                        <a:lnSpc>
                          <a:spcPct val="115000"/>
                        </a:lnSpc>
                        <a:spcAft>
                          <a:spcPts val="0"/>
                        </a:spcAft>
                        <a:tabLst>
                          <a:tab pos="285750" algn="l"/>
                        </a:tabLst>
                      </a:pPr>
                      <a:r>
                        <a:rPr lang="en-US" sz="1200" dirty="0">
                          <a:latin typeface="Times New Roman"/>
                          <a:ea typeface="Times New Roman"/>
                          <a:cs typeface="Times New Roman"/>
                        </a:rPr>
                        <a:t>Color c = new Color(</a:t>
                      </a:r>
                      <a:r>
                        <a:rPr lang="en-US" sz="1200" dirty="0" err="1">
                          <a:latin typeface="Times New Roman"/>
                          <a:ea typeface="Times New Roman"/>
                          <a:cs typeface="Times New Roman"/>
                        </a:rPr>
                        <a:t>int</a:t>
                      </a:r>
                      <a:r>
                        <a:rPr lang="en-US" sz="1200" dirty="0">
                          <a:latin typeface="Times New Roman"/>
                          <a:ea typeface="Times New Roman"/>
                          <a:cs typeface="Times New Roman"/>
                        </a:rPr>
                        <a:t> red, </a:t>
                      </a:r>
                      <a:r>
                        <a:rPr lang="en-US" sz="1200" dirty="0" err="1">
                          <a:latin typeface="Times New Roman"/>
                          <a:ea typeface="Times New Roman"/>
                          <a:cs typeface="Times New Roman"/>
                        </a:rPr>
                        <a:t>int</a:t>
                      </a:r>
                      <a:r>
                        <a:rPr lang="en-US" sz="1200" dirty="0">
                          <a:latin typeface="Times New Roman"/>
                          <a:ea typeface="Times New Roman"/>
                          <a:cs typeface="Times New Roman"/>
                        </a:rPr>
                        <a:t> green, </a:t>
                      </a:r>
                      <a:r>
                        <a:rPr lang="en-US" sz="1200" dirty="0" err="1">
                          <a:latin typeface="Times New Roman"/>
                          <a:ea typeface="Times New Roman"/>
                          <a:cs typeface="Times New Roman"/>
                        </a:rPr>
                        <a:t>int</a:t>
                      </a:r>
                      <a:r>
                        <a:rPr lang="en-US" sz="1200" dirty="0">
                          <a:latin typeface="Times New Roman"/>
                          <a:ea typeface="Times New Roman"/>
                          <a:cs typeface="Times New Roman"/>
                        </a:rPr>
                        <a:t> blue)</a:t>
                      </a:r>
                      <a:endParaRPr lang="en-IN" sz="11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r>
                        <a:rPr lang="en-US" sz="1200">
                          <a:latin typeface="Times New Roman"/>
                          <a:ea typeface="Times New Roman"/>
                          <a:cs typeface="Times New Roman"/>
                        </a:rPr>
                        <a:t>Color c = new Color(255,100,5)</a:t>
                      </a:r>
                      <a:endParaRPr lang="en-IN" sz="11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878">
                <a:tc gridSpan="2">
                  <a:txBody>
                    <a:bodyPr/>
                    <a:lstStyle/>
                    <a:p>
                      <a:pPr marL="457200" algn="just">
                        <a:lnSpc>
                          <a:spcPct val="115000"/>
                        </a:lnSpc>
                        <a:spcAft>
                          <a:spcPts val="0"/>
                        </a:spcAft>
                        <a:tabLst>
                          <a:tab pos="285750" algn="l"/>
                        </a:tabLst>
                      </a:pPr>
                      <a:r>
                        <a:rPr lang="en-US" sz="1200" dirty="0">
                          <a:latin typeface="Times New Roman"/>
                          <a:ea typeface="Times New Roman"/>
                          <a:cs typeface="Times New Roman"/>
                        </a:rPr>
                        <a:t>This constructor takes three parameters that specify the color has mixture of RGB. These integer values lies between 0 – 255</a:t>
                      </a:r>
                      <a:endParaRPr lang="en-IN" sz="11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r>
              <a:tr h="203939">
                <a:tc>
                  <a:txBody>
                    <a:bodyPr/>
                    <a:lstStyle/>
                    <a:p>
                      <a:pPr marL="457200" algn="just">
                        <a:lnSpc>
                          <a:spcPct val="115000"/>
                        </a:lnSpc>
                        <a:spcAft>
                          <a:spcPts val="0"/>
                        </a:spcAft>
                        <a:tabLst>
                          <a:tab pos="285750" algn="l"/>
                        </a:tabLst>
                      </a:pPr>
                      <a:r>
                        <a:rPr lang="en-US" sz="1200" b="1" dirty="0">
                          <a:latin typeface="Times New Roman"/>
                          <a:ea typeface="Times New Roman"/>
                          <a:cs typeface="Times New Roman"/>
                        </a:rPr>
                        <a:t>Syntax:</a:t>
                      </a:r>
                      <a:endParaRPr lang="en-IN" sz="11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r>
                        <a:rPr lang="en-US" sz="1200" b="1">
                          <a:latin typeface="Times New Roman"/>
                          <a:ea typeface="Times New Roman"/>
                          <a:cs typeface="Times New Roman"/>
                        </a:rPr>
                        <a:t>Example</a:t>
                      </a:r>
                      <a:endParaRPr lang="en-IN" sz="110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878">
                <a:tc>
                  <a:txBody>
                    <a:bodyPr/>
                    <a:lstStyle/>
                    <a:p>
                      <a:pPr marL="457200" algn="just">
                        <a:lnSpc>
                          <a:spcPct val="115000"/>
                        </a:lnSpc>
                        <a:spcAft>
                          <a:spcPts val="0"/>
                        </a:spcAft>
                        <a:tabLst>
                          <a:tab pos="285750" algn="l"/>
                        </a:tabLst>
                      </a:pPr>
                      <a:r>
                        <a:rPr lang="en-US" sz="1200">
                          <a:latin typeface="Times New Roman"/>
                          <a:ea typeface="Times New Roman"/>
                          <a:cs typeface="Times New Roman"/>
                        </a:rPr>
                        <a:t>Color c = new Color(float red, float green, float blue)</a:t>
                      </a:r>
                      <a:endParaRPr lang="en-IN" sz="110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r>
                        <a:rPr lang="en-US" sz="1200" dirty="0">
                          <a:latin typeface="Times New Roman"/>
                          <a:ea typeface="Times New Roman"/>
                          <a:cs typeface="Times New Roman"/>
                        </a:rPr>
                        <a:t>Color c = new Color(0.0, 0.5, 1.0)</a:t>
                      </a:r>
                      <a:endParaRPr lang="en-IN" sz="11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878">
                <a:tc gridSpan="2">
                  <a:txBody>
                    <a:bodyPr/>
                    <a:lstStyle/>
                    <a:p>
                      <a:pPr marL="457200" algn="just">
                        <a:lnSpc>
                          <a:spcPct val="115000"/>
                        </a:lnSpc>
                        <a:spcAft>
                          <a:spcPts val="0"/>
                        </a:spcAft>
                        <a:tabLst>
                          <a:tab pos="285750" algn="l"/>
                        </a:tabLst>
                      </a:pPr>
                      <a:r>
                        <a:rPr lang="en-US" sz="1200" dirty="0">
                          <a:latin typeface="Times New Roman"/>
                          <a:ea typeface="Times New Roman"/>
                          <a:cs typeface="Times New Roman"/>
                        </a:rPr>
                        <a:t>This constructor takes three parameters that specify the color has mixture of RGB. These float values lies between 0.0 – 1.0</a:t>
                      </a:r>
                      <a:endParaRPr lang="en-IN" sz="1100" dirty="0">
                        <a:latin typeface="Calibri"/>
                        <a:ea typeface="Times New Roman"/>
                        <a:cs typeface="Times New Roman"/>
                      </a:endParaRPr>
                    </a:p>
                  </a:txBody>
                  <a:tcPr marL="66502" marR="66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r>
            </a:tbl>
          </a:graphicData>
        </a:graphic>
      </p:graphicFrame>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US" dirty="0" smtClean="0">
                <a:hlinkClick r:id="rId2" action="ppaction://hlinkfile"/>
              </a:rPr>
              <a:t>Working with Fonts</a:t>
            </a:r>
            <a:endParaRPr lang="en-IN" dirty="0" smtClean="0"/>
          </a:p>
        </p:txBody>
      </p:sp>
      <p:sp>
        <p:nvSpPr>
          <p:cNvPr id="4" name="Content Placeholder 3"/>
          <p:cNvSpPr>
            <a:spLocks noGrp="1"/>
          </p:cNvSpPr>
          <p:nvPr>
            <p:ph sz="quarter" idx="1"/>
          </p:nvPr>
        </p:nvSpPr>
        <p:spPr/>
        <p:txBody>
          <a:bodyPr>
            <a:noAutofit/>
          </a:bodyPr>
          <a:lstStyle/>
          <a:p>
            <a:r>
              <a:rPr lang="en-US" sz="2400" dirty="0" smtClean="0"/>
              <a:t>Text can be written inside an applet using different fonts. The </a:t>
            </a:r>
            <a:r>
              <a:rPr lang="en-US" sz="2400" b="1" dirty="0" smtClean="0"/>
              <a:t>java.awt</a:t>
            </a:r>
            <a:r>
              <a:rPr lang="en-US" sz="2400" dirty="0" smtClean="0"/>
              <a:t> supports multiple types of fonts. Fonts are encapsulated in a </a:t>
            </a:r>
            <a:r>
              <a:rPr lang="en-US" sz="2400" b="1" dirty="0" smtClean="0"/>
              <a:t>Font</a:t>
            </a:r>
            <a:r>
              <a:rPr lang="en-US" sz="2400" dirty="0" smtClean="0"/>
              <a:t> class. </a:t>
            </a:r>
          </a:p>
          <a:p>
            <a:r>
              <a:rPr lang="en-US" sz="2400" dirty="0" smtClean="0"/>
              <a:t>To select a new font you must first construct a font object that describes that font.</a:t>
            </a:r>
          </a:p>
          <a:p>
            <a:endParaRPr lang="en-US" sz="2200" dirty="0" smtClean="0"/>
          </a:p>
          <a:p>
            <a:endParaRPr lang="en-US" sz="2200" dirty="0" smtClean="0"/>
          </a:p>
          <a:p>
            <a:endParaRPr lang="en-US" sz="2200" dirty="0" smtClean="0"/>
          </a:p>
          <a:p>
            <a:endParaRPr lang="en-US" sz="2200" dirty="0" smtClean="0"/>
          </a:p>
          <a:p>
            <a:endParaRPr lang="en-US" sz="2200" dirty="0" smtClean="0"/>
          </a:p>
          <a:p>
            <a:endParaRPr lang="en-US" sz="2200" dirty="0" smtClean="0"/>
          </a:p>
          <a:p>
            <a:r>
              <a:rPr lang="en-US" sz="2000" dirty="0" smtClean="0"/>
              <a:t>To Select a font </a:t>
            </a:r>
            <a:r>
              <a:rPr lang="en-US" sz="2000" b="1" dirty="0" err="1" smtClean="0"/>
              <a:t>setfont</a:t>
            </a:r>
            <a:r>
              <a:rPr lang="en-US" sz="2000" b="1" dirty="0" smtClean="0"/>
              <a:t>() </a:t>
            </a:r>
            <a:r>
              <a:rPr lang="en-US" sz="2000" dirty="0" smtClean="0"/>
              <a:t>method is called &amp; to get the information about currently selected font then call </a:t>
            </a:r>
            <a:r>
              <a:rPr lang="en-US" sz="2000" b="1" dirty="0" err="1" smtClean="0"/>
              <a:t>getfont</a:t>
            </a:r>
            <a:r>
              <a:rPr lang="en-US" sz="2000" b="1" dirty="0" smtClean="0"/>
              <a:t>()</a:t>
            </a:r>
            <a:r>
              <a:rPr lang="en-US" sz="2000" dirty="0" smtClean="0"/>
              <a:t> method.</a:t>
            </a:r>
            <a:endParaRPr lang="en-IN" sz="2200" dirty="0"/>
          </a:p>
        </p:txBody>
      </p:sp>
      <p:graphicFrame>
        <p:nvGraphicFramePr>
          <p:cNvPr id="8" name="Table 7"/>
          <p:cNvGraphicFramePr>
            <a:graphicFrameLocks noGrp="1"/>
          </p:cNvGraphicFramePr>
          <p:nvPr/>
        </p:nvGraphicFramePr>
        <p:xfrm>
          <a:off x="1071538" y="3571876"/>
          <a:ext cx="7786742" cy="1862177"/>
        </p:xfrm>
        <a:graphic>
          <a:graphicData uri="http://schemas.openxmlformats.org/drawingml/2006/table">
            <a:tbl>
              <a:tblPr/>
              <a:tblGrid>
                <a:gridCol w="1785950"/>
                <a:gridCol w="6000792"/>
              </a:tblGrid>
              <a:tr h="202102">
                <a:tc gridSpan="2">
                  <a:txBody>
                    <a:bodyPr/>
                    <a:lstStyle/>
                    <a:p>
                      <a:pPr marL="457200" algn="just">
                        <a:lnSpc>
                          <a:spcPct val="115000"/>
                        </a:lnSpc>
                        <a:spcAft>
                          <a:spcPts val="0"/>
                        </a:spcAft>
                        <a:tabLst>
                          <a:tab pos="285750" algn="l"/>
                        </a:tabLst>
                      </a:pPr>
                      <a:r>
                        <a:rPr lang="en-US" sz="1400" b="1" dirty="0">
                          <a:latin typeface="Times New Roman"/>
                          <a:ea typeface="Times New Roman"/>
                          <a:cs typeface="Times New Roman"/>
                        </a:rPr>
                        <a:t>Syntax:</a:t>
                      </a:r>
                      <a:r>
                        <a:rPr lang="en-US" sz="1400" dirty="0">
                          <a:latin typeface="Times New Roman"/>
                          <a:ea typeface="Times New Roman"/>
                          <a:cs typeface="Times New Roman"/>
                        </a:rPr>
                        <a:t>     </a:t>
                      </a:r>
                      <a:r>
                        <a:rPr lang="en-US" sz="1400" b="1" dirty="0">
                          <a:latin typeface="Times New Roman"/>
                          <a:ea typeface="Times New Roman"/>
                          <a:cs typeface="Times New Roman"/>
                        </a:rPr>
                        <a:t>Font(String </a:t>
                      </a:r>
                      <a:r>
                        <a:rPr lang="en-US" sz="1400" b="1" dirty="0" err="1">
                          <a:latin typeface="Times New Roman"/>
                          <a:ea typeface="Times New Roman"/>
                          <a:cs typeface="Times New Roman"/>
                        </a:rPr>
                        <a:t>Font_</a:t>
                      </a:r>
                      <a:r>
                        <a:rPr lang="en-US" sz="1400" b="1" i="1" dirty="0" err="1">
                          <a:latin typeface="Times New Roman"/>
                          <a:ea typeface="Times New Roman"/>
                          <a:cs typeface="Times New Roman"/>
                        </a:rPr>
                        <a:t>name</a:t>
                      </a:r>
                      <a:r>
                        <a:rPr lang="en-US" sz="1400" b="1" dirty="0">
                          <a:latin typeface="Times New Roman"/>
                          <a:ea typeface="Times New Roman"/>
                          <a:cs typeface="Times New Roman"/>
                        </a:rPr>
                        <a:t>, </a:t>
                      </a:r>
                      <a:r>
                        <a:rPr lang="en-US" sz="1400" b="1" dirty="0" err="1">
                          <a:latin typeface="Times New Roman"/>
                          <a:ea typeface="Times New Roman"/>
                          <a:cs typeface="Times New Roman"/>
                        </a:rPr>
                        <a:t>int</a:t>
                      </a:r>
                      <a:r>
                        <a:rPr lang="en-US" sz="1400" b="1" dirty="0">
                          <a:latin typeface="Times New Roman"/>
                          <a:ea typeface="Times New Roman"/>
                          <a:cs typeface="Times New Roman"/>
                        </a:rPr>
                        <a:t> </a:t>
                      </a:r>
                      <a:r>
                        <a:rPr lang="en-US" sz="1400" b="1" dirty="0" err="1">
                          <a:latin typeface="Times New Roman"/>
                          <a:ea typeface="Times New Roman"/>
                          <a:cs typeface="Times New Roman"/>
                        </a:rPr>
                        <a:t>Font_</a:t>
                      </a:r>
                      <a:r>
                        <a:rPr lang="en-US" sz="1400" b="1" i="1" dirty="0" err="1">
                          <a:latin typeface="Times New Roman"/>
                          <a:ea typeface="Times New Roman"/>
                          <a:cs typeface="Times New Roman"/>
                        </a:rPr>
                        <a:t>style</a:t>
                      </a:r>
                      <a:r>
                        <a:rPr lang="en-US" sz="1400" b="1" dirty="0">
                          <a:latin typeface="Times New Roman"/>
                          <a:ea typeface="Times New Roman"/>
                          <a:cs typeface="Times New Roman"/>
                        </a:rPr>
                        <a:t>, </a:t>
                      </a:r>
                      <a:r>
                        <a:rPr lang="en-US" sz="1400" b="1" dirty="0" err="1">
                          <a:latin typeface="Times New Roman"/>
                          <a:ea typeface="Times New Roman"/>
                          <a:cs typeface="Times New Roman"/>
                        </a:rPr>
                        <a:t>int</a:t>
                      </a:r>
                      <a:r>
                        <a:rPr lang="en-US" sz="1400" b="1" dirty="0">
                          <a:latin typeface="Times New Roman"/>
                          <a:ea typeface="Times New Roman"/>
                          <a:cs typeface="Times New Roman"/>
                        </a:rPr>
                        <a:t> </a:t>
                      </a:r>
                      <a:r>
                        <a:rPr lang="en-US" sz="1400" b="1" dirty="0" err="1">
                          <a:latin typeface="Times New Roman"/>
                          <a:ea typeface="Times New Roman"/>
                          <a:cs typeface="Times New Roman"/>
                        </a:rPr>
                        <a:t>Font_</a:t>
                      </a:r>
                      <a:r>
                        <a:rPr lang="en-US" sz="1400" b="1" i="1" dirty="0" err="1">
                          <a:latin typeface="Times New Roman"/>
                          <a:ea typeface="Times New Roman"/>
                          <a:cs typeface="Times New Roman"/>
                        </a:rPr>
                        <a:t>size</a:t>
                      </a:r>
                      <a:r>
                        <a:rPr lang="en-US" sz="1400" b="1" dirty="0">
                          <a:latin typeface="Times New Roman"/>
                          <a:ea typeface="Times New Roman"/>
                          <a:cs typeface="Times New Roman"/>
                        </a:rPr>
                        <a:t>); </a:t>
                      </a:r>
                      <a:endParaRPr lang="en-IN" sz="1400" dirty="0">
                        <a:latin typeface="Calibri"/>
                        <a:ea typeface="Times New Roman"/>
                        <a:cs typeface="Times New Roman"/>
                      </a:endParaRPr>
                    </a:p>
                  </a:txBody>
                  <a:tcPr marL="65903" marR="65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r>
              <a:tr h="606305">
                <a:tc>
                  <a:txBody>
                    <a:bodyPr/>
                    <a:lstStyle/>
                    <a:p>
                      <a:pPr marL="457200" algn="just">
                        <a:lnSpc>
                          <a:spcPct val="115000"/>
                        </a:lnSpc>
                        <a:spcAft>
                          <a:spcPts val="0"/>
                        </a:spcAft>
                        <a:tabLst>
                          <a:tab pos="285750" algn="l"/>
                        </a:tabLst>
                      </a:pPr>
                      <a:r>
                        <a:rPr lang="en-US" sz="1400" b="1">
                          <a:latin typeface="Times New Roman"/>
                          <a:ea typeface="Times New Roman"/>
                          <a:cs typeface="Times New Roman"/>
                        </a:rPr>
                        <a:t>Font_</a:t>
                      </a:r>
                      <a:r>
                        <a:rPr lang="en-US" sz="1400" b="1" i="1">
                          <a:latin typeface="Times New Roman"/>
                          <a:ea typeface="Times New Roman"/>
                          <a:cs typeface="Times New Roman"/>
                        </a:rPr>
                        <a:t>name</a:t>
                      </a:r>
                      <a:endParaRPr lang="en-IN" sz="1400">
                        <a:latin typeface="Calibri"/>
                        <a:ea typeface="Times New Roman"/>
                        <a:cs typeface="Times New Roman"/>
                      </a:endParaRPr>
                    </a:p>
                  </a:txBody>
                  <a:tcPr marL="65903" marR="65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lnSpc>
                          <a:spcPct val="115000"/>
                        </a:lnSpc>
                        <a:spcAft>
                          <a:spcPts val="0"/>
                        </a:spcAft>
                        <a:tabLst>
                          <a:tab pos="285750" algn="l"/>
                        </a:tabLst>
                      </a:pPr>
                      <a:r>
                        <a:rPr lang="en-US" sz="1400" dirty="0">
                          <a:latin typeface="Times New Roman"/>
                          <a:ea typeface="Times New Roman"/>
                          <a:cs typeface="Times New Roman"/>
                        </a:rPr>
                        <a:t>Specify the name of the desired font (Times New Roman, Courier, Arial, etc.)</a:t>
                      </a:r>
                      <a:endParaRPr lang="en-IN" sz="1400" dirty="0">
                        <a:latin typeface="Calibri"/>
                        <a:ea typeface="Times New Roman"/>
                        <a:cs typeface="Times New Roman"/>
                      </a:endParaRPr>
                    </a:p>
                  </a:txBody>
                  <a:tcPr marL="65903" marR="65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6305">
                <a:tc>
                  <a:txBody>
                    <a:bodyPr/>
                    <a:lstStyle/>
                    <a:p>
                      <a:pPr marL="457200" algn="just">
                        <a:lnSpc>
                          <a:spcPct val="115000"/>
                        </a:lnSpc>
                        <a:spcAft>
                          <a:spcPts val="0"/>
                        </a:spcAft>
                        <a:tabLst>
                          <a:tab pos="285750" algn="l"/>
                        </a:tabLst>
                      </a:pPr>
                      <a:r>
                        <a:rPr lang="en-US" sz="1400" b="1">
                          <a:latin typeface="Times New Roman"/>
                          <a:ea typeface="Times New Roman"/>
                          <a:cs typeface="Times New Roman"/>
                        </a:rPr>
                        <a:t>Font_</a:t>
                      </a:r>
                      <a:r>
                        <a:rPr lang="en-US" sz="1400" b="1" i="1">
                          <a:latin typeface="Times New Roman"/>
                          <a:ea typeface="Times New Roman"/>
                          <a:cs typeface="Times New Roman"/>
                        </a:rPr>
                        <a:t>style</a:t>
                      </a:r>
                      <a:endParaRPr lang="en-IN" sz="1400">
                        <a:latin typeface="Calibri"/>
                        <a:ea typeface="Times New Roman"/>
                        <a:cs typeface="Times New Roman"/>
                      </a:endParaRPr>
                    </a:p>
                  </a:txBody>
                  <a:tcPr marL="65903" marR="65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lnSpc>
                          <a:spcPct val="115000"/>
                        </a:lnSpc>
                        <a:spcAft>
                          <a:spcPts val="0"/>
                        </a:spcAft>
                        <a:tabLst>
                          <a:tab pos="285750" algn="l"/>
                        </a:tabLst>
                      </a:pPr>
                      <a:r>
                        <a:rPr lang="en-US" sz="1400" dirty="0">
                          <a:latin typeface="Times New Roman"/>
                          <a:ea typeface="Times New Roman"/>
                          <a:cs typeface="Times New Roman"/>
                        </a:rPr>
                        <a:t>Specify style of font &amp; it takes following constant (BOLD, ITALIC, PLAIN)</a:t>
                      </a:r>
                      <a:endParaRPr lang="en-IN" sz="1400" dirty="0">
                        <a:latin typeface="Calibri"/>
                        <a:ea typeface="Times New Roman"/>
                        <a:cs typeface="Times New Roman"/>
                      </a:endParaRPr>
                    </a:p>
                  </a:txBody>
                  <a:tcPr marL="65903" marR="65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203">
                <a:tc>
                  <a:txBody>
                    <a:bodyPr/>
                    <a:lstStyle/>
                    <a:p>
                      <a:pPr marL="457200" algn="just">
                        <a:lnSpc>
                          <a:spcPct val="115000"/>
                        </a:lnSpc>
                        <a:spcAft>
                          <a:spcPts val="0"/>
                        </a:spcAft>
                        <a:tabLst>
                          <a:tab pos="285750" algn="l"/>
                        </a:tabLst>
                      </a:pPr>
                      <a:r>
                        <a:rPr lang="en-US" sz="1400" b="1">
                          <a:latin typeface="Times New Roman"/>
                          <a:ea typeface="Times New Roman"/>
                          <a:cs typeface="Times New Roman"/>
                        </a:rPr>
                        <a:t>Font_</a:t>
                      </a:r>
                      <a:r>
                        <a:rPr lang="en-US" sz="1400" b="1" i="1">
                          <a:latin typeface="Times New Roman"/>
                          <a:ea typeface="Times New Roman"/>
                          <a:cs typeface="Times New Roman"/>
                        </a:rPr>
                        <a:t>size</a:t>
                      </a:r>
                      <a:endParaRPr lang="en-IN" sz="1400">
                        <a:latin typeface="Calibri"/>
                        <a:ea typeface="Times New Roman"/>
                        <a:cs typeface="Times New Roman"/>
                      </a:endParaRPr>
                    </a:p>
                  </a:txBody>
                  <a:tcPr marL="65903" marR="65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lnSpc>
                          <a:spcPct val="115000"/>
                        </a:lnSpc>
                        <a:spcAft>
                          <a:spcPts val="0"/>
                        </a:spcAft>
                        <a:tabLst>
                          <a:tab pos="285750" algn="l"/>
                        </a:tabLst>
                      </a:pPr>
                      <a:r>
                        <a:rPr lang="en-US" sz="1400" dirty="0">
                          <a:latin typeface="Times New Roman"/>
                          <a:ea typeface="Times New Roman"/>
                          <a:cs typeface="Times New Roman"/>
                        </a:rPr>
                        <a:t>Specify the size of the font (8 – 72)</a:t>
                      </a:r>
                      <a:endParaRPr lang="en-IN" sz="1400" dirty="0">
                        <a:latin typeface="Calibri"/>
                        <a:ea typeface="Times New Roman"/>
                        <a:cs typeface="Times New Roman"/>
                      </a:endParaRPr>
                    </a:p>
                  </a:txBody>
                  <a:tcPr marL="65903" marR="65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 name="Table 8"/>
          <p:cNvGraphicFramePr>
            <a:graphicFrameLocks noGrp="1"/>
          </p:cNvGraphicFramePr>
          <p:nvPr/>
        </p:nvGraphicFramePr>
        <p:xfrm>
          <a:off x="1071538" y="5643578"/>
          <a:ext cx="6096000" cy="245364"/>
        </p:xfrm>
        <a:graphic>
          <a:graphicData uri="http://schemas.openxmlformats.org/drawingml/2006/table">
            <a:tbl>
              <a:tblPr/>
              <a:tblGrid>
                <a:gridCol w="6096000"/>
              </a:tblGrid>
              <a:tr h="201376">
                <a:tc>
                  <a:txBody>
                    <a:bodyPr/>
                    <a:lstStyle/>
                    <a:p>
                      <a:pPr marL="457200" algn="just">
                        <a:lnSpc>
                          <a:spcPct val="115000"/>
                        </a:lnSpc>
                        <a:spcAft>
                          <a:spcPts val="0"/>
                        </a:spcAft>
                        <a:tabLst>
                          <a:tab pos="285750" algn="l"/>
                        </a:tabLst>
                      </a:pPr>
                      <a:r>
                        <a:rPr lang="en-US" sz="1400" b="1" dirty="0">
                          <a:latin typeface="Times New Roman"/>
                          <a:ea typeface="Times New Roman"/>
                          <a:cs typeface="Times New Roman"/>
                        </a:rPr>
                        <a:t>Example:  Font f = new Font(“courier”,Font.BOLD,20)</a:t>
                      </a:r>
                      <a:endParaRPr lang="en-IN" sz="1400" dirty="0">
                        <a:latin typeface="Calibri"/>
                        <a:ea typeface="Times New Roman"/>
                        <a:cs typeface="Times New Roman"/>
                      </a:endParaRPr>
                    </a:p>
                  </a:txBody>
                  <a:tcPr marL="65666" marR="656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US" dirty="0" smtClean="0"/>
              <a:t>Working with Graphics</a:t>
            </a:r>
            <a:endParaRPr lang="en-IN" dirty="0" smtClean="0"/>
          </a:p>
        </p:txBody>
      </p:sp>
      <p:sp>
        <p:nvSpPr>
          <p:cNvPr id="4" name="Content Placeholder 3"/>
          <p:cNvSpPr>
            <a:spLocks noGrp="1"/>
          </p:cNvSpPr>
          <p:nvPr>
            <p:ph sz="quarter" idx="1"/>
          </p:nvPr>
        </p:nvSpPr>
        <p:spPr/>
        <p:txBody>
          <a:bodyPr>
            <a:noAutofit/>
          </a:bodyPr>
          <a:lstStyle/>
          <a:p>
            <a:r>
              <a:rPr lang="en-US" sz="2400" dirty="0" smtClean="0"/>
              <a:t>One of the most important features of Java is its ability to draw Graphics. Java’s </a:t>
            </a:r>
            <a:r>
              <a:rPr lang="en-US" sz="2400" b="1" dirty="0" smtClean="0"/>
              <a:t>Graphics</a:t>
            </a:r>
            <a:r>
              <a:rPr lang="en-US" sz="2400" dirty="0" smtClean="0"/>
              <a:t> class includes method for drawing a line, circle, ellipse, polygon etc.</a:t>
            </a:r>
          </a:p>
          <a:p>
            <a:r>
              <a:rPr lang="en-US" sz="2400" b="1" dirty="0" smtClean="0"/>
              <a:t>Line: </a:t>
            </a:r>
            <a:r>
              <a:rPr lang="en-US" sz="2400" dirty="0" smtClean="0"/>
              <a:t>The simplest shape we can draw with the Graphics class is a line. To draw a line, we can use </a:t>
            </a:r>
            <a:r>
              <a:rPr lang="en-US" sz="2400" dirty="0" err="1" smtClean="0"/>
              <a:t>drawLine</a:t>
            </a:r>
            <a:r>
              <a:rPr lang="en-US" sz="2400" dirty="0" smtClean="0"/>
              <a:t>() method &amp; it takes two pairs of coordinators.</a:t>
            </a:r>
            <a:endParaRPr lang="en-IN" sz="2200" dirty="0"/>
          </a:p>
        </p:txBody>
      </p:sp>
      <p:graphicFrame>
        <p:nvGraphicFramePr>
          <p:cNvPr id="6" name="Table 5"/>
          <p:cNvGraphicFramePr>
            <a:graphicFrameLocks noGrp="1"/>
          </p:cNvGraphicFramePr>
          <p:nvPr/>
        </p:nvGraphicFramePr>
        <p:xfrm>
          <a:off x="1000100" y="4000505"/>
          <a:ext cx="6000750" cy="2571767"/>
        </p:xfrm>
        <a:graphic>
          <a:graphicData uri="http://schemas.openxmlformats.org/drawingml/2006/table">
            <a:tbl>
              <a:tblPr/>
              <a:tblGrid>
                <a:gridCol w="2943225"/>
                <a:gridCol w="3057525"/>
              </a:tblGrid>
              <a:tr h="283056">
                <a:tc>
                  <a:txBody>
                    <a:bodyPr/>
                    <a:lstStyle/>
                    <a:p>
                      <a:pPr marL="457200" algn="just">
                        <a:lnSpc>
                          <a:spcPct val="115000"/>
                        </a:lnSpc>
                        <a:spcAft>
                          <a:spcPts val="0"/>
                        </a:spcAft>
                        <a:tabLst>
                          <a:tab pos="285750" algn="l"/>
                        </a:tabLst>
                      </a:pPr>
                      <a:r>
                        <a:rPr lang="en-US" sz="1200" b="1">
                          <a:latin typeface="Times New Roman"/>
                          <a:ea typeface="Times New Roman"/>
                          <a:cs typeface="Times New Roman"/>
                        </a:rPr>
                        <a:t>Syntax: g.drawLine(x1,y1,x2,y2);</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r>
                        <a:rPr lang="en-US" sz="1200" b="1">
                          <a:latin typeface="Times New Roman"/>
                          <a:ea typeface="Times New Roman"/>
                          <a:cs typeface="Times New Roman"/>
                        </a:rPr>
                        <a:t>Example: g.drawLine(10,70,180,20);</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31534">
                <a:tc>
                  <a:txBody>
                    <a:bodyPr/>
                    <a:lstStyle/>
                    <a:p>
                      <a:pPr marL="457200" algn="ctr">
                        <a:lnSpc>
                          <a:spcPct val="115000"/>
                        </a:lnSpc>
                        <a:spcAft>
                          <a:spcPts val="0"/>
                        </a:spcAft>
                        <a:tabLst>
                          <a:tab pos="285750" algn="l"/>
                        </a:tabLs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tabLst>
                          <a:tab pos="285750" algn="l"/>
                        </a:tabLs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7177">
                <a:tc gridSpan="2">
                  <a:txBody>
                    <a:bodyPr/>
                    <a:lstStyle/>
                    <a:p>
                      <a:pPr marL="457200" algn="just">
                        <a:lnSpc>
                          <a:spcPct val="115000"/>
                        </a:lnSpc>
                        <a:spcAft>
                          <a:spcPts val="0"/>
                        </a:spcAft>
                        <a:tabLst>
                          <a:tab pos="285750" algn="l"/>
                        </a:tabLst>
                      </a:pPr>
                      <a:r>
                        <a:rPr lang="en-US" sz="1200" dirty="0">
                          <a:latin typeface="Times New Roman"/>
                          <a:ea typeface="Times New Roman"/>
                          <a:cs typeface="Times New Roman"/>
                        </a:rPr>
                        <a:t>Where x1 &amp; y1 represents the starting point and x2 &amp; y2 represents the final points.</a:t>
                      </a:r>
                      <a:endParaRPr lang="en-IN" sz="11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r>
            </a:tbl>
          </a:graphicData>
        </a:graphic>
      </p:graphicFrame>
      <p:pic>
        <p:nvPicPr>
          <p:cNvPr id="282626" name="Picture 143"/>
          <p:cNvPicPr>
            <a:picLocks noChangeAspect="1" noChangeArrowheads="1"/>
          </p:cNvPicPr>
          <p:nvPr/>
        </p:nvPicPr>
        <p:blipFill>
          <a:blip r:embed="rId2"/>
          <a:srcRect/>
          <a:stretch>
            <a:fillRect/>
          </a:stretch>
        </p:blipFill>
        <p:spPr bwMode="auto">
          <a:xfrm>
            <a:off x="1285852" y="4643446"/>
            <a:ext cx="2600325" cy="561975"/>
          </a:xfrm>
          <a:prstGeom prst="rect">
            <a:avLst/>
          </a:prstGeom>
          <a:noFill/>
        </p:spPr>
      </p:pic>
      <p:pic>
        <p:nvPicPr>
          <p:cNvPr id="282625" name="Picture 16"/>
          <p:cNvPicPr>
            <a:picLocks noChangeAspect="1" noChangeArrowheads="1"/>
          </p:cNvPicPr>
          <p:nvPr/>
        </p:nvPicPr>
        <p:blipFill>
          <a:blip r:embed="rId3"/>
          <a:srcRect/>
          <a:stretch>
            <a:fillRect/>
          </a:stretch>
        </p:blipFill>
        <p:spPr bwMode="auto">
          <a:xfrm>
            <a:off x="4357686" y="4429132"/>
            <a:ext cx="2066925" cy="1743075"/>
          </a:xfrm>
          <a:prstGeom prst="rect">
            <a:avLst/>
          </a:prstGeom>
          <a:noFill/>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US" dirty="0" smtClean="0"/>
              <a:t>Working with Graphics</a:t>
            </a:r>
            <a:endParaRPr lang="en-IN" dirty="0" smtClean="0"/>
          </a:p>
        </p:txBody>
      </p:sp>
      <p:sp>
        <p:nvSpPr>
          <p:cNvPr id="4" name="Content Placeholder 3"/>
          <p:cNvSpPr>
            <a:spLocks noGrp="1"/>
          </p:cNvSpPr>
          <p:nvPr>
            <p:ph sz="quarter" idx="1"/>
          </p:nvPr>
        </p:nvSpPr>
        <p:spPr/>
        <p:txBody>
          <a:bodyPr>
            <a:noAutofit/>
          </a:bodyPr>
          <a:lstStyle/>
          <a:p>
            <a:r>
              <a:rPr lang="en-US" sz="2200" b="1" dirty="0" smtClean="0"/>
              <a:t>Rectangle:</a:t>
            </a:r>
            <a:r>
              <a:rPr lang="en-US" sz="2200" dirty="0" smtClean="0"/>
              <a:t> To draw rectangle </a:t>
            </a:r>
            <a:r>
              <a:rPr lang="en-US" sz="2200" b="1" dirty="0" err="1" smtClean="0"/>
              <a:t>drawRect</a:t>
            </a:r>
            <a:r>
              <a:rPr lang="en-US" sz="2200" b="1" dirty="0" smtClean="0"/>
              <a:t>()</a:t>
            </a:r>
            <a:r>
              <a:rPr lang="en-US" sz="2200" dirty="0" smtClean="0"/>
              <a:t> method is used. It takes four parameter first two parameters represents top left corner &amp; last two parameters represent the width &amp; the height of the rectangle. </a:t>
            </a:r>
          </a:p>
          <a:p>
            <a:pPr lvl="1"/>
            <a:r>
              <a:rPr lang="en-US" sz="2200" b="1" dirty="0" smtClean="0"/>
              <a:t>If w=h then it becomes square.</a:t>
            </a:r>
            <a:endParaRPr lang="en-IN" sz="2200" dirty="0" smtClean="0"/>
          </a:p>
          <a:p>
            <a:pPr lvl="1"/>
            <a:r>
              <a:rPr lang="en-US" sz="2200" dirty="0" err="1" smtClean="0"/>
              <a:t>fillRect</a:t>
            </a:r>
            <a:r>
              <a:rPr lang="en-US" sz="2200" dirty="0" smtClean="0"/>
              <a:t>() method  is used to draw the rectangle &amp; fill inside portion with any other color. The Rectangle with rounded edge can be drown using </a:t>
            </a:r>
            <a:r>
              <a:rPr lang="en-US" sz="2200" dirty="0" err="1" smtClean="0"/>
              <a:t>drawRoundRect</a:t>
            </a:r>
            <a:r>
              <a:rPr lang="en-US" sz="2200" dirty="0" smtClean="0"/>
              <a:t>() method.</a:t>
            </a:r>
            <a:endParaRPr lang="en-IN" sz="2200" dirty="0"/>
          </a:p>
        </p:txBody>
      </p:sp>
      <p:pic>
        <p:nvPicPr>
          <p:cNvPr id="7" name="Picture 6"/>
          <p:cNvPicPr/>
          <p:nvPr/>
        </p:nvPicPr>
        <p:blipFill>
          <a:blip r:embed="rId2"/>
          <a:srcRect/>
          <a:stretch>
            <a:fillRect/>
          </a:stretch>
        </p:blipFill>
        <p:spPr bwMode="auto">
          <a:xfrm>
            <a:off x="1214413" y="4429132"/>
            <a:ext cx="4641837" cy="24288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US" dirty="0" smtClean="0"/>
              <a:t>Working with Graphics</a:t>
            </a:r>
            <a:endParaRPr lang="en-IN" dirty="0" smtClean="0"/>
          </a:p>
        </p:txBody>
      </p:sp>
      <p:graphicFrame>
        <p:nvGraphicFramePr>
          <p:cNvPr id="5" name="Content Placeholder 4"/>
          <p:cNvGraphicFramePr>
            <a:graphicFrameLocks noGrp="1"/>
          </p:cNvGraphicFramePr>
          <p:nvPr>
            <p:ph sz="quarter" idx="1"/>
          </p:nvPr>
        </p:nvGraphicFramePr>
        <p:xfrm>
          <a:off x="613403" y="1688774"/>
          <a:ext cx="8117953" cy="4469130"/>
        </p:xfrm>
        <a:graphic>
          <a:graphicData uri="http://schemas.openxmlformats.org/drawingml/2006/table">
            <a:tbl>
              <a:tblPr/>
              <a:tblGrid>
                <a:gridCol w="5953166"/>
                <a:gridCol w="2164787"/>
              </a:tblGrid>
              <a:tr h="292229">
                <a:tc>
                  <a:txBody>
                    <a:bodyPr/>
                    <a:lstStyle/>
                    <a:p>
                      <a:pPr marL="457200">
                        <a:lnSpc>
                          <a:spcPct val="115000"/>
                        </a:lnSpc>
                        <a:spcAft>
                          <a:spcPts val="0"/>
                        </a:spcAft>
                        <a:tabLst>
                          <a:tab pos="285750" algn="l"/>
                        </a:tabLst>
                      </a:pPr>
                      <a:r>
                        <a:rPr lang="en-US" sz="1700" b="1" dirty="0">
                          <a:latin typeface="Times New Roman"/>
                          <a:ea typeface="Times New Roman"/>
                          <a:cs typeface="Times New Roman"/>
                        </a:rPr>
                        <a:t>Example:</a:t>
                      </a:r>
                      <a:endParaRPr lang="en-IN" sz="1400" dirty="0">
                        <a:latin typeface="Calibri"/>
                        <a:ea typeface="Times New Roman"/>
                        <a:cs typeface="Times New Roman"/>
                      </a:endParaRPr>
                    </a:p>
                  </a:txBody>
                  <a:tcPr marL="92777" marR="92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nSpc>
                          <a:spcPct val="115000"/>
                        </a:lnSpc>
                        <a:spcAft>
                          <a:spcPts val="0"/>
                        </a:spcAft>
                        <a:tabLst>
                          <a:tab pos="285750" algn="l"/>
                        </a:tabLst>
                      </a:pPr>
                      <a:r>
                        <a:rPr lang="en-US" sz="1700" b="1">
                          <a:latin typeface="Times New Roman"/>
                          <a:ea typeface="Times New Roman"/>
                          <a:cs typeface="Times New Roman"/>
                        </a:rPr>
                        <a:t>Output:</a:t>
                      </a:r>
                      <a:endParaRPr lang="en-IN" sz="1400">
                        <a:latin typeface="Calibri"/>
                        <a:ea typeface="Times New Roman"/>
                        <a:cs typeface="Times New Roman"/>
                      </a:endParaRPr>
                    </a:p>
                  </a:txBody>
                  <a:tcPr marL="92777" marR="92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91203">
                <a:tc>
                  <a:txBody>
                    <a:bodyPr/>
                    <a:lstStyle/>
                    <a:p>
                      <a:pPr marL="457200">
                        <a:lnSpc>
                          <a:spcPct val="115000"/>
                        </a:lnSpc>
                        <a:spcAft>
                          <a:spcPts val="0"/>
                        </a:spcAft>
                        <a:tabLst>
                          <a:tab pos="285750" algn="l"/>
                        </a:tabLst>
                      </a:pPr>
                      <a:r>
                        <a:rPr lang="en-US" sz="1700" dirty="0">
                          <a:latin typeface="Times New Roman"/>
                          <a:ea typeface="Times New Roman"/>
                          <a:cs typeface="Times New Roman"/>
                        </a:rPr>
                        <a:t>import </a:t>
                      </a:r>
                      <a:r>
                        <a:rPr lang="en-US" sz="1700" dirty="0" err="1">
                          <a:latin typeface="Times New Roman"/>
                          <a:ea typeface="Times New Roman"/>
                          <a:cs typeface="Times New Roman"/>
                        </a:rPr>
                        <a:t>java.applet</a:t>
                      </a:r>
                      <a:r>
                        <a:rPr lang="en-US" sz="1700" dirty="0">
                          <a:latin typeface="Times New Roman"/>
                          <a:ea typeface="Times New Roman"/>
                          <a:cs typeface="Times New Roman"/>
                        </a:rPr>
                        <a:t>.*;</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import java.awt.*;</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 &lt;Applet code="</a:t>
                      </a:r>
                      <a:r>
                        <a:rPr lang="en-US" sz="1700" dirty="0" err="1">
                          <a:latin typeface="Times New Roman"/>
                          <a:ea typeface="Times New Roman"/>
                          <a:cs typeface="Times New Roman"/>
                        </a:rPr>
                        <a:t>LineRect.class</a:t>
                      </a:r>
                      <a:r>
                        <a:rPr lang="en-US" sz="1700" dirty="0">
                          <a:latin typeface="Times New Roman"/>
                          <a:ea typeface="Times New Roman"/>
                          <a:cs typeface="Times New Roman"/>
                        </a:rPr>
                        <a:t>" width=100 height=170&gt; </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&lt;/Applet&gt; */</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public class </a:t>
                      </a:r>
                      <a:r>
                        <a:rPr lang="en-US" sz="1700" dirty="0" err="1">
                          <a:latin typeface="Times New Roman"/>
                          <a:ea typeface="Times New Roman"/>
                          <a:cs typeface="Times New Roman"/>
                        </a:rPr>
                        <a:t>LineRect</a:t>
                      </a:r>
                      <a:r>
                        <a:rPr lang="en-US" sz="1700" dirty="0">
                          <a:latin typeface="Times New Roman"/>
                          <a:ea typeface="Times New Roman"/>
                          <a:cs typeface="Times New Roman"/>
                        </a:rPr>
                        <a:t> extends Applet</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 public void paint(Graphics g)</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 {</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  </a:t>
                      </a:r>
                      <a:r>
                        <a:rPr lang="en-US" sz="1700" dirty="0" err="1">
                          <a:latin typeface="Times New Roman"/>
                          <a:ea typeface="Times New Roman"/>
                          <a:cs typeface="Times New Roman"/>
                        </a:rPr>
                        <a:t>g.drawLine</a:t>
                      </a:r>
                      <a:r>
                        <a:rPr lang="en-US" sz="1700" dirty="0">
                          <a:latin typeface="Times New Roman"/>
                          <a:ea typeface="Times New Roman"/>
                          <a:cs typeface="Times New Roman"/>
                        </a:rPr>
                        <a:t>(10,10,50,50);</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  </a:t>
                      </a:r>
                      <a:r>
                        <a:rPr lang="en-US" sz="1700" dirty="0" err="1">
                          <a:latin typeface="Times New Roman"/>
                          <a:ea typeface="Times New Roman"/>
                          <a:cs typeface="Times New Roman"/>
                        </a:rPr>
                        <a:t>g.drawRect</a:t>
                      </a:r>
                      <a:r>
                        <a:rPr lang="en-US" sz="1700" dirty="0">
                          <a:latin typeface="Times New Roman"/>
                          <a:ea typeface="Times New Roman"/>
                          <a:cs typeface="Times New Roman"/>
                        </a:rPr>
                        <a:t>(10,60,40,30);</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  </a:t>
                      </a:r>
                      <a:r>
                        <a:rPr lang="en-US" sz="1700" dirty="0" err="1">
                          <a:latin typeface="Times New Roman"/>
                          <a:ea typeface="Times New Roman"/>
                          <a:cs typeface="Times New Roman"/>
                        </a:rPr>
                        <a:t>g.fillRect</a:t>
                      </a:r>
                      <a:r>
                        <a:rPr lang="en-US" sz="1700" dirty="0">
                          <a:latin typeface="Times New Roman"/>
                          <a:ea typeface="Times New Roman"/>
                          <a:cs typeface="Times New Roman"/>
                        </a:rPr>
                        <a:t>(60,10,30,80);</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  </a:t>
                      </a:r>
                      <a:r>
                        <a:rPr lang="en-US" sz="1700" dirty="0" err="1">
                          <a:latin typeface="Times New Roman"/>
                          <a:ea typeface="Times New Roman"/>
                          <a:cs typeface="Times New Roman"/>
                        </a:rPr>
                        <a:t>g.drawRoundRect</a:t>
                      </a:r>
                      <a:r>
                        <a:rPr lang="en-US" sz="1700" dirty="0">
                          <a:latin typeface="Times New Roman"/>
                          <a:ea typeface="Times New Roman"/>
                          <a:cs typeface="Times New Roman"/>
                        </a:rPr>
                        <a:t>(10,100,80,50,10,10);</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 }</a:t>
                      </a:r>
                      <a:endParaRPr lang="en-IN" sz="1400" dirty="0">
                        <a:latin typeface="Calibri"/>
                        <a:ea typeface="Times New Roman"/>
                        <a:cs typeface="Times New Roman"/>
                      </a:endParaRPr>
                    </a:p>
                    <a:p>
                      <a:pPr marL="457200">
                        <a:lnSpc>
                          <a:spcPct val="115000"/>
                        </a:lnSpc>
                        <a:spcAft>
                          <a:spcPts val="0"/>
                        </a:spcAft>
                        <a:tabLst>
                          <a:tab pos="285750" algn="l"/>
                        </a:tabLst>
                      </a:pPr>
                      <a:r>
                        <a:rPr lang="en-US" sz="1700" dirty="0">
                          <a:latin typeface="Times New Roman"/>
                          <a:ea typeface="Times New Roman"/>
                          <a:cs typeface="Times New Roman"/>
                        </a:rPr>
                        <a:t>}</a:t>
                      </a:r>
                      <a:endParaRPr lang="en-IN" sz="1400" dirty="0">
                        <a:latin typeface="Calibri"/>
                        <a:ea typeface="Times New Roman"/>
                        <a:cs typeface="Times New Roman"/>
                      </a:endParaRPr>
                    </a:p>
                  </a:txBody>
                  <a:tcPr marL="92777" marR="92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nSpc>
                          <a:spcPct val="115000"/>
                        </a:lnSpc>
                        <a:spcAft>
                          <a:spcPts val="0"/>
                        </a:spcAft>
                        <a:tabLst>
                          <a:tab pos="285750" algn="l"/>
                        </a:tabLst>
                      </a:pPr>
                      <a:endParaRPr lang="en-US" sz="1400" dirty="0">
                        <a:latin typeface="Calibri"/>
                        <a:ea typeface="Times New Roman"/>
                        <a:cs typeface="Times New Roman"/>
                      </a:endParaRPr>
                    </a:p>
                  </a:txBody>
                  <a:tcPr marL="92777" marR="92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83649" name="Object 1"/>
          <p:cNvGraphicFramePr>
            <a:graphicFrameLocks noChangeAspect="1"/>
          </p:cNvGraphicFramePr>
          <p:nvPr/>
        </p:nvGraphicFramePr>
        <p:xfrm>
          <a:off x="6715140" y="2143116"/>
          <a:ext cx="1857388" cy="3531851"/>
        </p:xfrm>
        <a:graphic>
          <a:graphicData uri="http://schemas.openxmlformats.org/presentationml/2006/ole">
            <mc:AlternateContent xmlns:mc="http://schemas.openxmlformats.org/markup-compatibility/2006">
              <mc:Choice xmlns:v="urn:schemas-microsoft-com:vml" Requires="v">
                <p:oleObj spid="_x0000_s283650" name="Bitmap Image" r:id="rId3" imgW="1257476" imgH="2400635" progId="Paint.Picture">
                  <p:embed/>
                </p:oleObj>
              </mc:Choice>
              <mc:Fallback>
                <p:oleObj name="Bitmap Image" r:id="rId3" imgW="1257476" imgH="2400635" progId="Paint.Picture">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5140" y="2143116"/>
                        <a:ext cx="1857388" cy="35318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US" dirty="0" smtClean="0"/>
              <a:t>Working with Graphics</a:t>
            </a:r>
            <a:endParaRPr lang="en-IN" dirty="0" smtClean="0"/>
          </a:p>
        </p:txBody>
      </p:sp>
      <p:sp>
        <p:nvSpPr>
          <p:cNvPr id="4" name="Content Placeholder 3"/>
          <p:cNvSpPr>
            <a:spLocks noGrp="1"/>
          </p:cNvSpPr>
          <p:nvPr>
            <p:ph sz="quarter" idx="1"/>
          </p:nvPr>
        </p:nvSpPr>
        <p:spPr/>
        <p:txBody>
          <a:bodyPr>
            <a:noAutofit/>
          </a:bodyPr>
          <a:lstStyle/>
          <a:p>
            <a:r>
              <a:rPr lang="en-US" sz="2200" b="1" dirty="0" smtClean="0"/>
              <a:t>Circle &amp; Ellipse:</a:t>
            </a:r>
            <a:r>
              <a:rPr lang="en-US" sz="2200" dirty="0" smtClean="0"/>
              <a:t> The graphics class doesn’t have any method for circle &amp; ellipse. However </a:t>
            </a:r>
            <a:r>
              <a:rPr lang="en-US" sz="2200" dirty="0" err="1" smtClean="0"/>
              <a:t>drawOval</a:t>
            </a:r>
            <a:r>
              <a:rPr lang="en-US" sz="2200" dirty="0" smtClean="0"/>
              <a:t>() method can be used to draw circle &amp; ellipse. It takes 4 parameters. The first two parameters takes top left corner &amp; last two parameters takes width &amp; height of the imaginary rectangle. </a:t>
            </a:r>
          </a:p>
          <a:p>
            <a:pPr lvl="1"/>
            <a:r>
              <a:rPr lang="en-US" sz="2200" dirty="0" err="1" smtClean="0"/>
              <a:t>fillOval</a:t>
            </a:r>
            <a:r>
              <a:rPr lang="en-US" sz="2200" dirty="0" smtClean="0"/>
              <a:t> method us used to fill inside portion of the ellipse &amp; circle.</a:t>
            </a:r>
            <a:endParaRPr lang="en-IN" sz="2200" dirty="0"/>
          </a:p>
        </p:txBody>
      </p:sp>
      <p:pic>
        <p:nvPicPr>
          <p:cNvPr id="5" name="Picture 4"/>
          <p:cNvPicPr/>
          <p:nvPr/>
        </p:nvPicPr>
        <p:blipFill>
          <a:blip r:embed="rId2"/>
          <a:srcRect/>
          <a:stretch>
            <a:fillRect/>
          </a:stretch>
        </p:blipFill>
        <p:spPr bwMode="auto">
          <a:xfrm>
            <a:off x="1285852" y="4071942"/>
            <a:ext cx="6282290" cy="27860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US" dirty="0" smtClean="0"/>
              <a:t>Working with Graphics</a:t>
            </a:r>
            <a:endParaRPr lang="en-IN" dirty="0" smtClean="0"/>
          </a:p>
        </p:txBody>
      </p:sp>
      <p:sp>
        <p:nvSpPr>
          <p:cNvPr id="4" name="Content Placeholder 3"/>
          <p:cNvSpPr>
            <a:spLocks noGrp="1"/>
          </p:cNvSpPr>
          <p:nvPr>
            <p:ph sz="quarter" idx="1"/>
          </p:nvPr>
        </p:nvSpPr>
        <p:spPr/>
        <p:txBody>
          <a:bodyPr>
            <a:noAutofit/>
          </a:bodyPr>
          <a:lstStyle/>
          <a:p>
            <a:r>
              <a:rPr lang="en-US" sz="2200" b="1" dirty="0" smtClean="0"/>
              <a:t>Arc: </a:t>
            </a:r>
            <a:r>
              <a:rPr lang="en-US" sz="2200" dirty="0" smtClean="0"/>
              <a:t>Arc is a part of oval &amp; it takes 6 parameters. First two parameters represents top left corner. Middle two parameters represent width &amp; height of the imaginary rectangle. Last two parameters represent the starting angle &amp; shift the angles in degrees.</a:t>
            </a:r>
            <a:endParaRPr lang="en-IN" sz="2200" dirty="0" smtClean="0"/>
          </a:p>
          <a:p>
            <a:pPr lvl="1"/>
            <a:r>
              <a:rPr lang="en-US" sz="2200" b="1" dirty="0" smtClean="0"/>
              <a:t>Example: </a:t>
            </a:r>
            <a:r>
              <a:rPr lang="en-US" sz="2200" dirty="0" err="1" smtClean="0"/>
              <a:t>drawArc</a:t>
            </a:r>
            <a:r>
              <a:rPr lang="en-US" sz="2200" dirty="0" smtClean="0"/>
              <a:t>(10,10,40,40,0,90)</a:t>
            </a:r>
          </a:p>
        </p:txBody>
      </p:sp>
      <p:pic>
        <p:nvPicPr>
          <p:cNvPr id="6" name="Picture 5"/>
          <p:cNvPicPr/>
          <p:nvPr/>
        </p:nvPicPr>
        <p:blipFill>
          <a:blip r:embed="rId2"/>
          <a:srcRect/>
          <a:stretch>
            <a:fillRect/>
          </a:stretch>
        </p:blipFill>
        <p:spPr bwMode="auto">
          <a:xfrm>
            <a:off x="1214414" y="3857628"/>
            <a:ext cx="2928958" cy="30060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r>
              <a:rPr lang="en-US" dirty="0" smtClean="0"/>
              <a:t>Working with Graphics</a:t>
            </a:r>
            <a:endParaRPr lang="en-IN" dirty="0" smtClean="0"/>
          </a:p>
        </p:txBody>
      </p:sp>
      <p:graphicFrame>
        <p:nvGraphicFramePr>
          <p:cNvPr id="5" name="Content Placeholder 4"/>
          <p:cNvGraphicFramePr>
            <a:graphicFrameLocks noGrp="1"/>
          </p:cNvGraphicFramePr>
          <p:nvPr>
            <p:ph sz="quarter" idx="1"/>
          </p:nvPr>
        </p:nvGraphicFramePr>
        <p:xfrm>
          <a:off x="642910" y="1537832"/>
          <a:ext cx="8072494" cy="4984401"/>
        </p:xfrm>
        <a:graphic>
          <a:graphicData uri="http://schemas.openxmlformats.org/drawingml/2006/table">
            <a:tbl>
              <a:tblPr/>
              <a:tblGrid>
                <a:gridCol w="5500726"/>
                <a:gridCol w="2571768"/>
              </a:tblGrid>
              <a:tr h="236952">
                <a:tc>
                  <a:txBody>
                    <a:bodyPr/>
                    <a:lstStyle/>
                    <a:p>
                      <a:pPr marL="457200" algn="just">
                        <a:lnSpc>
                          <a:spcPct val="115000"/>
                        </a:lnSpc>
                        <a:spcAft>
                          <a:spcPts val="0"/>
                        </a:spcAft>
                        <a:tabLst>
                          <a:tab pos="285750" algn="l"/>
                        </a:tabLst>
                      </a:pPr>
                      <a:r>
                        <a:rPr lang="en-US" sz="1400" dirty="0">
                          <a:latin typeface="Times New Roman"/>
                          <a:ea typeface="Times New Roman"/>
                          <a:cs typeface="Times New Roman"/>
                        </a:rPr>
                        <a:t>Example:</a:t>
                      </a:r>
                      <a:endParaRPr lang="en-IN" sz="1200" dirty="0">
                        <a:latin typeface="Calibri"/>
                        <a:ea typeface="Times New Roman"/>
                        <a:cs typeface="Times New Roman"/>
                      </a:endParaRPr>
                    </a:p>
                  </a:txBody>
                  <a:tcPr marL="77267" marR="772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tabLst>
                          <a:tab pos="285750" algn="l"/>
                        </a:tabLst>
                      </a:pPr>
                      <a:r>
                        <a:rPr lang="en-US" sz="1400">
                          <a:latin typeface="Times New Roman"/>
                          <a:ea typeface="Times New Roman"/>
                          <a:cs typeface="Times New Roman"/>
                        </a:rPr>
                        <a:t>Output:</a:t>
                      </a:r>
                      <a:endParaRPr lang="en-IN" sz="1200">
                        <a:latin typeface="Calibri"/>
                        <a:ea typeface="Times New Roman"/>
                        <a:cs typeface="Times New Roman"/>
                      </a:endParaRPr>
                    </a:p>
                  </a:txBody>
                  <a:tcPr marL="77267" marR="772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39037">
                <a:tc>
                  <a:txBody>
                    <a:bodyPr/>
                    <a:lstStyle/>
                    <a:p>
                      <a:pPr marL="457200" algn="just">
                        <a:lnSpc>
                          <a:spcPct val="115000"/>
                        </a:lnSpc>
                        <a:spcAft>
                          <a:spcPts val="0"/>
                        </a:spcAft>
                        <a:tabLst>
                          <a:tab pos="285750" algn="l"/>
                        </a:tabLst>
                      </a:pPr>
                      <a:r>
                        <a:rPr lang="en-US" sz="1400">
                          <a:latin typeface="Times New Roman"/>
                          <a:ea typeface="Times New Roman"/>
                          <a:cs typeface="Times New Roman"/>
                        </a:rPr>
                        <a:t>import java.applet.*;</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import java.awt.*;</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&lt;Applet code="Face.class" width=200 height=200&gt; &lt;/Applet&gt; */</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public class Face extends Applet</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public void paint(Graphics g)</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g.drawString("FACE",10,10);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g.drawOval(40,40,120,150);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g.drawOval(57,75,30,20);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g.drawOval(110,75,30,20);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g.fillOval(68,81,10,10);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g.fillOval(121,81,10,10);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g.drawOval(85,100,30,30);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g.fillArc(60,125,80,40,180,180);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g.drawOval(25,92,15,30);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g.drawOval(160,92,15,30);</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 }</a:t>
                      </a:r>
                      <a:endParaRPr lang="en-IN" sz="1200">
                        <a:latin typeface="Calibri"/>
                        <a:ea typeface="Times New Roman"/>
                        <a:cs typeface="Times New Roman"/>
                      </a:endParaRPr>
                    </a:p>
                    <a:p>
                      <a:pPr marL="457200" algn="just">
                        <a:lnSpc>
                          <a:spcPct val="115000"/>
                        </a:lnSpc>
                        <a:spcAft>
                          <a:spcPts val="0"/>
                        </a:spcAft>
                        <a:tabLst>
                          <a:tab pos="285750" algn="l"/>
                        </a:tabLst>
                      </a:pPr>
                      <a:r>
                        <a:rPr lang="en-US" sz="1400">
                          <a:latin typeface="Times New Roman"/>
                          <a:ea typeface="Times New Roman"/>
                          <a:cs typeface="Times New Roman"/>
                        </a:rPr>
                        <a:t>}</a:t>
                      </a:r>
                      <a:endParaRPr lang="en-IN" sz="1200">
                        <a:latin typeface="Calibri"/>
                        <a:ea typeface="Times New Roman"/>
                        <a:cs typeface="Times New Roman"/>
                      </a:endParaRPr>
                    </a:p>
                  </a:txBody>
                  <a:tcPr marL="77267" marR="772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tabLst>
                          <a:tab pos="285750" algn="l"/>
                        </a:tabLst>
                      </a:pPr>
                      <a:endParaRPr lang="en-US" sz="1200" dirty="0">
                        <a:latin typeface="Calibri"/>
                        <a:ea typeface="Times New Roman"/>
                        <a:cs typeface="Times New Roman"/>
                      </a:endParaRPr>
                    </a:p>
                  </a:txBody>
                  <a:tcPr marL="77267" marR="772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87745" name="Object 1"/>
          <p:cNvGraphicFramePr>
            <a:graphicFrameLocks noChangeAspect="1"/>
          </p:cNvGraphicFramePr>
          <p:nvPr/>
        </p:nvGraphicFramePr>
        <p:xfrm>
          <a:off x="6215074" y="1857364"/>
          <a:ext cx="2428892" cy="3195616"/>
        </p:xfrm>
        <a:graphic>
          <a:graphicData uri="http://schemas.openxmlformats.org/presentationml/2006/ole">
            <mc:AlternateContent xmlns:mc="http://schemas.openxmlformats.org/markup-compatibility/2006">
              <mc:Choice xmlns:v="urn:schemas-microsoft-com:vml" Requires="v">
                <p:oleObj spid="_x0000_s287746" name="Bitmap Image" r:id="rId3" imgW="2066667" imgH="2685714" progId="Paint.Picture">
                  <p:embed/>
                </p:oleObj>
              </mc:Choice>
              <mc:Fallback>
                <p:oleObj name="Bitmap Image" r:id="rId3" imgW="2066667" imgH="2685714" progId="Paint.Picture">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5074" y="1857364"/>
                        <a:ext cx="2428892" cy="3195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t">
            <a:noAutofit/>
          </a:bodyPr>
          <a:lstStyle/>
          <a:p>
            <a:pPr algn="r"/>
            <a:r>
              <a:rPr lang="en-IN" sz="5400" dirty="0" smtClean="0"/>
              <a:t>- Thank You</a:t>
            </a:r>
            <a:endParaRPr lang="en-IN" sz="5400" dirty="0"/>
          </a:p>
        </p:txBody>
      </p:sp>
      <p:sp>
        <p:nvSpPr>
          <p:cNvPr id="3" name="Subtitle 2"/>
          <p:cNvSpPr>
            <a:spLocks noGrp="1"/>
          </p:cNvSpPr>
          <p:nvPr>
            <p:ph type="subTitle" idx="1"/>
          </p:nvPr>
        </p:nvSpPr>
        <p:spPr/>
        <p:txBody>
          <a:bodyPr/>
          <a:lstStyle/>
          <a:p>
            <a:endParaRPr lang="en-I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3759</TotalTime>
  <Words>8059</Words>
  <Application>Microsoft Office PowerPoint</Application>
  <PresentationFormat>On-screen Show (4:3)</PresentationFormat>
  <Paragraphs>1285</Paragraphs>
  <Slides>133</Slides>
  <Notes>16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133</vt:i4>
      </vt:variant>
    </vt:vector>
  </HeadingPairs>
  <TitlesOfParts>
    <vt:vector size="141" baseType="lpstr">
      <vt:lpstr>Arial</vt:lpstr>
      <vt:lpstr>Calibri</vt:lpstr>
      <vt:lpstr>Times New Roman</vt:lpstr>
      <vt:lpstr>Tw Cen MT</vt:lpstr>
      <vt:lpstr>Wingdings</vt:lpstr>
      <vt:lpstr>Wingdings 2</vt:lpstr>
      <vt:lpstr>Median</vt:lpstr>
      <vt:lpstr>Bitmap Image</vt:lpstr>
      <vt:lpstr>CORE JAVA</vt:lpstr>
      <vt:lpstr>Chapter 1</vt:lpstr>
      <vt:lpstr>Introduction to JAVA</vt:lpstr>
      <vt:lpstr>History</vt:lpstr>
      <vt:lpstr>Features of Java</vt:lpstr>
      <vt:lpstr>Features of Java</vt:lpstr>
      <vt:lpstr>Features of Java</vt:lpstr>
      <vt:lpstr>Features of Java</vt:lpstr>
      <vt:lpstr>Features of Java</vt:lpstr>
      <vt:lpstr>Features of Java</vt:lpstr>
      <vt:lpstr>Features of Java</vt:lpstr>
      <vt:lpstr>Features of Java</vt:lpstr>
      <vt:lpstr>Features of Java</vt:lpstr>
      <vt:lpstr>Features of Java</vt:lpstr>
      <vt:lpstr>Features of Java</vt:lpstr>
      <vt:lpstr>Features of Java</vt:lpstr>
      <vt:lpstr>Features of Java</vt:lpstr>
      <vt:lpstr>Java Virtual Machine (JVM)</vt:lpstr>
      <vt:lpstr>Java Program Types</vt:lpstr>
      <vt:lpstr>Java Platforms</vt:lpstr>
      <vt:lpstr>Simple Java Program</vt:lpstr>
      <vt:lpstr>Simple Java Program</vt:lpstr>
      <vt:lpstr>Simple Java Program</vt:lpstr>
      <vt:lpstr>Simple Java Program</vt:lpstr>
      <vt:lpstr>Implementation of Java Program </vt:lpstr>
      <vt:lpstr>Summary of Introduction to JAVA</vt:lpstr>
      <vt:lpstr>Fundamentals of JAVA</vt:lpstr>
      <vt:lpstr>Character set</vt:lpstr>
      <vt:lpstr>Comments</vt:lpstr>
      <vt:lpstr>Identifier</vt:lpstr>
      <vt:lpstr>Identifier</vt:lpstr>
      <vt:lpstr>Keyword</vt:lpstr>
      <vt:lpstr>Constants in Java (Literals)</vt:lpstr>
      <vt:lpstr>Constants in Java (Literals)</vt:lpstr>
      <vt:lpstr>Constants in Java (Literals)</vt:lpstr>
      <vt:lpstr>Constants in Java (Literals)</vt:lpstr>
      <vt:lpstr>Constants in Java (Literals)</vt:lpstr>
      <vt:lpstr>Variable</vt:lpstr>
      <vt:lpstr>Variable</vt:lpstr>
      <vt:lpstr>Variable</vt:lpstr>
      <vt:lpstr>Data types</vt:lpstr>
      <vt:lpstr>Data types</vt:lpstr>
      <vt:lpstr>Type Conversion and Type Casting</vt:lpstr>
      <vt:lpstr>Type Conversion and Type Casting</vt:lpstr>
      <vt:lpstr>Summary of Fundamentals of JAVA</vt:lpstr>
      <vt:lpstr>Operators in JAVA</vt:lpstr>
      <vt:lpstr>Arithmetic Operators</vt:lpstr>
      <vt:lpstr>Arithmetic Operators</vt:lpstr>
      <vt:lpstr>Relational Operators</vt:lpstr>
      <vt:lpstr>Logical Operators</vt:lpstr>
      <vt:lpstr>Logical Operators</vt:lpstr>
      <vt:lpstr>Bitwise Operators</vt:lpstr>
      <vt:lpstr>Bitwise Operators</vt:lpstr>
      <vt:lpstr>Conditional Operators</vt:lpstr>
      <vt:lpstr>Special Operators</vt:lpstr>
      <vt:lpstr>Assignment Operators</vt:lpstr>
      <vt:lpstr>Priority of Operators</vt:lpstr>
      <vt:lpstr>Summary of Operators in JAVA</vt:lpstr>
      <vt:lpstr>Branching Statements</vt:lpstr>
      <vt:lpstr>Chapter 2</vt:lpstr>
      <vt:lpstr>Introducing Classes</vt:lpstr>
      <vt:lpstr>Fundamentals of classes &amp; Objects</vt:lpstr>
      <vt:lpstr>Fundamentals of classes &amp; Objects</vt:lpstr>
      <vt:lpstr>Fundamentals of classes &amp; Objects</vt:lpstr>
      <vt:lpstr>Fundamentals of classes &amp; Objects</vt:lpstr>
      <vt:lpstr>Fundamentals of classes &amp; Objects</vt:lpstr>
      <vt:lpstr>Constructor</vt:lpstr>
      <vt:lpstr>Instance Variable Hiding</vt:lpstr>
      <vt:lpstr>‘this’ keyword</vt:lpstr>
      <vt:lpstr>Method Overloading (Polymorphism)</vt:lpstr>
      <vt:lpstr>Nested and Inner class</vt:lpstr>
      <vt:lpstr>Garbage Collection</vt:lpstr>
      <vt:lpstr>Garbage Collection</vt:lpstr>
      <vt:lpstr>Static Members</vt:lpstr>
      <vt:lpstr>Access Control</vt:lpstr>
      <vt:lpstr>Summary of Introducing Classes</vt:lpstr>
      <vt:lpstr>Arrays, Strings and Vectors</vt:lpstr>
      <vt:lpstr>Arrays</vt:lpstr>
      <vt:lpstr>Arrays</vt:lpstr>
      <vt:lpstr>Arrays</vt:lpstr>
      <vt:lpstr>String</vt:lpstr>
      <vt:lpstr>String</vt:lpstr>
      <vt:lpstr>Vectors</vt:lpstr>
      <vt:lpstr>Vectors</vt:lpstr>
      <vt:lpstr>Wrapper Classes</vt:lpstr>
      <vt:lpstr>Wrapper Classes</vt:lpstr>
      <vt:lpstr>Command Line Arguments</vt:lpstr>
      <vt:lpstr>Chapter 3</vt:lpstr>
      <vt:lpstr>Inheritance</vt:lpstr>
      <vt:lpstr>Inheritance</vt:lpstr>
      <vt:lpstr>Inheritance</vt:lpstr>
      <vt:lpstr>‘super’ Keyword</vt:lpstr>
      <vt:lpstr>Method Overriding</vt:lpstr>
      <vt:lpstr>‘final’ keyword</vt:lpstr>
      <vt:lpstr>Abstract method and classes:</vt:lpstr>
      <vt:lpstr>Interface</vt:lpstr>
      <vt:lpstr>Interface</vt:lpstr>
      <vt:lpstr>Multiple Inheritance</vt:lpstr>
      <vt:lpstr>Abstract Classes Vs Interfaces</vt:lpstr>
      <vt:lpstr>Packages</vt:lpstr>
      <vt:lpstr>Java API Packages</vt:lpstr>
      <vt:lpstr>Importing Package</vt:lpstr>
      <vt:lpstr>Chapter 4</vt:lpstr>
      <vt:lpstr>Exception Handling</vt:lpstr>
      <vt:lpstr>Exception &amp; Exception Handling</vt:lpstr>
      <vt:lpstr>Java Exception Handling </vt:lpstr>
      <vt:lpstr>Java Exception Handling </vt:lpstr>
      <vt:lpstr>Java Exception Handling </vt:lpstr>
      <vt:lpstr>Java Exception Handling </vt:lpstr>
      <vt:lpstr>Multithreading</vt:lpstr>
      <vt:lpstr>Thread</vt:lpstr>
      <vt:lpstr>Extending &amp; Implementing Thread</vt:lpstr>
      <vt:lpstr>Extending &amp; Implementing Thread</vt:lpstr>
      <vt:lpstr>Extending &amp; Implementing Thread</vt:lpstr>
      <vt:lpstr>Thread Life Cycle</vt:lpstr>
      <vt:lpstr>Thread Priorities</vt:lpstr>
      <vt:lpstr>Thread Synchronization</vt:lpstr>
      <vt:lpstr>Thread Deadlock</vt:lpstr>
      <vt:lpstr>Chapter 5</vt:lpstr>
      <vt:lpstr>Java Applets &amp; Graphics Programming</vt:lpstr>
      <vt:lpstr>Java Applet</vt:lpstr>
      <vt:lpstr>Java Applet</vt:lpstr>
      <vt:lpstr>Applet Life Cycle (Applet Skeleton)</vt:lpstr>
      <vt:lpstr>Passing Parameter to an Applet</vt:lpstr>
      <vt:lpstr>Working with Colors</vt:lpstr>
      <vt:lpstr>Working with Fonts</vt:lpstr>
      <vt:lpstr>Working with Graphics</vt:lpstr>
      <vt:lpstr>Working with Graphics</vt:lpstr>
      <vt:lpstr>Working with Graphics</vt:lpstr>
      <vt:lpstr>Working with Graphics</vt:lpstr>
      <vt:lpstr>Working with Graphics</vt:lpstr>
      <vt:lpstr>Working with Graphics</vt:lpstr>
      <vt:lpstr>- Thank You</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JAVA</dc:title>
  <dc:creator>Admin</dc:creator>
  <cp:lastModifiedBy>Microsoft account</cp:lastModifiedBy>
  <cp:revision>207</cp:revision>
  <dcterms:created xsi:type="dcterms:W3CDTF">2017-09-11T08:12:54Z</dcterms:created>
  <dcterms:modified xsi:type="dcterms:W3CDTF">2021-11-17T09:57:00Z</dcterms:modified>
</cp:coreProperties>
</file>